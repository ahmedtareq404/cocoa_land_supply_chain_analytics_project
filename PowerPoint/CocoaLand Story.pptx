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0" r:id="rId4"/>
    <p:sldId id="301" r:id="rId5"/>
    <p:sldId id="302" r:id="rId6"/>
    <p:sldId id="303" r:id="rId7"/>
    <p:sldId id="304" r:id="rId8"/>
    <p:sldId id="305" r:id="rId9"/>
    <p:sldId id="306" r:id="rId10"/>
    <p:sldId id="307" r:id="rId11"/>
    <p:sldId id="308" r:id="rId12"/>
    <p:sldId id="281" r:id="rId13"/>
    <p:sldId id="334" r:id="rId14"/>
    <p:sldId id="284" r:id="rId15"/>
    <p:sldId id="335" r:id="rId16"/>
    <p:sldId id="285" r:id="rId17"/>
    <p:sldId id="361" r:id="rId18"/>
    <p:sldId id="360" r:id="rId19"/>
    <p:sldId id="286" r:id="rId20"/>
    <p:sldId id="290" r:id="rId21"/>
    <p:sldId id="291" r:id="rId22"/>
    <p:sldId id="292" r:id="rId23"/>
    <p:sldId id="296" r:id="rId24"/>
    <p:sldId id="317" r:id="rId25"/>
    <p:sldId id="297" r:id="rId26"/>
    <p:sldId id="298" r:id="rId27"/>
    <p:sldId id="299" r:id="rId28"/>
    <p:sldId id="310" r:id="rId29"/>
    <p:sldId id="314" r:id="rId30"/>
    <p:sldId id="315" r:id="rId31"/>
    <p:sldId id="316" r:id="rId32"/>
    <p:sldId id="309" r:id="rId33"/>
    <p:sldId id="318" r:id="rId34"/>
    <p:sldId id="319" r:id="rId35"/>
    <p:sldId id="320" r:id="rId36"/>
    <p:sldId id="321" r:id="rId37"/>
    <p:sldId id="322" r:id="rId38"/>
    <p:sldId id="323" r:id="rId39"/>
    <p:sldId id="328" r:id="rId40"/>
    <p:sldId id="329" r:id="rId41"/>
    <p:sldId id="330" r:id="rId42"/>
    <p:sldId id="331" r:id="rId43"/>
    <p:sldId id="332" r:id="rId44"/>
    <p:sldId id="333" r:id="rId45"/>
    <p:sldId id="336" r:id="rId46"/>
    <p:sldId id="337" r:id="rId47"/>
    <p:sldId id="338" r:id="rId48"/>
    <p:sldId id="339" r:id="rId49"/>
    <p:sldId id="340" r:id="rId50"/>
    <p:sldId id="341" r:id="rId51"/>
    <p:sldId id="342" r:id="rId52"/>
    <p:sldId id="343" r:id="rId53"/>
    <p:sldId id="344" r:id="rId54"/>
    <p:sldId id="345" r:id="rId55"/>
    <p:sldId id="346" r:id="rId56"/>
    <p:sldId id="347" r:id="rId57"/>
    <p:sldId id="348" r:id="rId58"/>
    <p:sldId id="349" r:id="rId59"/>
    <p:sldId id="350" r:id="rId60"/>
    <p:sldId id="351" r:id="rId61"/>
    <p:sldId id="352" r:id="rId62"/>
    <p:sldId id="353" r:id="rId63"/>
    <p:sldId id="354" r:id="rId64"/>
    <p:sldId id="355" r:id="rId65"/>
    <p:sldId id="356" r:id="rId66"/>
    <p:sldId id="357" r:id="rId67"/>
    <p:sldId id="358" r:id="rId68"/>
    <p:sldId id="359" r:id="rId69"/>
    <p:sldId id="288" r:id="rId70"/>
    <p:sldId id="362" r:id="rId71"/>
    <p:sldId id="289" r:id="rId72"/>
    <p:sldId id="364" r:id="rId73"/>
    <p:sldId id="363" r:id="rId74"/>
    <p:sldId id="258" r:id="rId75"/>
    <p:sldId id="259"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256CFAC2-9892-4BBE-8416-2356065E9C0D}">
          <p14:sldIdLst>
            <p14:sldId id="256"/>
          </p14:sldIdLst>
        </p14:section>
        <p14:section name="Agenda" id="{12E86811-C043-4177-8964-42D0F54A3BFA}">
          <p14:sldIdLst>
            <p14:sldId id="257"/>
            <p14:sldId id="300"/>
            <p14:sldId id="301"/>
            <p14:sldId id="302"/>
            <p14:sldId id="303"/>
            <p14:sldId id="304"/>
            <p14:sldId id="305"/>
            <p14:sldId id="306"/>
            <p14:sldId id="307"/>
            <p14:sldId id="308"/>
          </p14:sldIdLst>
        </p14:section>
        <p14:section name="Problem Statement" id="{7D7EA58D-267D-465D-8AFD-D244E6FEEDE7}">
          <p14:sldIdLst>
            <p14:sldId id="281"/>
            <p14:sldId id="334"/>
          </p14:sldIdLst>
        </p14:section>
        <p14:section name="Requirements Gathering &amp; Technical Methodologies" id="{7F3C055D-8A17-4B0A-B938-12D76D0D5931}">
          <p14:sldIdLst>
            <p14:sldId id="284"/>
            <p14:sldId id="335"/>
          </p14:sldIdLst>
        </p14:section>
        <p14:section name="Tool Stack" id="{FDE943EF-3AC5-4C72-8DAD-6C3A12EEB537}">
          <p14:sldIdLst>
            <p14:sldId id="285"/>
            <p14:sldId id="361"/>
            <p14:sldId id="360"/>
          </p14:sldIdLst>
        </p14:section>
        <p14:section name="Dashboards Snapshots" id="{5966565D-0497-41FF-B38E-C77E0E86AC70}">
          <p14:sldIdLst>
            <p14:sldId id="286"/>
            <p14:sldId id="290"/>
            <p14:sldId id="291"/>
            <p14:sldId id="292"/>
          </p14:sldIdLst>
        </p14:section>
        <p14:section name="Suppliers Insights" id="{05F9DDFC-3A94-4949-AC04-793134E342DC}">
          <p14:sldIdLst>
            <p14:sldId id="296"/>
            <p14:sldId id="317"/>
            <p14:sldId id="297"/>
            <p14:sldId id="298"/>
            <p14:sldId id="299"/>
            <p14:sldId id="310"/>
            <p14:sldId id="314"/>
            <p14:sldId id="315"/>
            <p14:sldId id="316"/>
            <p14:sldId id="309"/>
          </p14:sldIdLst>
        </p14:section>
        <p14:section name="Procurement Insights" id="{9D790944-E0E9-4182-81A4-0B19FCB72E89}">
          <p14:sldIdLst>
            <p14:sldId id="318"/>
            <p14:sldId id="319"/>
            <p14:sldId id="320"/>
            <p14:sldId id="321"/>
            <p14:sldId id="322"/>
            <p14:sldId id="323"/>
            <p14:sldId id="328"/>
            <p14:sldId id="329"/>
            <p14:sldId id="330"/>
            <p14:sldId id="331"/>
            <p14:sldId id="332"/>
            <p14:sldId id="333"/>
          </p14:sldIdLst>
        </p14:section>
        <p14:section name="Warehouse &amp; Inventory Insights" id="{0CF518B0-0E4E-4323-8EA7-C98BD8A711FB}">
          <p14:sldIdLst>
            <p14:sldId id="336"/>
            <p14:sldId id="337"/>
            <p14:sldId id="338"/>
            <p14:sldId id="339"/>
            <p14:sldId id="340"/>
            <p14:sldId id="341"/>
            <p14:sldId id="342"/>
            <p14:sldId id="343"/>
            <p14:sldId id="344"/>
            <p14:sldId id="345"/>
            <p14:sldId id="346"/>
            <p14:sldId id="347"/>
          </p14:sldIdLst>
        </p14:section>
        <p14:section name="Sales Orders Insights" id="{703F1D94-E470-4ABC-84AA-8AB13B3F8117}">
          <p14:sldIdLst>
            <p14:sldId id="348"/>
            <p14:sldId id="349"/>
            <p14:sldId id="350"/>
            <p14:sldId id="351"/>
            <p14:sldId id="352"/>
            <p14:sldId id="353"/>
            <p14:sldId id="354"/>
            <p14:sldId id="355"/>
            <p14:sldId id="356"/>
            <p14:sldId id="357"/>
            <p14:sldId id="358"/>
            <p14:sldId id="359"/>
          </p14:sldIdLst>
        </p14:section>
        <p14:section name="Business Recommendations" id="{09E9CC2E-E9D2-4F3B-8969-8F3BDB1A061D}">
          <p14:sldIdLst>
            <p14:sldId id="288"/>
            <p14:sldId id="362"/>
          </p14:sldIdLst>
        </p14:section>
        <p14:section name="Action Plan" id="{A9ABDDEE-9596-447B-A233-F9F294F8FEE1}">
          <p14:sldIdLst>
            <p14:sldId id="289"/>
            <p14:sldId id="364"/>
            <p14:sldId id="363"/>
          </p14:sldIdLst>
        </p14:section>
        <p14:section name="2026 Forecasting as per the Action Plan" id="{1577CDD4-B1CE-4B12-A7FE-1A3DE4CE74CB}">
          <p14:sldIdLst>
            <p14:sldId id="258"/>
          </p14:sldIdLst>
        </p14:section>
        <p14:section name="Thank You!" id="{E0684AE4-2D2A-48B9-ACD9-5D3ED055F947}">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6919"/>
    <a:srgbClr val="C29524"/>
    <a:srgbClr val="BC8F00"/>
    <a:srgbClr val="E8D189"/>
    <a:srgbClr val="E8D087"/>
    <a:srgbClr val="E9D184"/>
    <a:srgbClr val="A47F24"/>
    <a:srgbClr val="AD913A"/>
    <a:srgbClr val="F7EED5"/>
    <a:srgbClr val="EEDB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95" autoAdjust="0"/>
    <p:restoredTop sz="94061" autoAdjust="0"/>
  </p:normalViewPr>
  <p:slideViewPr>
    <p:cSldViewPr snapToGrid="0">
      <p:cViewPr>
        <p:scale>
          <a:sx n="33" d="100"/>
          <a:sy n="33" d="100"/>
        </p:scale>
        <p:origin x="1386" y="7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C3CE-B1FC-BEDA-E9B5-2C72EE2837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B9C4BE-EA03-6ACE-C299-8C3020B166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A0086BE-ED68-2660-96FF-7138BD9E3095}"/>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5" name="Footer Placeholder 4">
            <a:extLst>
              <a:ext uri="{FF2B5EF4-FFF2-40B4-BE49-F238E27FC236}">
                <a16:creationId xmlns:a16="http://schemas.microsoft.com/office/drawing/2014/main" id="{58D7A25E-A67E-DEE2-BE09-CAF71BE9241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0D2085D-80FA-974F-C4AF-A54C2B3B232D}"/>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1439815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A45C5-1FB7-6924-FA78-30805751AA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68A7A3-E955-4426-A63A-A97F7813D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675352-31E4-467F-7425-E08CCAE1B629}"/>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5" name="Footer Placeholder 4">
            <a:extLst>
              <a:ext uri="{FF2B5EF4-FFF2-40B4-BE49-F238E27FC236}">
                <a16:creationId xmlns:a16="http://schemas.microsoft.com/office/drawing/2014/main" id="{F8D3679C-237E-B311-0AC0-5C8342942C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C1FB6A-98A1-D4FD-B5C2-B2F4DCD53180}"/>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57512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36CF3-9C6E-F55A-E2D1-BA6C3B6549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D5BEBD-AFFD-946A-CC00-7B74BC0D51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807024-AC77-DBFD-CE47-C3F6F3132649}"/>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5" name="Footer Placeholder 4">
            <a:extLst>
              <a:ext uri="{FF2B5EF4-FFF2-40B4-BE49-F238E27FC236}">
                <a16:creationId xmlns:a16="http://schemas.microsoft.com/office/drawing/2014/main" id="{EBAE5CF6-0855-FCA3-C573-ECE32F3D599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BD2DA3C-80F7-FB60-DA48-437E1E562EE0}"/>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487020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A9734-7FF8-B93C-0CD9-CBBD6E109A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ADBFD7F-74E8-080C-38D8-68CF8FFA8F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B3CA16-D3ED-F23D-A9B8-7C65480415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12CE2A5-5B19-AE85-0BF2-E99AC3D23F05}"/>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6" name="Footer Placeholder 5">
            <a:extLst>
              <a:ext uri="{FF2B5EF4-FFF2-40B4-BE49-F238E27FC236}">
                <a16:creationId xmlns:a16="http://schemas.microsoft.com/office/drawing/2014/main" id="{6F459ACC-8A93-E468-BC76-1B32AB4CFCC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5CD2769-D474-6107-816D-4D9BABFB1D1B}"/>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3018895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4A872-CA1E-C5B4-4882-6BE95EEED58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1F6CE2-C2AC-87D5-83D9-2A3975AE33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43FF00-2B7F-71F4-0E3A-E2B07B9134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140231-77FA-1FE7-CD1C-52B42D5613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59B9C3-716B-6249-2A0D-E96A6A8655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0E1AE4-4701-8794-FDED-825D2154F8A2}"/>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8" name="Footer Placeholder 7">
            <a:extLst>
              <a:ext uri="{FF2B5EF4-FFF2-40B4-BE49-F238E27FC236}">
                <a16:creationId xmlns:a16="http://schemas.microsoft.com/office/drawing/2014/main" id="{B3B35412-DABF-216C-4148-1447C275074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6B5BCEB-DB3E-ED6A-00A5-EF9843154968}"/>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1317070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7CDF1-B4E0-AF59-0BBC-46797A6A87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3119C5-D554-151C-C887-6CCE485082FB}"/>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4" name="Footer Placeholder 3">
            <a:extLst>
              <a:ext uri="{FF2B5EF4-FFF2-40B4-BE49-F238E27FC236}">
                <a16:creationId xmlns:a16="http://schemas.microsoft.com/office/drawing/2014/main" id="{21BB10DF-2ABE-2D10-2B11-D9079ED93CB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C6A44D9-C925-7263-D588-21D17A496236}"/>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8619792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8C8BDE-2468-1DAF-8E51-2D13FBF6E3B3}"/>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3" name="Footer Placeholder 2">
            <a:extLst>
              <a:ext uri="{FF2B5EF4-FFF2-40B4-BE49-F238E27FC236}">
                <a16:creationId xmlns:a16="http://schemas.microsoft.com/office/drawing/2014/main" id="{D162BA9F-E6E6-97D1-0564-1118FB6ECD4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67F67C-7C39-A60C-9BA4-5674E809D0BC}"/>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1896487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F848-BBE8-F402-AD85-B2496F6853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3372A0-1B77-2678-03E8-C7A5793EBF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FF5B4E-850D-354C-F4AF-413D9C4DAF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5EF03B-CF61-009D-E35A-9736E304363A}"/>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6" name="Footer Placeholder 5">
            <a:extLst>
              <a:ext uri="{FF2B5EF4-FFF2-40B4-BE49-F238E27FC236}">
                <a16:creationId xmlns:a16="http://schemas.microsoft.com/office/drawing/2014/main" id="{1DDDFB0B-1952-C323-02C2-CBD11834885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E41A64E-5569-8D7E-45D6-D16646A64B1A}"/>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27022532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88359-0F31-21A1-7E97-3758ADB11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1C0AA21-45BD-C14D-9AFA-0178C69F7F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BE03958-8986-08A0-D362-1B9E329DE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5F7C6-C26D-E4B5-1E98-92CA99BE10F3}"/>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6" name="Footer Placeholder 5">
            <a:extLst>
              <a:ext uri="{FF2B5EF4-FFF2-40B4-BE49-F238E27FC236}">
                <a16:creationId xmlns:a16="http://schemas.microsoft.com/office/drawing/2014/main" id="{9A7D8242-FAF9-1BAC-3F6F-56697168646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EF033D-E645-C64D-5516-6332A11E5526}"/>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2604384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8C211-4B46-605F-961F-43AB387977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9B7B174-5CB6-3451-94AD-995D0A2911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FD1D6-7436-8E7E-6F0E-87D98FC25E3D}"/>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5" name="Footer Placeholder 4">
            <a:extLst>
              <a:ext uri="{FF2B5EF4-FFF2-40B4-BE49-F238E27FC236}">
                <a16:creationId xmlns:a16="http://schemas.microsoft.com/office/drawing/2014/main" id="{6562CFC3-AF5A-D02F-5F65-D7AF553ED6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1EDA326-717C-C0DD-D7FF-9C97410A3D95}"/>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3952466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5B0123-F144-A9E3-0DC5-71F5015AF7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FAFD7A-78FA-29C4-1DF1-E0605A382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842E9-0A40-F2DF-ED58-67093DD79A68}"/>
              </a:ext>
            </a:extLst>
          </p:cNvPr>
          <p:cNvSpPr>
            <a:spLocks noGrp="1"/>
          </p:cNvSpPr>
          <p:nvPr>
            <p:ph type="dt" sz="half" idx="10"/>
          </p:nvPr>
        </p:nvSpPr>
        <p:spPr/>
        <p:txBody>
          <a:bodyPr/>
          <a:lstStyle/>
          <a:p>
            <a:fld id="{4CAFCBD3-06BE-4EB6-87F4-E9CC58FE1FC5}" type="datetimeFigureOut">
              <a:rPr lang="en-US" smtClean="0"/>
              <a:t>7/11/2026</a:t>
            </a:fld>
            <a:endParaRPr lang="en-US" dirty="0"/>
          </a:p>
        </p:txBody>
      </p:sp>
      <p:sp>
        <p:nvSpPr>
          <p:cNvPr id="5" name="Footer Placeholder 4">
            <a:extLst>
              <a:ext uri="{FF2B5EF4-FFF2-40B4-BE49-F238E27FC236}">
                <a16:creationId xmlns:a16="http://schemas.microsoft.com/office/drawing/2014/main" id="{E79750FF-61A8-FA00-164A-6DC9209143A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643A1B7-B416-50ED-50F5-033DE906119A}"/>
              </a:ext>
            </a:extLst>
          </p:cNvPr>
          <p:cNvSpPr>
            <a:spLocks noGrp="1"/>
          </p:cNvSpPr>
          <p:nvPr>
            <p:ph type="sldNum" sz="quarter" idx="12"/>
          </p:nvPr>
        </p:nvSpPr>
        <p:spPr/>
        <p:txBody>
          <a:bodyPr/>
          <a:lstStyle/>
          <a:p>
            <a:fld id="{6A49AADF-FB8E-487D-9ED6-7B4F6CC44B21}" type="slidenum">
              <a:rPr lang="en-US" smtClean="0"/>
              <a:t>‹#›</a:t>
            </a:fld>
            <a:endParaRPr lang="en-US" dirty="0"/>
          </a:p>
        </p:txBody>
      </p:sp>
    </p:spTree>
    <p:extLst>
      <p:ext uri="{BB962C8B-B14F-4D97-AF65-F5344CB8AC3E}">
        <p14:creationId xmlns:p14="http://schemas.microsoft.com/office/powerpoint/2010/main" val="900810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FC0151-33CC-D4B7-AAE3-74CFD7BE78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831D02-8449-2644-877D-5B6607172B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32335F-8C7B-F384-D0BB-4DB6030EF0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AFCBD3-06BE-4EB6-87F4-E9CC58FE1FC5}" type="datetimeFigureOut">
              <a:rPr lang="en-US" smtClean="0"/>
              <a:t>7/11/2026</a:t>
            </a:fld>
            <a:endParaRPr lang="en-US" dirty="0"/>
          </a:p>
        </p:txBody>
      </p:sp>
      <p:sp>
        <p:nvSpPr>
          <p:cNvPr id="5" name="Footer Placeholder 4">
            <a:extLst>
              <a:ext uri="{FF2B5EF4-FFF2-40B4-BE49-F238E27FC236}">
                <a16:creationId xmlns:a16="http://schemas.microsoft.com/office/drawing/2014/main" id="{4B715CEC-A1F4-ABEB-6190-643B990243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0024D37-6258-1DB4-49C5-E489BC6E84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49AADF-FB8E-487D-9ED6-7B4F6CC44B21}" type="slidenum">
              <a:rPr lang="en-US" smtClean="0"/>
              <a:t>‹#›</a:t>
            </a:fld>
            <a:endParaRPr lang="en-US" dirty="0"/>
          </a:p>
        </p:txBody>
      </p:sp>
    </p:spTree>
    <p:extLst>
      <p:ext uri="{BB962C8B-B14F-4D97-AF65-F5344CB8AC3E}">
        <p14:creationId xmlns:p14="http://schemas.microsoft.com/office/powerpoint/2010/main" val="1983226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sv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sv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sv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1.png"/><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microsoft.com/office/2007/relationships/hdphoto" Target="../media/hdphoto1.wdp"/><Relationship Id="rId9" Type="http://schemas.openxmlformats.org/officeDocument/2006/relationships/image" Target="../media/image10.png"/><Relationship Id="rId14" Type="http://schemas.openxmlformats.org/officeDocument/2006/relationships/image" Target="../media/image15.png"/></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7.png"/><Relationship Id="rId10" Type="http://schemas.openxmlformats.org/officeDocument/2006/relationships/image" Target="../media/image11.png"/><Relationship Id="rId4" Type="http://schemas.microsoft.com/office/2007/relationships/hdphoto" Target="../media/hdphoto1.wdp"/><Relationship Id="rId9" Type="http://schemas.openxmlformats.org/officeDocument/2006/relationships/image" Target="../media/image10.png"/><Relationship Id="rId14"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9.png"/><Relationship Id="rId2" Type="http://schemas.openxmlformats.org/officeDocument/2006/relationships/image" Target="../media/image1.png"/><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microsoft.com/office/2007/relationships/hdphoto" Target="../media/hdphoto1.wdp"/><Relationship Id="rId9" Type="http://schemas.openxmlformats.org/officeDocument/2006/relationships/image" Target="../media/image10.png"/><Relationship Id="rId1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22.png"/><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microsoft.com/office/2007/relationships/hdphoto" Target="../media/hdphoto1.wdp"/></Relationships>
</file>

<file path=ppt/slides/_rels/slide3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4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4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4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5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4.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4.png"/><Relationship Id="rId4" Type="http://schemas.microsoft.com/office/2007/relationships/hdphoto" Target="../media/hdphoto1.wdp"/></Relationships>
</file>

<file path=ppt/slides/_rels/slide5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4.png"/><Relationship Id="rId4" Type="http://schemas.microsoft.com/office/2007/relationships/hdphoto" Target="../media/hdphoto1.wdp"/><Relationship Id="rId9" Type="http://schemas.openxmlformats.org/officeDocument/2006/relationships/image" Target="../media/image30.png"/></Relationships>
</file>

<file path=ppt/slides/_rels/slide5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4.png"/><Relationship Id="rId4" Type="http://schemas.microsoft.com/office/2007/relationships/hdphoto" Target="../media/hdphoto1.wdp"/><Relationship Id="rId9" Type="http://schemas.openxmlformats.org/officeDocument/2006/relationships/image" Target="../media/image30.png"/></Relationships>
</file>

<file path=ppt/slides/_rels/slide5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microsoft.com/office/2007/relationships/hdphoto" Target="../media/hdphoto1.wdp"/><Relationship Id="rId9" Type="http://schemas.openxmlformats.org/officeDocument/2006/relationships/image" Target="../media/image28.png"/></Relationships>
</file>

<file path=ppt/slides/_rels/slide5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4.png"/><Relationship Id="rId10" Type="http://schemas.openxmlformats.org/officeDocument/2006/relationships/image" Target="../media/image30.png"/><Relationship Id="rId4" Type="http://schemas.microsoft.com/office/2007/relationships/hdphoto" Target="../media/hdphoto1.wdp"/><Relationship Id="rId9" Type="http://schemas.openxmlformats.org/officeDocument/2006/relationships/image" Target="../media/image29.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microsoft.com/office/2007/relationships/hdphoto" Target="../media/hdphoto1.wdp"/></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6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33.png"/></Relationships>
</file>

<file path=ppt/slides/_rels/slide6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4.png"/><Relationship Id="rId7"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4" Type="http://schemas.microsoft.com/office/2007/relationships/hdphoto" Target="../media/hdphoto1.wdp"/><Relationship Id="rId9" Type="http://schemas.openxmlformats.org/officeDocument/2006/relationships/image" Target="../media/image33.png"/></Relationships>
</file>

<file path=ppt/slides/_rels/slide6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4.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10" Type="http://schemas.openxmlformats.org/officeDocument/2006/relationships/image" Target="../media/image33.png"/><Relationship Id="rId4" Type="http://schemas.microsoft.com/office/2007/relationships/hdphoto" Target="../media/hdphoto1.wdp"/><Relationship Id="rId9" Type="http://schemas.openxmlformats.org/officeDocument/2006/relationships/image" Target="../media/image32.png"/></Relationships>
</file>

<file path=ppt/slides/_rels/slide6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4.png"/><Relationship Id="rId7"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5.png"/><Relationship Id="rId10" Type="http://schemas.openxmlformats.org/officeDocument/2006/relationships/image" Target="../media/image33.png"/><Relationship Id="rId4" Type="http://schemas.microsoft.com/office/2007/relationships/hdphoto" Target="../media/hdphoto1.wdp"/><Relationship Id="rId9" Type="http://schemas.openxmlformats.org/officeDocument/2006/relationships/image" Target="../media/image32.png"/></Relationships>
</file>

<file path=ppt/slides/_rels/slide6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33.png"/><Relationship Id="rId5" Type="http://schemas.openxmlformats.org/officeDocument/2006/relationships/image" Target="../media/image25.png"/><Relationship Id="rId10" Type="http://schemas.openxmlformats.org/officeDocument/2006/relationships/image" Target="../media/image32.png"/><Relationship Id="rId4" Type="http://schemas.microsoft.com/office/2007/relationships/hdphoto" Target="../media/hdphoto1.wdp"/><Relationship Id="rId9" Type="http://schemas.openxmlformats.org/officeDocument/2006/relationships/image" Target="../media/image31.png"/></Relationships>
</file>

<file path=ppt/slides/_rels/slide6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33.png"/><Relationship Id="rId5" Type="http://schemas.openxmlformats.org/officeDocument/2006/relationships/image" Target="../media/image25.png"/><Relationship Id="rId10" Type="http://schemas.openxmlformats.org/officeDocument/2006/relationships/image" Target="../media/image32.png"/><Relationship Id="rId4" Type="http://schemas.microsoft.com/office/2007/relationships/hdphoto" Target="../media/hdphoto1.wdp"/><Relationship Id="rId9" Type="http://schemas.openxmlformats.org/officeDocument/2006/relationships/image" Target="../media/image31.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microsoft.com/office/2007/relationships/hdphoto" Target="../media/hdphoto1.wdp"/></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AADAB99-E444-E642-D8EB-DD16E5C6A3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5" name="Picture 14">
            <a:extLst>
              <a:ext uri="{FF2B5EF4-FFF2-40B4-BE49-F238E27FC236}">
                <a16:creationId xmlns:a16="http://schemas.microsoft.com/office/drawing/2014/main" id="{D9CA39E0-F726-00A7-3289-2CB3CBAAA168}"/>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7" name="Picture 16">
            <a:extLst>
              <a:ext uri="{FF2B5EF4-FFF2-40B4-BE49-F238E27FC236}">
                <a16:creationId xmlns:a16="http://schemas.microsoft.com/office/drawing/2014/main" id="{55459A0A-7596-085C-FFB5-B6420E660CE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a:stretch/>
        </p:blipFill>
        <p:spPr>
          <a:xfrm>
            <a:off x="3183190" y="263148"/>
            <a:ext cx="5825617" cy="3027126"/>
          </a:xfrm>
          <a:prstGeom prst="rect">
            <a:avLst/>
          </a:prstGeom>
        </p:spPr>
      </p:pic>
      <p:sp>
        <p:nvSpPr>
          <p:cNvPr id="18" name="TextBox 17">
            <a:extLst>
              <a:ext uri="{FF2B5EF4-FFF2-40B4-BE49-F238E27FC236}">
                <a16:creationId xmlns:a16="http://schemas.microsoft.com/office/drawing/2014/main" id="{8805A348-B063-55D5-8F73-72710EB1B581}"/>
              </a:ext>
            </a:extLst>
          </p:cNvPr>
          <p:cNvSpPr txBox="1"/>
          <p:nvPr/>
        </p:nvSpPr>
        <p:spPr>
          <a:xfrm>
            <a:off x="384874" y="4233547"/>
            <a:ext cx="11422250" cy="646331"/>
          </a:xfrm>
          <a:prstGeom prst="rect">
            <a:avLst/>
          </a:prstGeom>
          <a:noFill/>
        </p:spPr>
        <p:txBody>
          <a:bodyPr wrap="square" rtlCol="0">
            <a:spAutoFit/>
          </a:bodyPr>
          <a:lstStyle/>
          <a:p>
            <a:r>
              <a:rPr lang="en-US" sz="3600" b="1" dirty="0">
                <a:gradFill flip="none" rotWithShape="1">
                  <a:gsLst>
                    <a:gs pos="25000">
                      <a:srgbClr val="EBAC2D"/>
                    </a:gs>
                    <a:gs pos="75000">
                      <a:srgbClr val="EBAC2D"/>
                    </a:gs>
                    <a:gs pos="100000">
                      <a:srgbClr val="B97310"/>
                    </a:gs>
                    <a:gs pos="0">
                      <a:srgbClr val="B76E10"/>
                    </a:gs>
                    <a:gs pos="50000">
                      <a:srgbClr val="EBAC2D"/>
                    </a:gs>
                  </a:gsLst>
                  <a:path path="circle">
                    <a:fillToRect t="100000" r="100000"/>
                  </a:path>
                  <a:tileRect l="-100000" b="-100000"/>
                </a:gradFill>
                <a:effectLst>
                  <a:outerShdw blurRad="63500" dist="38100" dir="2700000" algn="tl">
                    <a:srgbClr val="000000">
                      <a:alpha val="50000"/>
                    </a:srgbClr>
                  </a:outerShdw>
                </a:effectLst>
                <a:latin typeface="Segoe UI Semibold" panose="020B0702040204020203" pitchFamily="34" charset="0"/>
                <a:cs typeface="Segoe UI Semibold" panose="020B0702040204020203" pitchFamily="34" charset="0"/>
              </a:rPr>
              <a:t>Welcome to the 2025 Supply Chain Analytics Report</a:t>
            </a:r>
          </a:p>
        </p:txBody>
      </p:sp>
      <p:sp>
        <p:nvSpPr>
          <p:cNvPr id="2" name="TextBox 1">
            <a:extLst>
              <a:ext uri="{FF2B5EF4-FFF2-40B4-BE49-F238E27FC236}">
                <a16:creationId xmlns:a16="http://schemas.microsoft.com/office/drawing/2014/main" id="{FAC6F042-6DA6-C6C5-3572-B8B2CE518500}"/>
              </a:ext>
            </a:extLst>
          </p:cNvPr>
          <p:cNvSpPr txBox="1"/>
          <p:nvPr/>
        </p:nvSpPr>
        <p:spPr>
          <a:xfrm>
            <a:off x="3943348" y="5851952"/>
            <a:ext cx="4305300" cy="769441"/>
          </a:xfrm>
          <a:prstGeom prst="rect">
            <a:avLst/>
          </a:prstGeom>
          <a:noFill/>
        </p:spPr>
        <p:txBody>
          <a:bodyPr wrap="square" rtlCol="0" anchor="ctr" anchorCtr="1">
            <a:spAutoFit/>
          </a:bodyPr>
          <a:lstStyle/>
          <a:p>
            <a:pPr algn="ctr"/>
            <a:r>
              <a:rPr lang="en-US" sz="2200" dirty="0">
                <a:solidFill>
                  <a:srgbClr val="C29524"/>
                </a:solidFill>
                <a:latin typeface="Segoe UI Semibold" panose="020B0702040204020203" pitchFamily="34" charset="0"/>
                <a:cs typeface="Segoe UI Semibold" panose="020B0702040204020203" pitchFamily="34" charset="0"/>
              </a:rPr>
              <a:t>Prepared by</a:t>
            </a:r>
            <a:br>
              <a:rPr lang="en-US" sz="2200" dirty="0">
                <a:solidFill>
                  <a:srgbClr val="C29524"/>
                </a:solidFill>
                <a:latin typeface="Segoe UI Semibold" panose="020B0702040204020203" pitchFamily="34" charset="0"/>
                <a:cs typeface="Segoe UI Semibold" panose="020B0702040204020203" pitchFamily="34" charset="0"/>
              </a:rPr>
            </a:br>
            <a:r>
              <a:rPr lang="en-US" sz="2200" dirty="0">
                <a:solidFill>
                  <a:srgbClr val="C29524"/>
                </a:solidFill>
                <a:latin typeface="Segoe UI Semibold" panose="020B0702040204020203" pitchFamily="34" charset="0"/>
                <a:cs typeface="Segoe UI Semibold" panose="020B0702040204020203" pitchFamily="34" charset="0"/>
              </a:rPr>
              <a:t> </a:t>
            </a:r>
            <a:r>
              <a:rPr lang="en-US" sz="2200"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Tech Titans Team</a:t>
            </a:r>
          </a:p>
        </p:txBody>
      </p:sp>
    </p:spTree>
    <p:extLst>
      <p:ext uri="{BB962C8B-B14F-4D97-AF65-F5344CB8AC3E}">
        <p14:creationId xmlns:p14="http://schemas.microsoft.com/office/powerpoint/2010/main" val="889772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3420C-9851-9AD4-E7CC-92219C0A318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21B6248-CF8D-C994-51F5-DC1B55EEED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59FB728-8090-2B1C-D051-43E356FABB9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8589338-4D38-6502-55B2-1D2D43A83E05}"/>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B9503FDE-1D0A-41C1-0A32-D84BF5F8F6D0}"/>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CAD94C31-215F-1371-793C-E7C2EB08EFC4}"/>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6" name="TextBox 5">
            <a:extLst>
              <a:ext uri="{FF2B5EF4-FFF2-40B4-BE49-F238E27FC236}">
                <a16:creationId xmlns:a16="http://schemas.microsoft.com/office/drawing/2014/main" id="{FE8C7EF1-5B94-4D00-120A-EC7D3EE97260}"/>
              </a:ext>
            </a:extLst>
          </p:cNvPr>
          <p:cNvSpPr txBox="1"/>
          <p:nvPr/>
        </p:nvSpPr>
        <p:spPr>
          <a:xfrm>
            <a:off x="196645" y="1492658"/>
            <a:ext cx="8486274" cy="4455515"/>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725245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AB9331D-2F30-05C7-1413-3D28731BD91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11A9604-302B-4388-4934-1DE305A850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9B17ABD0-032E-4339-F4DF-2CD0D06BD4B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78D7ED0-E7AE-46A7-3348-292E1E09B4E3}"/>
              </a:ext>
            </a:extLst>
          </p:cNvPr>
          <p:cNvSpPr/>
          <p:nvPr/>
        </p:nvSpPr>
        <p:spPr>
          <a:xfrm rot="5400000">
            <a:off x="-31839" y="1524090"/>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9EB56B6C-AF8D-7C71-D112-2B78C47C0861}"/>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73F69861-7D26-6AF8-A3BE-49C05B1589F7}"/>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D795B4A4-F629-9065-A16E-CA789D38728E}"/>
              </a:ext>
            </a:extLst>
          </p:cNvPr>
          <p:cNvSpPr txBox="1"/>
          <p:nvPr/>
        </p:nvSpPr>
        <p:spPr>
          <a:xfrm>
            <a:off x="196645" y="1215659"/>
            <a:ext cx="8486274" cy="5009513"/>
          </a:xfrm>
          <a:prstGeom prst="rect">
            <a:avLst/>
          </a:prstGeom>
          <a:noFill/>
          <a:effectLst/>
        </p:spPr>
        <p:txBody>
          <a:bodyPr wrap="square" rtlCol="0" anchor="ctr">
            <a:spAutoFit/>
          </a:bodyPr>
          <a:lstStyle/>
          <a:p>
            <a:pPr>
              <a:lnSpc>
                <a:spcPct val="150000"/>
              </a:lnSpc>
            </a:pPr>
            <a:r>
              <a:rPr lang="en-US" sz="2400" b="1" dirty="0">
                <a:solidFill>
                  <a:srgbClr val="C29524"/>
                </a:solidFill>
                <a:effectLst/>
                <a:latin typeface="Segoe UI Black" panose="020B0A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3467821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221D24-46FB-4489-455C-30A6814F870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4864F89-AF87-F914-E933-4DB2DFC240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03756459-F0E4-8E22-290D-04B873C0E0B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A1586922-F2BE-BC28-2A2E-D8E2D7518831}"/>
              </a:ext>
            </a:extLst>
          </p:cNvPr>
          <p:cNvSpPr/>
          <p:nvPr/>
        </p:nvSpPr>
        <p:spPr>
          <a:xfrm rot="5400000">
            <a:off x="-31839" y="2070192"/>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59BAF0A5-B5A5-46E1-B006-D380F204E3C2}"/>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6CFB56ED-FC25-8FEA-1C63-E8798CF75F13}"/>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7CB5C5D8-76D4-C8DB-11B4-74DC3140E25F}"/>
              </a:ext>
            </a:extLst>
          </p:cNvPr>
          <p:cNvSpPr txBox="1"/>
          <p:nvPr/>
        </p:nvSpPr>
        <p:spPr>
          <a:xfrm>
            <a:off x="196645" y="1215659"/>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516958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52F19F-6F8F-875F-CDB9-922FC8AB323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BDDD1AE-52A6-77BC-1B17-0A4D3EF3AF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A067306-3ACF-5703-079C-7353DE08F2BA}"/>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3FA2F907-F537-F164-FF4A-1269ECAD4008}"/>
              </a:ext>
            </a:extLst>
          </p:cNvPr>
          <p:cNvSpPr/>
          <p:nvPr/>
        </p:nvSpPr>
        <p:spPr>
          <a:xfrm rot="5400000">
            <a:off x="-31839" y="2622643"/>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F53E314D-431A-C0D0-1601-AB1EB25E7D10}"/>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5E9763FC-F2CD-3534-5762-20ED377BF6F8}"/>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C05B709C-90E8-AAD1-367D-F9B627392D1E}"/>
              </a:ext>
            </a:extLst>
          </p:cNvPr>
          <p:cNvSpPr txBox="1"/>
          <p:nvPr/>
        </p:nvSpPr>
        <p:spPr>
          <a:xfrm>
            <a:off x="196645" y="1215659"/>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3875330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7431A6-A906-0EB2-4078-3C84D90A32F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05593C9-FD3B-1DB7-7A92-7BDCC70CB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DBC8136-7501-9C5B-F031-A63A6439913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E9B97B74-D3DE-C3E0-B5C4-23FA2D10E0B3}"/>
              </a:ext>
            </a:extLst>
          </p:cNvPr>
          <p:cNvSpPr/>
          <p:nvPr/>
        </p:nvSpPr>
        <p:spPr>
          <a:xfrm rot="5400000">
            <a:off x="-31839" y="3168744"/>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7C396630-1890-A360-C06D-B0F52019584F}"/>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17266A63-D3AE-91B8-2E92-4422A0A55EA8}"/>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7E2380DE-96BA-B469-AB38-364DBF9F78FD}"/>
              </a:ext>
            </a:extLst>
          </p:cNvPr>
          <p:cNvSpPr txBox="1"/>
          <p:nvPr/>
        </p:nvSpPr>
        <p:spPr>
          <a:xfrm>
            <a:off x="196645" y="1215659"/>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4056492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768D0F-75AB-FD15-130F-D1575423A33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56A524B-7077-6722-5FC1-B1BC33EDDF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6359B628-9807-D1FA-C4D1-129A091E4880}"/>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E64CDD77-4867-B806-6452-5E261D7CB190}"/>
              </a:ext>
            </a:extLst>
          </p:cNvPr>
          <p:cNvSpPr/>
          <p:nvPr/>
        </p:nvSpPr>
        <p:spPr>
          <a:xfrm rot="5400000">
            <a:off x="-31840" y="3716099"/>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58EFD225-9159-3231-4D11-5B21607D51FE}"/>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AAF25D36-F269-F10D-BE43-5166E93393A5}"/>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9226BDFA-6504-8C47-793C-3030D30928F8}"/>
              </a:ext>
            </a:extLst>
          </p:cNvPr>
          <p:cNvSpPr txBox="1"/>
          <p:nvPr/>
        </p:nvSpPr>
        <p:spPr>
          <a:xfrm>
            <a:off x="196645" y="1217603"/>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Dashboards Snapshots</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3107929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ACD8A9-54F0-DECE-7C90-98FD80C87D6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9A54A65-F72A-7FA1-CFF0-48F7DF935D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D4FF7C62-CAF5-36EF-621E-71BBDB8DE2E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D9C599C-BC66-7134-1A03-563AF2BB3468}"/>
              </a:ext>
            </a:extLst>
          </p:cNvPr>
          <p:cNvSpPr/>
          <p:nvPr/>
        </p:nvSpPr>
        <p:spPr>
          <a:xfrm rot="5400000">
            <a:off x="-31839" y="4270471"/>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28A0FCAA-DCF1-A06D-21C0-BEC3B0FB4D8D}"/>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D4952E75-22ED-8BE6-7D3A-EB2ACB97260A}"/>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2E767283-B946-15C0-8F79-D1A7F7868FD6}"/>
              </a:ext>
            </a:extLst>
          </p:cNvPr>
          <p:cNvSpPr txBox="1"/>
          <p:nvPr/>
        </p:nvSpPr>
        <p:spPr>
          <a:xfrm>
            <a:off x="196645" y="1217603"/>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Key Insights &amp; Conclusions</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978991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4259C-E889-92A4-1735-D3E40AB3815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A7BEB92-58E2-C0BE-C022-64DA8F50E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D75F0D2-2A65-A9B1-D18C-B43BBB054168}"/>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A5C5DC02-A9A0-E898-78C0-9B07D5ADED75}"/>
              </a:ext>
            </a:extLst>
          </p:cNvPr>
          <p:cNvSpPr/>
          <p:nvPr/>
        </p:nvSpPr>
        <p:spPr>
          <a:xfrm rot="5400000">
            <a:off x="-31839" y="4819747"/>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458542C9-144A-2CAA-BEF5-77AEFCA975CF}"/>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ED019E74-996F-55BA-93F0-B41EA21FA72F}"/>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5E66F06C-71C5-1F32-28A5-09F183AD6D91}"/>
              </a:ext>
            </a:extLst>
          </p:cNvPr>
          <p:cNvSpPr txBox="1"/>
          <p:nvPr/>
        </p:nvSpPr>
        <p:spPr>
          <a:xfrm>
            <a:off x="196645" y="1215659"/>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Business Recommendations</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427435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E01B6A-D9C2-7580-97BD-B3013939EB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597C6C6-93E9-CF02-454E-423DD1E52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7BEB7FD-E25B-8108-ECA3-5E970A585370}"/>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3D565EAF-B7DA-BFC0-568B-64DB33ACEA18}"/>
              </a:ext>
            </a:extLst>
          </p:cNvPr>
          <p:cNvSpPr/>
          <p:nvPr/>
        </p:nvSpPr>
        <p:spPr>
          <a:xfrm rot="5400000">
            <a:off x="-31839" y="5362673"/>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91B19B10-F665-4ECF-437E-3AD2F4973A7A}"/>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7F77E008-FA1D-97C1-638F-4BB5F7F6B452}"/>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EC092200-8C7E-7263-6871-3BE519A0EE9A}"/>
              </a:ext>
            </a:extLst>
          </p:cNvPr>
          <p:cNvSpPr txBox="1"/>
          <p:nvPr/>
        </p:nvSpPr>
        <p:spPr>
          <a:xfrm>
            <a:off x="196645" y="1215659"/>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Action Plan</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Thank You!</a:t>
            </a:r>
          </a:p>
        </p:txBody>
      </p:sp>
    </p:spTree>
    <p:extLst>
      <p:ext uri="{BB962C8B-B14F-4D97-AF65-F5344CB8AC3E}">
        <p14:creationId xmlns:p14="http://schemas.microsoft.com/office/powerpoint/2010/main" val="3981542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1387A5-27BF-2110-18A1-FDFA180D55A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88F7FC7-ED0F-5AB0-4A06-8B617DBB78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903B1ABA-DADA-4EF7-D7F4-67705554991A}"/>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30889458-F013-5F0D-5B40-3CDA906AEFE3}"/>
              </a:ext>
            </a:extLst>
          </p:cNvPr>
          <p:cNvSpPr/>
          <p:nvPr/>
        </p:nvSpPr>
        <p:spPr>
          <a:xfrm rot="5400000">
            <a:off x="-31839" y="5924650"/>
            <a:ext cx="202635" cy="138956"/>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2" name="TextBox 11">
            <a:extLst>
              <a:ext uri="{FF2B5EF4-FFF2-40B4-BE49-F238E27FC236}">
                <a16:creationId xmlns:a16="http://schemas.microsoft.com/office/drawing/2014/main" id="{F00C4E46-BD16-36A4-2E42-2FB018F44FB4}"/>
              </a:ext>
            </a:extLst>
          </p:cNvPr>
          <p:cNvSpPr txBox="1"/>
          <p:nvPr/>
        </p:nvSpPr>
        <p:spPr>
          <a:xfrm>
            <a:off x="196645" y="141359"/>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Yu Gothic Medium" panose="020B0500000000000000" pitchFamily="34" charset="-128"/>
                <a:cs typeface="Segoe UI Semibold" panose="020B0702040204020203" pitchFamily="34" charset="0"/>
              </a:rPr>
              <a:t>Agenda</a:t>
            </a:r>
          </a:p>
        </p:txBody>
      </p:sp>
      <p:sp>
        <p:nvSpPr>
          <p:cNvPr id="16" name="TextBox 15">
            <a:extLst>
              <a:ext uri="{FF2B5EF4-FFF2-40B4-BE49-F238E27FC236}">
                <a16:creationId xmlns:a16="http://schemas.microsoft.com/office/drawing/2014/main" id="{62B5E5FC-B6C0-91E4-F569-94F97E27A5A6}"/>
              </a:ext>
            </a:extLst>
          </p:cNvPr>
          <p:cNvSpPr txBox="1"/>
          <p:nvPr/>
        </p:nvSpPr>
        <p:spPr>
          <a:xfrm>
            <a:off x="196645" y="630884"/>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Problem Statement</a:t>
            </a:r>
          </a:p>
        </p:txBody>
      </p:sp>
      <p:sp>
        <p:nvSpPr>
          <p:cNvPr id="9" name="TextBox 8">
            <a:extLst>
              <a:ext uri="{FF2B5EF4-FFF2-40B4-BE49-F238E27FC236}">
                <a16:creationId xmlns:a16="http://schemas.microsoft.com/office/drawing/2014/main" id="{2FDEA5B2-CB01-E956-7C76-49DEBC41EA97}"/>
              </a:ext>
            </a:extLst>
          </p:cNvPr>
          <p:cNvSpPr txBox="1"/>
          <p:nvPr/>
        </p:nvSpPr>
        <p:spPr>
          <a:xfrm>
            <a:off x="196645" y="1217603"/>
            <a:ext cx="8486274" cy="5009513"/>
          </a:xfrm>
          <a:prstGeom prst="rect">
            <a:avLst/>
          </a:prstGeom>
          <a:noFill/>
        </p:spPr>
        <p:txBody>
          <a:bodyPr wrap="square" rtlCol="0" anchor="ctr">
            <a:spAutoFit/>
          </a:bodyPr>
          <a:lstStyle/>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Problem Statement</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Requirements Gathering &amp; Technical Methodologies </a:t>
            </a:r>
          </a:p>
          <a:p>
            <a:pPr>
              <a:lnSpc>
                <a:spcPct val="150000"/>
              </a:lnSpc>
            </a:pPr>
            <a:r>
              <a:rPr lang="en-US" sz="2400" b="1" dirty="0">
                <a:solidFill>
                  <a:srgbClr val="C29524"/>
                </a:solidFill>
                <a:latin typeface="Segoe UI Semibold" panose="020B0702040204020203" pitchFamily="34" charset="0"/>
                <a:ea typeface="Yu Gothic Medium" panose="020B0500000000000000" pitchFamily="34" charset="-128"/>
                <a:cs typeface="Segoe UI Semibold" panose="020B0702040204020203" pitchFamily="34" charset="0"/>
              </a:rPr>
              <a:t>Tool Stack</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Dashboards Snapshots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Key Insights &amp; Conclusions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Business Recommendations</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Action Plan</a:t>
            </a:r>
          </a:p>
          <a:p>
            <a:pPr>
              <a:lnSpc>
                <a:spcPct val="150000"/>
              </a:lnSpc>
            </a:pPr>
            <a:r>
              <a:rPr lang="en-US" sz="24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2026 Forecasting as per the Action Plan</a:t>
            </a:r>
          </a:p>
          <a:p>
            <a:pPr>
              <a:lnSpc>
                <a:spcPct val="150000"/>
              </a:lnSpc>
            </a:pPr>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Thank You!</a:t>
            </a:r>
          </a:p>
        </p:txBody>
      </p:sp>
      <p:sp>
        <p:nvSpPr>
          <p:cNvPr id="10" name="Graphic 3" descr="Warning with solid fill">
            <a:extLst>
              <a:ext uri="{FF2B5EF4-FFF2-40B4-BE49-F238E27FC236}">
                <a16:creationId xmlns:a16="http://schemas.microsoft.com/office/drawing/2014/main" id="{5BC7492C-F6A8-7F61-5DD2-16429364C359}"/>
              </a:ext>
            </a:extLst>
          </p:cNvPr>
          <p:cNvSpPr/>
          <p:nvPr/>
        </p:nvSpPr>
        <p:spPr>
          <a:xfrm>
            <a:off x="13209674" y="2230603"/>
            <a:ext cx="2156415" cy="1900863"/>
          </a:xfrm>
          <a:custGeom>
            <a:avLst/>
            <a:gdLst>
              <a:gd name="csX0" fmla="*/ 2143341 w 2156415"/>
              <a:gd name="csY0" fmla="*/ 1750845 h 1900863"/>
              <a:gd name="csX1" fmla="*/ 1165719 w 2156415"/>
              <a:gd name="csY1" fmla="*/ 50631 h 1900863"/>
              <a:gd name="csX2" fmla="*/ 993197 w 2156415"/>
              <a:gd name="csY2" fmla="*/ 50631 h 1900863"/>
              <a:gd name="csX3" fmla="*/ 13074 w 2156415"/>
              <a:gd name="csY3" fmla="*/ 1750845 h 1900863"/>
              <a:gd name="csX4" fmla="*/ 100585 w 2156415"/>
              <a:gd name="csY4" fmla="*/ 1900863 h 1900863"/>
              <a:gd name="csX5" fmla="*/ 1078208 w 2156415"/>
              <a:gd name="csY5" fmla="*/ 1900863 h 1900863"/>
              <a:gd name="csX6" fmla="*/ 2055830 w 2156415"/>
              <a:gd name="csY6" fmla="*/ 1900863 h 1900863"/>
              <a:gd name="csX7" fmla="*/ 2143341 w 2156415"/>
              <a:gd name="csY7" fmla="*/ 1750845 h 1900863"/>
              <a:gd name="csX8" fmla="*/ 1003198 w 2156415"/>
              <a:gd name="csY8" fmla="*/ 450682 h 1900863"/>
              <a:gd name="csX9" fmla="*/ 1153217 w 2156415"/>
              <a:gd name="csY9" fmla="*/ 450682 h 1900863"/>
              <a:gd name="csX10" fmla="*/ 1153217 w 2156415"/>
              <a:gd name="csY10" fmla="*/ 1325791 h 1900863"/>
              <a:gd name="csX11" fmla="*/ 1003198 w 2156415"/>
              <a:gd name="csY11" fmla="*/ 1325791 h 1900863"/>
              <a:gd name="csX12" fmla="*/ 1003198 w 2156415"/>
              <a:gd name="csY12" fmla="*/ 450682 h 1900863"/>
              <a:gd name="csX13" fmla="*/ 1078208 w 2156415"/>
              <a:gd name="csY13" fmla="*/ 1675835 h 1900863"/>
              <a:gd name="csX14" fmla="*/ 953192 w 2156415"/>
              <a:gd name="csY14" fmla="*/ 1550820 h 1900863"/>
              <a:gd name="csX15" fmla="*/ 1078208 w 2156415"/>
              <a:gd name="csY15" fmla="*/ 1425804 h 1900863"/>
              <a:gd name="csX16" fmla="*/ 1203223 w 2156415"/>
              <a:gd name="csY16" fmla="*/ 1550820 h 1900863"/>
              <a:gd name="csX17" fmla="*/ 1078208 w 2156415"/>
              <a:gd name="csY17" fmla="*/ 1675835 h 1900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156415" h="1900863">
                <a:moveTo>
                  <a:pt x="2143341" y="1750845"/>
                </a:moveTo>
                <a:lnTo>
                  <a:pt x="1165719" y="50631"/>
                </a:lnTo>
                <a:cubicBezTo>
                  <a:pt x="1128214" y="-16877"/>
                  <a:pt x="1030702" y="-16877"/>
                  <a:pt x="993197" y="50631"/>
                </a:cubicBezTo>
                <a:lnTo>
                  <a:pt x="13074" y="1750845"/>
                </a:lnTo>
                <a:cubicBezTo>
                  <a:pt x="-24431" y="1818353"/>
                  <a:pt x="23075" y="1900863"/>
                  <a:pt x="100585" y="1900863"/>
                </a:cubicBezTo>
                <a:lnTo>
                  <a:pt x="1078208" y="1900863"/>
                </a:lnTo>
                <a:lnTo>
                  <a:pt x="2055830" y="1900863"/>
                </a:lnTo>
                <a:cubicBezTo>
                  <a:pt x="2133340" y="1900863"/>
                  <a:pt x="2180846" y="1818353"/>
                  <a:pt x="2143341" y="1750845"/>
                </a:cubicBezTo>
                <a:close/>
                <a:moveTo>
                  <a:pt x="1003198" y="450682"/>
                </a:moveTo>
                <a:lnTo>
                  <a:pt x="1153217" y="450682"/>
                </a:lnTo>
                <a:lnTo>
                  <a:pt x="1153217" y="1325791"/>
                </a:lnTo>
                <a:lnTo>
                  <a:pt x="1003198" y="1325791"/>
                </a:lnTo>
                <a:lnTo>
                  <a:pt x="1003198" y="450682"/>
                </a:lnTo>
                <a:close/>
                <a:moveTo>
                  <a:pt x="1078208" y="1675835"/>
                </a:moveTo>
                <a:cubicBezTo>
                  <a:pt x="1008199" y="1675835"/>
                  <a:pt x="953192" y="1620828"/>
                  <a:pt x="953192" y="1550820"/>
                </a:cubicBezTo>
                <a:cubicBezTo>
                  <a:pt x="953192" y="1480811"/>
                  <a:pt x="1008199" y="1425804"/>
                  <a:pt x="1078208" y="1425804"/>
                </a:cubicBezTo>
                <a:cubicBezTo>
                  <a:pt x="1148217" y="1425804"/>
                  <a:pt x="1203223" y="1480811"/>
                  <a:pt x="1203223" y="1550820"/>
                </a:cubicBezTo>
                <a:cubicBezTo>
                  <a:pt x="1203223" y="1620828"/>
                  <a:pt x="1148217" y="1675835"/>
                  <a:pt x="1078208" y="1675835"/>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Tree>
    <p:extLst>
      <p:ext uri="{BB962C8B-B14F-4D97-AF65-F5344CB8AC3E}">
        <p14:creationId xmlns:p14="http://schemas.microsoft.com/office/powerpoint/2010/main" val="2154820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advClick="0" advTm="1000">
        <p159:morph option="byObject"/>
      </p:transition>
    </mc:Choice>
    <mc:Fallback xmlns="">
      <p:transition spd="slow" advClick="0" advTm="1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DEF39-E4B9-08DD-6ADE-0CA724D8CC5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D1BFBFD-B295-3F4D-98B3-0F8419FC9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5A96614D-0D36-CA19-5BFD-D76F081EE49C}"/>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9DF177A3-32B8-71E1-C853-1E571B1BF1FF}"/>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C77FED39-6E26-C052-4570-5B8947EDB983}"/>
              </a:ext>
            </a:extLst>
          </p:cNvPr>
          <p:cNvSpPr txBox="1"/>
          <p:nvPr/>
        </p:nvSpPr>
        <p:spPr>
          <a:xfrm>
            <a:off x="159694" y="141358"/>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Problem Statement</a:t>
            </a:r>
          </a:p>
        </p:txBody>
      </p:sp>
      <p:sp>
        <p:nvSpPr>
          <p:cNvPr id="4" name="TextBox 3">
            <a:extLst>
              <a:ext uri="{FF2B5EF4-FFF2-40B4-BE49-F238E27FC236}">
                <a16:creationId xmlns:a16="http://schemas.microsoft.com/office/drawing/2014/main" id="{8DB007E5-F4D2-1B92-F31E-1E05430EC586}"/>
              </a:ext>
            </a:extLst>
          </p:cNvPr>
          <p:cNvSpPr txBox="1"/>
          <p:nvPr/>
        </p:nvSpPr>
        <p:spPr>
          <a:xfrm>
            <a:off x="196644" y="630883"/>
            <a:ext cx="10278851"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Requirements Gathering &amp; Technical Methodologies</a:t>
            </a:r>
          </a:p>
        </p:txBody>
      </p:sp>
      <p:sp>
        <p:nvSpPr>
          <p:cNvPr id="8" name="TextBox 7">
            <a:extLst>
              <a:ext uri="{FF2B5EF4-FFF2-40B4-BE49-F238E27FC236}">
                <a16:creationId xmlns:a16="http://schemas.microsoft.com/office/drawing/2014/main" id="{49E28FEA-EEB6-40BE-E7EC-00C132D0717F}"/>
              </a:ext>
            </a:extLst>
          </p:cNvPr>
          <p:cNvSpPr txBox="1"/>
          <p:nvPr/>
        </p:nvSpPr>
        <p:spPr>
          <a:xfrm>
            <a:off x="196645" y="1166640"/>
            <a:ext cx="8486274" cy="5107552"/>
          </a:xfrm>
          <a:prstGeom prst="rect">
            <a:avLst/>
          </a:prstGeom>
          <a:noFill/>
        </p:spPr>
        <p:txBody>
          <a:bodyPr wrap="square" rtlCol="0" anchor="ctr">
            <a:spAutoFit/>
          </a:bodyPr>
          <a:lstStyle/>
          <a:p>
            <a:pPr algn="just">
              <a:lnSpc>
                <a:spcPct val="150000"/>
              </a:lnSpc>
            </a:pPr>
            <a:r>
              <a:rPr lang="en-US" sz="22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the beginning of this annual, we received a report request questioning CocoaLand’s Supply Chain Performance of the annual 2025, measured by calculated KPIs &amp; Metrics against our targets, all analyzed, detailed, and visualized to support in the management’s data-driven business decisions and plans.</a:t>
            </a:r>
          </a:p>
          <a:p>
            <a:pPr algn="just">
              <a:lnSpc>
                <a:spcPct val="150000"/>
              </a:lnSpc>
            </a:pPr>
            <a:endParaRPr lang="en-US" sz="22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endParaRPr>
          </a:p>
          <a:p>
            <a:pPr algn="just">
              <a:lnSpc>
                <a:spcPct val="150000"/>
              </a:lnSpc>
            </a:pPr>
            <a:r>
              <a:rPr lang="en-US" sz="22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The main concern we’ve found is that CocoaLand is still profitable, however, our </a:t>
            </a:r>
            <a:r>
              <a:rPr lang="en-US" sz="22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Supply Chain, Procurement, and Inventory performances are not aligned with targets &amp; expectations. </a:t>
            </a:r>
          </a:p>
        </p:txBody>
      </p:sp>
      <p:pic>
        <p:nvPicPr>
          <p:cNvPr id="15" name="Graphic 14" descr="Downward trend graph with solid fill">
            <a:extLst>
              <a:ext uri="{FF2B5EF4-FFF2-40B4-BE49-F238E27FC236}">
                <a16:creationId xmlns:a16="http://schemas.microsoft.com/office/drawing/2014/main" id="{EABDB8E5-AEA6-4E82-6918-F0DFE74A80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967915" y="1917029"/>
            <a:ext cx="3023937" cy="3023937"/>
          </a:xfrm>
          <a:prstGeom prst="rect">
            <a:avLst/>
          </a:prstGeom>
        </p:spPr>
      </p:pic>
      <p:sp>
        <p:nvSpPr>
          <p:cNvPr id="20" name="Isosceles Triangle 19">
            <a:extLst>
              <a:ext uri="{FF2B5EF4-FFF2-40B4-BE49-F238E27FC236}">
                <a16:creationId xmlns:a16="http://schemas.microsoft.com/office/drawing/2014/main" id="{1EE49070-4495-2B7B-1F37-2F7E2A2ABD3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5" name="Graphic 3" descr="Warning with solid fill">
            <a:extLst>
              <a:ext uri="{FF2B5EF4-FFF2-40B4-BE49-F238E27FC236}">
                <a16:creationId xmlns:a16="http://schemas.microsoft.com/office/drawing/2014/main" id="{013EBA32-D368-98F5-8276-E4A15B9C161E}"/>
              </a:ext>
            </a:extLst>
          </p:cNvPr>
          <p:cNvSpPr/>
          <p:nvPr/>
        </p:nvSpPr>
        <p:spPr>
          <a:xfrm>
            <a:off x="8874179" y="2230603"/>
            <a:ext cx="2156415" cy="1900863"/>
          </a:xfrm>
          <a:custGeom>
            <a:avLst/>
            <a:gdLst>
              <a:gd name="csX0" fmla="*/ 2143341 w 2156415"/>
              <a:gd name="csY0" fmla="*/ 1750845 h 1900863"/>
              <a:gd name="csX1" fmla="*/ 1165719 w 2156415"/>
              <a:gd name="csY1" fmla="*/ 50631 h 1900863"/>
              <a:gd name="csX2" fmla="*/ 993197 w 2156415"/>
              <a:gd name="csY2" fmla="*/ 50631 h 1900863"/>
              <a:gd name="csX3" fmla="*/ 13074 w 2156415"/>
              <a:gd name="csY3" fmla="*/ 1750845 h 1900863"/>
              <a:gd name="csX4" fmla="*/ 100585 w 2156415"/>
              <a:gd name="csY4" fmla="*/ 1900863 h 1900863"/>
              <a:gd name="csX5" fmla="*/ 1078208 w 2156415"/>
              <a:gd name="csY5" fmla="*/ 1900863 h 1900863"/>
              <a:gd name="csX6" fmla="*/ 2055830 w 2156415"/>
              <a:gd name="csY6" fmla="*/ 1900863 h 1900863"/>
              <a:gd name="csX7" fmla="*/ 2143341 w 2156415"/>
              <a:gd name="csY7" fmla="*/ 1750845 h 1900863"/>
              <a:gd name="csX8" fmla="*/ 1003198 w 2156415"/>
              <a:gd name="csY8" fmla="*/ 450682 h 1900863"/>
              <a:gd name="csX9" fmla="*/ 1153217 w 2156415"/>
              <a:gd name="csY9" fmla="*/ 450682 h 1900863"/>
              <a:gd name="csX10" fmla="*/ 1153217 w 2156415"/>
              <a:gd name="csY10" fmla="*/ 1325791 h 1900863"/>
              <a:gd name="csX11" fmla="*/ 1003198 w 2156415"/>
              <a:gd name="csY11" fmla="*/ 1325791 h 1900863"/>
              <a:gd name="csX12" fmla="*/ 1003198 w 2156415"/>
              <a:gd name="csY12" fmla="*/ 450682 h 1900863"/>
              <a:gd name="csX13" fmla="*/ 1078208 w 2156415"/>
              <a:gd name="csY13" fmla="*/ 1675835 h 1900863"/>
              <a:gd name="csX14" fmla="*/ 953192 w 2156415"/>
              <a:gd name="csY14" fmla="*/ 1550820 h 1900863"/>
              <a:gd name="csX15" fmla="*/ 1078208 w 2156415"/>
              <a:gd name="csY15" fmla="*/ 1425804 h 1900863"/>
              <a:gd name="csX16" fmla="*/ 1203223 w 2156415"/>
              <a:gd name="csY16" fmla="*/ 1550820 h 1900863"/>
              <a:gd name="csX17" fmla="*/ 1078208 w 2156415"/>
              <a:gd name="csY17" fmla="*/ 1675835 h 19008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2156415" h="1900863">
                <a:moveTo>
                  <a:pt x="2143341" y="1750845"/>
                </a:moveTo>
                <a:lnTo>
                  <a:pt x="1165719" y="50631"/>
                </a:lnTo>
                <a:cubicBezTo>
                  <a:pt x="1128214" y="-16877"/>
                  <a:pt x="1030702" y="-16877"/>
                  <a:pt x="993197" y="50631"/>
                </a:cubicBezTo>
                <a:lnTo>
                  <a:pt x="13074" y="1750845"/>
                </a:lnTo>
                <a:cubicBezTo>
                  <a:pt x="-24431" y="1818353"/>
                  <a:pt x="23075" y="1900863"/>
                  <a:pt x="100585" y="1900863"/>
                </a:cubicBezTo>
                <a:lnTo>
                  <a:pt x="1078208" y="1900863"/>
                </a:lnTo>
                <a:lnTo>
                  <a:pt x="2055830" y="1900863"/>
                </a:lnTo>
                <a:cubicBezTo>
                  <a:pt x="2133340" y="1900863"/>
                  <a:pt x="2180846" y="1818353"/>
                  <a:pt x="2143341" y="1750845"/>
                </a:cubicBezTo>
                <a:close/>
                <a:moveTo>
                  <a:pt x="1003198" y="450682"/>
                </a:moveTo>
                <a:lnTo>
                  <a:pt x="1153217" y="450682"/>
                </a:lnTo>
                <a:lnTo>
                  <a:pt x="1153217" y="1325791"/>
                </a:lnTo>
                <a:lnTo>
                  <a:pt x="1003198" y="1325791"/>
                </a:lnTo>
                <a:lnTo>
                  <a:pt x="1003198" y="450682"/>
                </a:lnTo>
                <a:close/>
                <a:moveTo>
                  <a:pt x="1078208" y="1675835"/>
                </a:moveTo>
                <a:cubicBezTo>
                  <a:pt x="1008199" y="1675835"/>
                  <a:pt x="953192" y="1620828"/>
                  <a:pt x="953192" y="1550820"/>
                </a:cubicBezTo>
                <a:cubicBezTo>
                  <a:pt x="953192" y="1480811"/>
                  <a:pt x="1008199" y="1425804"/>
                  <a:pt x="1078208" y="1425804"/>
                </a:cubicBezTo>
                <a:cubicBezTo>
                  <a:pt x="1148217" y="1425804"/>
                  <a:pt x="1203223" y="1480811"/>
                  <a:pt x="1203223" y="1550820"/>
                </a:cubicBezTo>
                <a:cubicBezTo>
                  <a:pt x="1203223" y="1620828"/>
                  <a:pt x="1148217" y="1675835"/>
                  <a:pt x="1078208" y="1675835"/>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Tree>
    <p:extLst>
      <p:ext uri="{BB962C8B-B14F-4D97-AF65-F5344CB8AC3E}">
        <p14:creationId xmlns:p14="http://schemas.microsoft.com/office/powerpoint/2010/main" val="31863104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EDB62-49D2-08BF-1CE2-F51D4C35E79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E5D12E2-F1F8-AE99-2021-695AFEB96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AC78CE2-5C9E-2846-86D0-9511E537FCF8}"/>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8415EF99-B1FA-FF63-F724-673B9E1435A5}"/>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31CED298-0591-9C96-F173-400EC12109CE}"/>
              </a:ext>
            </a:extLst>
          </p:cNvPr>
          <p:cNvSpPr txBox="1"/>
          <p:nvPr/>
        </p:nvSpPr>
        <p:spPr>
          <a:xfrm>
            <a:off x="159694" y="141358"/>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Problem Statement</a:t>
            </a:r>
          </a:p>
        </p:txBody>
      </p:sp>
      <p:sp>
        <p:nvSpPr>
          <p:cNvPr id="4" name="TextBox 3">
            <a:extLst>
              <a:ext uri="{FF2B5EF4-FFF2-40B4-BE49-F238E27FC236}">
                <a16:creationId xmlns:a16="http://schemas.microsoft.com/office/drawing/2014/main" id="{6091546A-ECE3-682D-C7AD-7FA7F43F274E}"/>
              </a:ext>
            </a:extLst>
          </p:cNvPr>
          <p:cNvSpPr txBox="1"/>
          <p:nvPr/>
        </p:nvSpPr>
        <p:spPr>
          <a:xfrm>
            <a:off x="196644" y="630883"/>
            <a:ext cx="10278851"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Requirements Gathering &amp; Technical Methodologies</a:t>
            </a:r>
          </a:p>
        </p:txBody>
      </p:sp>
      <p:sp>
        <p:nvSpPr>
          <p:cNvPr id="8" name="TextBox 7">
            <a:extLst>
              <a:ext uri="{FF2B5EF4-FFF2-40B4-BE49-F238E27FC236}">
                <a16:creationId xmlns:a16="http://schemas.microsoft.com/office/drawing/2014/main" id="{DCFDE6ED-FB82-F746-8D2E-14C8A161A07A}"/>
              </a:ext>
            </a:extLst>
          </p:cNvPr>
          <p:cNvSpPr txBox="1"/>
          <p:nvPr/>
        </p:nvSpPr>
        <p:spPr>
          <a:xfrm>
            <a:off x="196645" y="1166640"/>
            <a:ext cx="8486274" cy="5107552"/>
          </a:xfrm>
          <a:prstGeom prst="rect">
            <a:avLst/>
          </a:prstGeom>
          <a:noFill/>
        </p:spPr>
        <p:txBody>
          <a:bodyPr wrap="square" rtlCol="0" anchor="ctr">
            <a:spAutoFit/>
          </a:bodyPr>
          <a:lstStyle/>
          <a:p>
            <a:pPr algn="just">
              <a:lnSpc>
                <a:spcPct val="150000"/>
              </a:lnSpc>
            </a:pPr>
            <a:r>
              <a:rPr lang="en-US" sz="22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the beginning of this annual, we received a report request questioning CocoaLand’s Supply Chain Performance of the annual 2025, measured by calculated KPIs &amp; Metrics against our targets, all analyzed, detailed, and visualized to support in the management’s data-driven business decisions and plans.</a:t>
            </a:r>
          </a:p>
          <a:p>
            <a:pPr algn="just">
              <a:lnSpc>
                <a:spcPct val="150000"/>
              </a:lnSpc>
            </a:pPr>
            <a:endParaRPr lang="en-US" sz="22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endParaRPr>
          </a:p>
          <a:p>
            <a:pPr algn="just">
              <a:lnSpc>
                <a:spcPct val="150000"/>
              </a:lnSpc>
            </a:pPr>
            <a:r>
              <a:rPr lang="en-US" sz="22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The main concern we’ve found is that CocoaLand is still profitable, however, our </a:t>
            </a:r>
            <a:r>
              <a:rPr lang="en-US" sz="22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Supply Chain, Procurement, and Inventory performances are not aligned with targets &amp; expectations. </a:t>
            </a:r>
          </a:p>
        </p:txBody>
      </p:sp>
      <p:pic>
        <p:nvPicPr>
          <p:cNvPr id="6" name="Graphic 5" descr="Downward trend graph with solid fill">
            <a:extLst>
              <a:ext uri="{FF2B5EF4-FFF2-40B4-BE49-F238E27FC236}">
                <a16:creationId xmlns:a16="http://schemas.microsoft.com/office/drawing/2014/main" id="{C4FCBCAE-69ED-7940-C6A6-614F31DD40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25491" y="1917029"/>
            <a:ext cx="3023937" cy="3023937"/>
          </a:xfrm>
          <a:prstGeom prst="rect">
            <a:avLst/>
          </a:prstGeom>
        </p:spPr>
      </p:pic>
      <p:sp>
        <p:nvSpPr>
          <p:cNvPr id="10" name="Isosceles Triangle 9">
            <a:extLst>
              <a:ext uri="{FF2B5EF4-FFF2-40B4-BE49-F238E27FC236}">
                <a16:creationId xmlns:a16="http://schemas.microsoft.com/office/drawing/2014/main" id="{73B4C0CB-3F9C-75E7-30B6-E31498C3EC7B}"/>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
        <p:nvSpPr>
          <p:cNvPr id="14" name="Freeform: Shape 13">
            <a:extLst>
              <a:ext uri="{FF2B5EF4-FFF2-40B4-BE49-F238E27FC236}">
                <a16:creationId xmlns:a16="http://schemas.microsoft.com/office/drawing/2014/main" id="{10B7BE3E-9CE1-955A-9907-7C5EA4C0D982}"/>
              </a:ext>
            </a:extLst>
          </p:cNvPr>
          <p:cNvSpPr/>
          <p:nvPr/>
        </p:nvSpPr>
        <p:spPr>
          <a:xfrm>
            <a:off x="14449395" y="2455960"/>
            <a:ext cx="2242031" cy="2244865"/>
          </a:xfrm>
          <a:custGeom>
            <a:avLst/>
            <a:gdLst>
              <a:gd name="csX0" fmla="*/ 1833298 w 2242031"/>
              <a:gd name="csY0" fmla="*/ 1552780 h 2244865"/>
              <a:gd name="csX1" fmla="*/ 1657620 w 2242031"/>
              <a:gd name="csY1" fmla="*/ 1498943 h 2244865"/>
              <a:gd name="csX2" fmla="*/ 1530112 w 2242031"/>
              <a:gd name="csY2" fmla="*/ 1374269 h 2244865"/>
              <a:gd name="csX3" fmla="*/ 1705790 w 2242031"/>
              <a:gd name="csY3" fmla="*/ 858570 h 2244865"/>
              <a:gd name="csX4" fmla="*/ 855736 w 2242031"/>
              <a:gd name="csY4" fmla="*/ 16 h 2244865"/>
              <a:gd name="csX5" fmla="*/ 16 w 2242031"/>
              <a:gd name="csY5" fmla="*/ 850069 h 2244865"/>
              <a:gd name="csX6" fmla="*/ 850069 w 2242031"/>
              <a:gd name="csY6" fmla="*/ 1705790 h 2244865"/>
              <a:gd name="csX7" fmla="*/ 1371435 w 2242031"/>
              <a:gd name="csY7" fmla="*/ 1530112 h 2244865"/>
              <a:gd name="csX8" fmla="*/ 1496110 w 2242031"/>
              <a:gd name="csY8" fmla="*/ 1654786 h 2244865"/>
              <a:gd name="csX9" fmla="*/ 1549946 w 2242031"/>
              <a:gd name="csY9" fmla="*/ 1833298 h 2244865"/>
              <a:gd name="csX10" fmla="*/ 1904135 w 2242031"/>
              <a:gd name="csY10" fmla="*/ 2187487 h 2244865"/>
              <a:gd name="csX11" fmla="*/ 2184653 w 2242031"/>
              <a:gd name="csY11" fmla="*/ 2187487 h 2244865"/>
              <a:gd name="csX12" fmla="*/ 2184653 w 2242031"/>
              <a:gd name="csY12" fmla="*/ 1906969 h 2244865"/>
              <a:gd name="csX13" fmla="*/ 1833298 w 2242031"/>
              <a:gd name="csY13" fmla="*/ 1552780 h 2244865"/>
              <a:gd name="csX14" fmla="*/ 855736 w 2242031"/>
              <a:gd name="csY14" fmla="*/ 1535779 h 2244865"/>
              <a:gd name="csX15" fmla="*/ 175693 w 2242031"/>
              <a:gd name="csY15" fmla="*/ 855736 h 2244865"/>
              <a:gd name="csX16" fmla="*/ 855736 w 2242031"/>
              <a:gd name="csY16" fmla="*/ 175693 h 2244865"/>
              <a:gd name="csX17" fmla="*/ 1535779 w 2242031"/>
              <a:gd name="csY17" fmla="*/ 855736 h 2244865"/>
              <a:gd name="csX18" fmla="*/ 855736 w 2242031"/>
              <a:gd name="csY18" fmla="*/ 1535779 h 2244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242031" h="2244865">
                <a:moveTo>
                  <a:pt x="1833298" y="1552780"/>
                </a:moveTo>
                <a:cubicBezTo>
                  <a:pt x="1787961" y="1507444"/>
                  <a:pt x="1719957" y="1484776"/>
                  <a:pt x="1657620" y="1498943"/>
                </a:cubicBezTo>
                <a:lnTo>
                  <a:pt x="1530112" y="1374269"/>
                </a:lnTo>
                <a:cubicBezTo>
                  <a:pt x="1643452" y="1226926"/>
                  <a:pt x="1705790" y="1045581"/>
                  <a:pt x="1705790" y="858570"/>
                </a:cubicBezTo>
                <a:cubicBezTo>
                  <a:pt x="1708623" y="385373"/>
                  <a:pt x="1326099" y="2849"/>
                  <a:pt x="855736" y="16"/>
                </a:cubicBezTo>
                <a:cubicBezTo>
                  <a:pt x="385373" y="-2818"/>
                  <a:pt x="2849" y="379706"/>
                  <a:pt x="16" y="850069"/>
                </a:cubicBezTo>
                <a:cubicBezTo>
                  <a:pt x="-2818" y="1320432"/>
                  <a:pt x="379706" y="1702956"/>
                  <a:pt x="850069" y="1705790"/>
                </a:cubicBezTo>
                <a:cubicBezTo>
                  <a:pt x="1037081" y="1705790"/>
                  <a:pt x="1221259" y="1643452"/>
                  <a:pt x="1371435" y="1530112"/>
                </a:cubicBezTo>
                <a:lnTo>
                  <a:pt x="1496110" y="1654786"/>
                </a:lnTo>
                <a:cubicBezTo>
                  <a:pt x="1484776" y="1719957"/>
                  <a:pt x="1504610" y="1785128"/>
                  <a:pt x="1549946" y="1833298"/>
                </a:cubicBezTo>
                <a:lnTo>
                  <a:pt x="1904135" y="2187487"/>
                </a:lnTo>
                <a:cubicBezTo>
                  <a:pt x="1980640" y="2263991"/>
                  <a:pt x="2108148" y="2263991"/>
                  <a:pt x="2184653" y="2187487"/>
                </a:cubicBezTo>
                <a:cubicBezTo>
                  <a:pt x="2261158" y="2110982"/>
                  <a:pt x="2261158" y="1983474"/>
                  <a:pt x="2184653" y="1906969"/>
                </a:cubicBezTo>
                <a:lnTo>
                  <a:pt x="1833298" y="1552780"/>
                </a:lnTo>
                <a:close/>
                <a:moveTo>
                  <a:pt x="855736" y="1535779"/>
                </a:moveTo>
                <a:cubicBezTo>
                  <a:pt x="478879" y="1535779"/>
                  <a:pt x="175693" y="1232593"/>
                  <a:pt x="175693" y="855736"/>
                </a:cubicBezTo>
                <a:cubicBezTo>
                  <a:pt x="175693" y="478879"/>
                  <a:pt x="478879" y="175693"/>
                  <a:pt x="855736" y="175693"/>
                </a:cubicBezTo>
                <a:cubicBezTo>
                  <a:pt x="1232593" y="175693"/>
                  <a:pt x="1535779" y="478879"/>
                  <a:pt x="1535779" y="855736"/>
                </a:cubicBezTo>
                <a:cubicBezTo>
                  <a:pt x="1535779" y="1229760"/>
                  <a:pt x="1229760" y="1535779"/>
                  <a:pt x="855736" y="1535779"/>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7" name="Freeform: Shape 16">
            <a:extLst>
              <a:ext uri="{FF2B5EF4-FFF2-40B4-BE49-F238E27FC236}">
                <a16:creationId xmlns:a16="http://schemas.microsoft.com/office/drawing/2014/main" id="{43A752C6-6726-4709-DA44-A2DD65044CC6}"/>
              </a:ext>
            </a:extLst>
          </p:cNvPr>
          <p:cNvSpPr/>
          <p:nvPr/>
        </p:nvSpPr>
        <p:spPr>
          <a:xfrm>
            <a:off x="14695926" y="2877083"/>
            <a:ext cx="1221243" cy="896475"/>
          </a:xfrm>
          <a:custGeom>
            <a:avLst/>
            <a:gdLst>
              <a:gd name="csX0" fmla="*/ 1218410 w 1221243"/>
              <a:gd name="csY0" fmla="*/ 392110 h 896475"/>
              <a:gd name="csX1" fmla="*/ 1056900 w 1221243"/>
              <a:gd name="csY1" fmla="*/ 392110 h 896475"/>
              <a:gd name="csX2" fmla="*/ 1020064 w 1221243"/>
              <a:gd name="csY2" fmla="*/ 414778 h 896475"/>
              <a:gd name="csX3" fmla="*/ 912391 w 1221243"/>
              <a:gd name="csY3" fmla="*/ 530953 h 896475"/>
              <a:gd name="csX4" fmla="*/ 821718 w 1221243"/>
              <a:gd name="csY4" fmla="*/ 216433 h 896475"/>
              <a:gd name="csX5" fmla="*/ 759381 w 1221243"/>
              <a:gd name="csY5" fmla="*/ 182431 h 896475"/>
              <a:gd name="csX6" fmla="*/ 725379 w 1221243"/>
              <a:gd name="csY6" fmla="*/ 213599 h 896475"/>
              <a:gd name="csX7" fmla="*/ 555368 w 1221243"/>
              <a:gd name="csY7" fmla="*/ 664127 h 896475"/>
              <a:gd name="csX8" fmla="*/ 439194 w 1221243"/>
              <a:gd name="csY8" fmla="*/ 40755 h 896475"/>
              <a:gd name="csX9" fmla="*/ 382524 w 1221243"/>
              <a:gd name="csY9" fmla="*/ 1086 h 896475"/>
              <a:gd name="csX10" fmla="*/ 342855 w 1221243"/>
              <a:gd name="csY10" fmla="*/ 35088 h 896475"/>
              <a:gd name="csX11" fmla="*/ 221014 w 1221243"/>
              <a:gd name="csY11" fmla="*/ 392110 h 896475"/>
              <a:gd name="csX12" fmla="*/ 0 w 1221243"/>
              <a:gd name="csY12" fmla="*/ 392110 h 896475"/>
              <a:gd name="csX13" fmla="*/ 0 w 1221243"/>
              <a:gd name="csY13" fmla="*/ 505451 h 896475"/>
              <a:gd name="csX14" fmla="*/ 257850 w 1221243"/>
              <a:gd name="csY14" fmla="*/ 505451 h 896475"/>
              <a:gd name="csX15" fmla="*/ 306019 w 1221243"/>
              <a:gd name="csY15" fmla="*/ 462948 h 896475"/>
              <a:gd name="csX16" fmla="*/ 376857 w 1221243"/>
              <a:gd name="csY16" fmla="*/ 247601 h 896475"/>
              <a:gd name="csX17" fmla="*/ 490197 w 1221243"/>
              <a:gd name="csY17" fmla="*/ 856806 h 896475"/>
              <a:gd name="csX18" fmla="*/ 535534 w 1221243"/>
              <a:gd name="csY18" fmla="*/ 896475 h 896475"/>
              <a:gd name="csX19" fmla="*/ 541201 w 1221243"/>
              <a:gd name="csY19" fmla="*/ 896475 h 896475"/>
              <a:gd name="csX20" fmla="*/ 589370 w 1221243"/>
              <a:gd name="csY20" fmla="*/ 865307 h 896475"/>
              <a:gd name="csX21" fmla="*/ 770715 w 1221243"/>
              <a:gd name="csY21" fmla="*/ 389277 h 896475"/>
              <a:gd name="csX22" fmla="*/ 844386 w 1221243"/>
              <a:gd name="csY22" fmla="*/ 644293 h 896475"/>
              <a:gd name="csX23" fmla="*/ 906724 w 1221243"/>
              <a:gd name="csY23" fmla="*/ 678295 h 896475"/>
              <a:gd name="csX24" fmla="*/ 929392 w 1221243"/>
              <a:gd name="csY24" fmla="*/ 664127 h 896475"/>
              <a:gd name="csX25" fmla="*/ 1082401 w 1221243"/>
              <a:gd name="csY25" fmla="*/ 505451 h 896475"/>
              <a:gd name="csX26" fmla="*/ 1221243 w 1221243"/>
              <a:gd name="csY26" fmla="*/ 505451 h 896475"/>
              <a:gd name="csX27" fmla="*/ 1221243 w 1221243"/>
              <a:gd name="csY27" fmla="*/ 392110 h 896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221243" h="896475">
                <a:moveTo>
                  <a:pt x="1218410" y="392110"/>
                </a:moveTo>
                <a:lnTo>
                  <a:pt x="1056900" y="392110"/>
                </a:lnTo>
                <a:cubicBezTo>
                  <a:pt x="1042732" y="394944"/>
                  <a:pt x="1028565" y="403444"/>
                  <a:pt x="1020064" y="414778"/>
                </a:cubicBezTo>
                <a:lnTo>
                  <a:pt x="912391" y="530953"/>
                </a:lnTo>
                <a:lnTo>
                  <a:pt x="821718" y="216433"/>
                </a:lnTo>
                <a:cubicBezTo>
                  <a:pt x="813218" y="190931"/>
                  <a:pt x="784883" y="173930"/>
                  <a:pt x="759381" y="182431"/>
                </a:cubicBezTo>
                <a:cubicBezTo>
                  <a:pt x="745214" y="188098"/>
                  <a:pt x="731046" y="196598"/>
                  <a:pt x="725379" y="213599"/>
                </a:cubicBezTo>
                <a:lnTo>
                  <a:pt x="555368" y="664127"/>
                </a:lnTo>
                <a:lnTo>
                  <a:pt x="439194" y="40755"/>
                </a:lnTo>
                <a:cubicBezTo>
                  <a:pt x="433527" y="12420"/>
                  <a:pt x="408026" y="-4581"/>
                  <a:pt x="382524" y="1086"/>
                </a:cubicBezTo>
                <a:cubicBezTo>
                  <a:pt x="365523" y="3919"/>
                  <a:pt x="351355" y="18087"/>
                  <a:pt x="342855" y="35088"/>
                </a:cubicBezTo>
                <a:lnTo>
                  <a:pt x="221014" y="392110"/>
                </a:lnTo>
                <a:lnTo>
                  <a:pt x="0" y="392110"/>
                </a:lnTo>
                <a:lnTo>
                  <a:pt x="0" y="505451"/>
                </a:lnTo>
                <a:lnTo>
                  <a:pt x="257850" y="505451"/>
                </a:lnTo>
                <a:cubicBezTo>
                  <a:pt x="280518" y="502617"/>
                  <a:pt x="300352" y="485616"/>
                  <a:pt x="306019" y="462948"/>
                </a:cubicBezTo>
                <a:lnTo>
                  <a:pt x="376857" y="247601"/>
                </a:lnTo>
                <a:lnTo>
                  <a:pt x="490197" y="856806"/>
                </a:lnTo>
                <a:cubicBezTo>
                  <a:pt x="493031" y="879474"/>
                  <a:pt x="512866" y="896475"/>
                  <a:pt x="535534" y="896475"/>
                </a:cubicBezTo>
                <a:lnTo>
                  <a:pt x="541201" y="896475"/>
                </a:lnTo>
                <a:cubicBezTo>
                  <a:pt x="561035" y="896475"/>
                  <a:pt x="580870" y="885141"/>
                  <a:pt x="589370" y="865307"/>
                </a:cubicBezTo>
                <a:lnTo>
                  <a:pt x="770715" y="389277"/>
                </a:lnTo>
                <a:lnTo>
                  <a:pt x="844386" y="644293"/>
                </a:lnTo>
                <a:cubicBezTo>
                  <a:pt x="852887" y="669795"/>
                  <a:pt x="878389" y="686796"/>
                  <a:pt x="906724" y="678295"/>
                </a:cubicBezTo>
                <a:cubicBezTo>
                  <a:pt x="915224" y="675462"/>
                  <a:pt x="923725" y="669795"/>
                  <a:pt x="929392" y="664127"/>
                </a:cubicBezTo>
                <a:lnTo>
                  <a:pt x="1082401" y="505451"/>
                </a:lnTo>
                <a:lnTo>
                  <a:pt x="1221243" y="505451"/>
                </a:lnTo>
                <a:lnTo>
                  <a:pt x="1221243" y="39211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Tree>
    <p:extLst>
      <p:ext uri="{BB962C8B-B14F-4D97-AF65-F5344CB8AC3E}">
        <p14:creationId xmlns:p14="http://schemas.microsoft.com/office/powerpoint/2010/main" val="1046315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923CE-AC2A-A639-C941-B02BFF03C28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1716B86-AD17-4188-FAD4-0838D183AA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5E8343C1-4388-959B-BC3C-2FA19335B7BB}"/>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E37176B6-B25F-E558-517D-1B6E2EA97D4F}"/>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14A78993-F055-88CA-05D8-97F374D842BF}"/>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D6D04AE6-7408-FDC4-1819-5765EB469C5D}"/>
              </a:ext>
            </a:extLst>
          </p:cNvPr>
          <p:cNvSpPr txBox="1"/>
          <p:nvPr/>
        </p:nvSpPr>
        <p:spPr>
          <a:xfrm>
            <a:off x="196644" y="141357"/>
            <a:ext cx="1000613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Requirements Gathering &amp; Technical Methodologies</a:t>
            </a:r>
          </a:p>
        </p:txBody>
      </p:sp>
      <p:sp>
        <p:nvSpPr>
          <p:cNvPr id="9" name="TextBox 8">
            <a:extLst>
              <a:ext uri="{FF2B5EF4-FFF2-40B4-BE49-F238E27FC236}">
                <a16:creationId xmlns:a16="http://schemas.microsoft.com/office/drawing/2014/main" id="{B4E2F91F-99D3-704D-4628-8FFE40648978}"/>
              </a:ext>
            </a:extLst>
          </p:cNvPr>
          <p:cNvSpPr txBox="1"/>
          <p:nvPr/>
        </p:nvSpPr>
        <p:spPr>
          <a:xfrm>
            <a:off x="196644" y="630883"/>
            <a:ext cx="8385881"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Tool Stack</a:t>
            </a:r>
          </a:p>
        </p:txBody>
      </p:sp>
      <p:sp>
        <p:nvSpPr>
          <p:cNvPr id="10" name="TextBox 9">
            <a:extLst>
              <a:ext uri="{FF2B5EF4-FFF2-40B4-BE49-F238E27FC236}">
                <a16:creationId xmlns:a16="http://schemas.microsoft.com/office/drawing/2014/main" id="{01258350-A6B9-6888-38E9-9E199172091F}"/>
              </a:ext>
            </a:extLst>
          </p:cNvPr>
          <p:cNvSpPr txBox="1"/>
          <p:nvPr/>
        </p:nvSpPr>
        <p:spPr>
          <a:xfrm>
            <a:off x="196645" y="1129069"/>
            <a:ext cx="8486274" cy="5182701"/>
          </a:xfrm>
          <a:prstGeom prst="rect">
            <a:avLst/>
          </a:prstGeom>
          <a:noFill/>
        </p:spPr>
        <p:txBody>
          <a:bodyPr wrap="square" rtlCol="0" anchor="ctr">
            <a:spAutoFit/>
          </a:bodyPr>
          <a:lstStyle/>
          <a:p>
            <a:pPr algn="just">
              <a:lnSpc>
                <a:spcPct val="150000"/>
              </a:lnSpc>
            </a:pPr>
            <a:r>
              <a:rPr lang="en-US" sz="28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Our requirements were extracting and collecting 2025’s data for Suppliers, Procurement, Warehouses, Sales Orders in order to perform the full view analytics across our product cycle, starting from purchasing a material order, moving to accepting them in inventory, and delivering the final product to our customers.</a:t>
            </a:r>
          </a:p>
          <a:p>
            <a:pPr algn="just">
              <a:lnSpc>
                <a:spcPct val="150000"/>
              </a:lnSpc>
            </a:pPr>
            <a:endParaRPr lang="en-US" sz="28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18" name="Freeform: Shape 17">
            <a:extLst>
              <a:ext uri="{FF2B5EF4-FFF2-40B4-BE49-F238E27FC236}">
                <a16:creationId xmlns:a16="http://schemas.microsoft.com/office/drawing/2014/main" id="{C11968F1-7FF7-2936-2CE0-70B641AD7DAB}"/>
              </a:ext>
            </a:extLst>
          </p:cNvPr>
          <p:cNvSpPr/>
          <p:nvPr/>
        </p:nvSpPr>
        <p:spPr>
          <a:xfrm>
            <a:off x="9298372" y="2455960"/>
            <a:ext cx="2242031" cy="2244865"/>
          </a:xfrm>
          <a:custGeom>
            <a:avLst/>
            <a:gdLst>
              <a:gd name="csX0" fmla="*/ 1833298 w 2242031"/>
              <a:gd name="csY0" fmla="*/ 1552780 h 2244865"/>
              <a:gd name="csX1" fmla="*/ 1657620 w 2242031"/>
              <a:gd name="csY1" fmla="*/ 1498943 h 2244865"/>
              <a:gd name="csX2" fmla="*/ 1530112 w 2242031"/>
              <a:gd name="csY2" fmla="*/ 1374269 h 2244865"/>
              <a:gd name="csX3" fmla="*/ 1705790 w 2242031"/>
              <a:gd name="csY3" fmla="*/ 858570 h 2244865"/>
              <a:gd name="csX4" fmla="*/ 855736 w 2242031"/>
              <a:gd name="csY4" fmla="*/ 16 h 2244865"/>
              <a:gd name="csX5" fmla="*/ 16 w 2242031"/>
              <a:gd name="csY5" fmla="*/ 850069 h 2244865"/>
              <a:gd name="csX6" fmla="*/ 850069 w 2242031"/>
              <a:gd name="csY6" fmla="*/ 1705790 h 2244865"/>
              <a:gd name="csX7" fmla="*/ 1371435 w 2242031"/>
              <a:gd name="csY7" fmla="*/ 1530112 h 2244865"/>
              <a:gd name="csX8" fmla="*/ 1496110 w 2242031"/>
              <a:gd name="csY8" fmla="*/ 1654786 h 2244865"/>
              <a:gd name="csX9" fmla="*/ 1549946 w 2242031"/>
              <a:gd name="csY9" fmla="*/ 1833298 h 2244865"/>
              <a:gd name="csX10" fmla="*/ 1904135 w 2242031"/>
              <a:gd name="csY10" fmla="*/ 2187487 h 2244865"/>
              <a:gd name="csX11" fmla="*/ 2184653 w 2242031"/>
              <a:gd name="csY11" fmla="*/ 2187487 h 2244865"/>
              <a:gd name="csX12" fmla="*/ 2184653 w 2242031"/>
              <a:gd name="csY12" fmla="*/ 1906969 h 2244865"/>
              <a:gd name="csX13" fmla="*/ 1833298 w 2242031"/>
              <a:gd name="csY13" fmla="*/ 1552780 h 2244865"/>
              <a:gd name="csX14" fmla="*/ 855736 w 2242031"/>
              <a:gd name="csY14" fmla="*/ 1535779 h 2244865"/>
              <a:gd name="csX15" fmla="*/ 175693 w 2242031"/>
              <a:gd name="csY15" fmla="*/ 855736 h 2244865"/>
              <a:gd name="csX16" fmla="*/ 855736 w 2242031"/>
              <a:gd name="csY16" fmla="*/ 175693 h 2244865"/>
              <a:gd name="csX17" fmla="*/ 1535779 w 2242031"/>
              <a:gd name="csY17" fmla="*/ 855736 h 2244865"/>
              <a:gd name="csX18" fmla="*/ 855736 w 2242031"/>
              <a:gd name="csY18" fmla="*/ 1535779 h 2244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242031" h="2244865">
                <a:moveTo>
                  <a:pt x="1833298" y="1552780"/>
                </a:moveTo>
                <a:cubicBezTo>
                  <a:pt x="1787961" y="1507444"/>
                  <a:pt x="1719957" y="1484776"/>
                  <a:pt x="1657620" y="1498943"/>
                </a:cubicBezTo>
                <a:lnTo>
                  <a:pt x="1530112" y="1374269"/>
                </a:lnTo>
                <a:cubicBezTo>
                  <a:pt x="1643452" y="1226926"/>
                  <a:pt x="1705790" y="1045581"/>
                  <a:pt x="1705790" y="858570"/>
                </a:cubicBezTo>
                <a:cubicBezTo>
                  <a:pt x="1708623" y="385373"/>
                  <a:pt x="1326099" y="2849"/>
                  <a:pt x="855736" y="16"/>
                </a:cubicBezTo>
                <a:cubicBezTo>
                  <a:pt x="385373" y="-2818"/>
                  <a:pt x="2849" y="379706"/>
                  <a:pt x="16" y="850069"/>
                </a:cubicBezTo>
                <a:cubicBezTo>
                  <a:pt x="-2818" y="1320432"/>
                  <a:pt x="379706" y="1702956"/>
                  <a:pt x="850069" y="1705790"/>
                </a:cubicBezTo>
                <a:cubicBezTo>
                  <a:pt x="1037081" y="1705790"/>
                  <a:pt x="1221259" y="1643452"/>
                  <a:pt x="1371435" y="1530112"/>
                </a:cubicBezTo>
                <a:lnTo>
                  <a:pt x="1496110" y="1654786"/>
                </a:lnTo>
                <a:cubicBezTo>
                  <a:pt x="1484776" y="1719957"/>
                  <a:pt x="1504610" y="1785128"/>
                  <a:pt x="1549946" y="1833298"/>
                </a:cubicBezTo>
                <a:lnTo>
                  <a:pt x="1904135" y="2187487"/>
                </a:lnTo>
                <a:cubicBezTo>
                  <a:pt x="1980640" y="2263991"/>
                  <a:pt x="2108148" y="2263991"/>
                  <a:pt x="2184653" y="2187487"/>
                </a:cubicBezTo>
                <a:cubicBezTo>
                  <a:pt x="2261158" y="2110982"/>
                  <a:pt x="2261158" y="1983474"/>
                  <a:pt x="2184653" y="1906969"/>
                </a:cubicBezTo>
                <a:lnTo>
                  <a:pt x="1833298" y="1552780"/>
                </a:lnTo>
                <a:close/>
                <a:moveTo>
                  <a:pt x="855736" y="1535779"/>
                </a:moveTo>
                <a:cubicBezTo>
                  <a:pt x="478879" y="1535779"/>
                  <a:pt x="175693" y="1232593"/>
                  <a:pt x="175693" y="855736"/>
                </a:cubicBezTo>
                <a:cubicBezTo>
                  <a:pt x="175693" y="478879"/>
                  <a:pt x="478879" y="175693"/>
                  <a:pt x="855736" y="175693"/>
                </a:cubicBezTo>
                <a:cubicBezTo>
                  <a:pt x="1232593" y="175693"/>
                  <a:pt x="1535779" y="478879"/>
                  <a:pt x="1535779" y="855736"/>
                </a:cubicBezTo>
                <a:cubicBezTo>
                  <a:pt x="1535779" y="1229760"/>
                  <a:pt x="1229760" y="1535779"/>
                  <a:pt x="855736" y="1535779"/>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Freeform: Shape 18">
            <a:extLst>
              <a:ext uri="{FF2B5EF4-FFF2-40B4-BE49-F238E27FC236}">
                <a16:creationId xmlns:a16="http://schemas.microsoft.com/office/drawing/2014/main" id="{3CF548CD-74E0-54C7-9020-329EA5B1282D}"/>
              </a:ext>
            </a:extLst>
          </p:cNvPr>
          <p:cNvSpPr/>
          <p:nvPr/>
        </p:nvSpPr>
        <p:spPr>
          <a:xfrm>
            <a:off x="9544903" y="2877083"/>
            <a:ext cx="1221243" cy="896475"/>
          </a:xfrm>
          <a:custGeom>
            <a:avLst/>
            <a:gdLst>
              <a:gd name="csX0" fmla="*/ 1218410 w 1221243"/>
              <a:gd name="csY0" fmla="*/ 392110 h 896475"/>
              <a:gd name="csX1" fmla="*/ 1056900 w 1221243"/>
              <a:gd name="csY1" fmla="*/ 392110 h 896475"/>
              <a:gd name="csX2" fmla="*/ 1020064 w 1221243"/>
              <a:gd name="csY2" fmla="*/ 414778 h 896475"/>
              <a:gd name="csX3" fmla="*/ 912391 w 1221243"/>
              <a:gd name="csY3" fmla="*/ 530953 h 896475"/>
              <a:gd name="csX4" fmla="*/ 821718 w 1221243"/>
              <a:gd name="csY4" fmla="*/ 216433 h 896475"/>
              <a:gd name="csX5" fmla="*/ 759381 w 1221243"/>
              <a:gd name="csY5" fmla="*/ 182431 h 896475"/>
              <a:gd name="csX6" fmla="*/ 725379 w 1221243"/>
              <a:gd name="csY6" fmla="*/ 213599 h 896475"/>
              <a:gd name="csX7" fmla="*/ 555368 w 1221243"/>
              <a:gd name="csY7" fmla="*/ 664127 h 896475"/>
              <a:gd name="csX8" fmla="*/ 439194 w 1221243"/>
              <a:gd name="csY8" fmla="*/ 40755 h 896475"/>
              <a:gd name="csX9" fmla="*/ 382524 w 1221243"/>
              <a:gd name="csY9" fmla="*/ 1086 h 896475"/>
              <a:gd name="csX10" fmla="*/ 342855 w 1221243"/>
              <a:gd name="csY10" fmla="*/ 35088 h 896475"/>
              <a:gd name="csX11" fmla="*/ 221014 w 1221243"/>
              <a:gd name="csY11" fmla="*/ 392110 h 896475"/>
              <a:gd name="csX12" fmla="*/ 0 w 1221243"/>
              <a:gd name="csY12" fmla="*/ 392110 h 896475"/>
              <a:gd name="csX13" fmla="*/ 0 w 1221243"/>
              <a:gd name="csY13" fmla="*/ 505451 h 896475"/>
              <a:gd name="csX14" fmla="*/ 257850 w 1221243"/>
              <a:gd name="csY14" fmla="*/ 505451 h 896475"/>
              <a:gd name="csX15" fmla="*/ 306019 w 1221243"/>
              <a:gd name="csY15" fmla="*/ 462948 h 896475"/>
              <a:gd name="csX16" fmla="*/ 376857 w 1221243"/>
              <a:gd name="csY16" fmla="*/ 247601 h 896475"/>
              <a:gd name="csX17" fmla="*/ 490197 w 1221243"/>
              <a:gd name="csY17" fmla="*/ 856806 h 896475"/>
              <a:gd name="csX18" fmla="*/ 535534 w 1221243"/>
              <a:gd name="csY18" fmla="*/ 896475 h 896475"/>
              <a:gd name="csX19" fmla="*/ 541201 w 1221243"/>
              <a:gd name="csY19" fmla="*/ 896475 h 896475"/>
              <a:gd name="csX20" fmla="*/ 589370 w 1221243"/>
              <a:gd name="csY20" fmla="*/ 865307 h 896475"/>
              <a:gd name="csX21" fmla="*/ 770715 w 1221243"/>
              <a:gd name="csY21" fmla="*/ 389277 h 896475"/>
              <a:gd name="csX22" fmla="*/ 844386 w 1221243"/>
              <a:gd name="csY22" fmla="*/ 644293 h 896475"/>
              <a:gd name="csX23" fmla="*/ 906724 w 1221243"/>
              <a:gd name="csY23" fmla="*/ 678295 h 896475"/>
              <a:gd name="csX24" fmla="*/ 929392 w 1221243"/>
              <a:gd name="csY24" fmla="*/ 664127 h 896475"/>
              <a:gd name="csX25" fmla="*/ 1082401 w 1221243"/>
              <a:gd name="csY25" fmla="*/ 505451 h 896475"/>
              <a:gd name="csX26" fmla="*/ 1221243 w 1221243"/>
              <a:gd name="csY26" fmla="*/ 505451 h 896475"/>
              <a:gd name="csX27" fmla="*/ 1221243 w 1221243"/>
              <a:gd name="csY27" fmla="*/ 392110 h 896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221243" h="896475">
                <a:moveTo>
                  <a:pt x="1218410" y="392110"/>
                </a:moveTo>
                <a:lnTo>
                  <a:pt x="1056900" y="392110"/>
                </a:lnTo>
                <a:cubicBezTo>
                  <a:pt x="1042732" y="394944"/>
                  <a:pt x="1028565" y="403444"/>
                  <a:pt x="1020064" y="414778"/>
                </a:cubicBezTo>
                <a:lnTo>
                  <a:pt x="912391" y="530953"/>
                </a:lnTo>
                <a:lnTo>
                  <a:pt x="821718" y="216433"/>
                </a:lnTo>
                <a:cubicBezTo>
                  <a:pt x="813218" y="190931"/>
                  <a:pt x="784883" y="173930"/>
                  <a:pt x="759381" y="182431"/>
                </a:cubicBezTo>
                <a:cubicBezTo>
                  <a:pt x="745214" y="188098"/>
                  <a:pt x="731046" y="196598"/>
                  <a:pt x="725379" y="213599"/>
                </a:cubicBezTo>
                <a:lnTo>
                  <a:pt x="555368" y="664127"/>
                </a:lnTo>
                <a:lnTo>
                  <a:pt x="439194" y="40755"/>
                </a:lnTo>
                <a:cubicBezTo>
                  <a:pt x="433527" y="12420"/>
                  <a:pt x="408026" y="-4581"/>
                  <a:pt x="382524" y="1086"/>
                </a:cubicBezTo>
                <a:cubicBezTo>
                  <a:pt x="365523" y="3919"/>
                  <a:pt x="351355" y="18087"/>
                  <a:pt x="342855" y="35088"/>
                </a:cubicBezTo>
                <a:lnTo>
                  <a:pt x="221014" y="392110"/>
                </a:lnTo>
                <a:lnTo>
                  <a:pt x="0" y="392110"/>
                </a:lnTo>
                <a:lnTo>
                  <a:pt x="0" y="505451"/>
                </a:lnTo>
                <a:lnTo>
                  <a:pt x="257850" y="505451"/>
                </a:lnTo>
                <a:cubicBezTo>
                  <a:pt x="280518" y="502617"/>
                  <a:pt x="300352" y="485616"/>
                  <a:pt x="306019" y="462948"/>
                </a:cubicBezTo>
                <a:lnTo>
                  <a:pt x="376857" y="247601"/>
                </a:lnTo>
                <a:lnTo>
                  <a:pt x="490197" y="856806"/>
                </a:lnTo>
                <a:cubicBezTo>
                  <a:pt x="493031" y="879474"/>
                  <a:pt x="512866" y="896475"/>
                  <a:pt x="535534" y="896475"/>
                </a:cubicBezTo>
                <a:lnTo>
                  <a:pt x="541201" y="896475"/>
                </a:lnTo>
                <a:cubicBezTo>
                  <a:pt x="561035" y="896475"/>
                  <a:pt x="580870" y="885141"/>
                  <a:pt x="589370" y="865307"/>
                </a:cubicBezTo>
                <a:lnTo>
                  <a:pt x="770715" y="389277"/>
                </a:lnTo>
                <a:lnTo>
                  <a:pt x="844386" y="644293"/>
                </a:lnTo>
                <a:cubicBezTo>
                  <a:pt x="852887" y="669795"/>
                  <a:pt x="878389" y="686796"/>
                  <a:pt x="906724" y="678295"/>
                </a:cubicBezTo>
                <a:cubicBezTo>
                  <a:pt x="915224" y="675462"/>
                  <a:pt x="923725" y="669795"/>
                  <a:pt x="929392" y="664127"/>
                </a:cubicBezTo>
                <a:lnTo>
                  <a:pt x="1082401" y="505451"/>
                </a:lnTo>
                <a:lnTo>
                  <a:pt x="1221243" y="505451"/>
                </a:lnTo>
                <a:lnTo>
                  <a:pt x="1221243" y="39211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pic>
        <p:nvPicPr>
          <p:cNvPr id="15" name="Graphic 14" descr="Downward trend graph with solid fill">
            <a:extLst>
              <a:ext uri="{FF2B5EF4-FFF2-40B4-BE49-F238E27FC236}">
                <a16:creationId xmlns:a16="http://schemas.microsoft.com/office/drawing/2014/main" id="{60C2A7C7-8460-3339-F4DF-3BF4134BB9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173891" y="1917029"/>
            <a:ext cx="3023937" cy="3023937"/>
          </a:xfrm>
          <a:prstGeom prst="rect">
            <a:avLst/>
          </a:prstGeom>
        </p:spPr>
      </p:pic>
      <p:sp>
        <p:nvSpPr>
          <p:cNvPr id="21" name="Isosceles Triangle 20">
            <a:extLst>
              <a:ext uri="{FF2B5EF4-FFF2-40B4-BE49-F238E27FC236}">
                <a16:creationId xmlns:a16="http://schemas.microsoft.com/office/drawing/2014/main" id="{3D3A2436-454C-7EC9-F4F7-7E9185CD71CB}"/>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Tree>
    <p:extLst>
      <p:ext uri="{BB962C8B-B14F-4D97-AF65-F5344CB8AC3E}">
        <p14:creationId xmlns:p14="http://schemas.microsoft.com/office/powerpoint/2010/main" val="14185204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F6199-AB9D-CD37-0249-2BD567BA05A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27CFF06-9585-B174-0922-FEC5332823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999B6F6-AE01-3BD3-4334-01B6AE133C78}"/>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96FB3071-02A2-5CB6-6AC5-C691B148C6EA}"/>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8AD04497-943D-2C1F-C136-23F6248A8815}"/>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15E240D1-F127-952D-8FAF-323D3E19BAFE}"/>
              </a:ext>
            </a:extLst>
          </p:cNvPr>
          <p:cNvSpPr txBox="1"/>
          <p:nvPr/>
        </p:nvSpPr>
        <p:spPr>
          <a:xfrm>
            <a:off x="196644" y="141357"/>
            <a:ext cx="1000613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Requirements Gathering &amp; Technical Methodologies</a:t>
            </a:r>
          </a:p>
        </p:txBody>
      </p:sp>
      <p:sp>
        <p:nvSpPr>
          <p:cNvPr id="9" name="TextBox 8">
            <a:extLst>
              <a:ext uri="{FF2B5EF4-FFF2-40B4-BE49-F238E27FC236}">
                <a16:creationId xmlns:a16="http://schemas.microsoft.com/office/drawing/2014/main" id="{A2AE6901-7B73-8307-0B39-B903ABE811DC}"/>
              </a:ext>
            </a:extLst>
          </p:cNvPr>
          <p:cNvSpPr txBox="1"/>
          <p:nvPr/>
        </p:nvSpPr>
        <p:spPr>
          <a:xfrm>
            <a:off x="196644" y="630883"/>
            <a:ext cx="8385881"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Tool Stack</a:t>
            </a:r>
          </a:p>
        </p:txBody>
      </p:sp>
      <p:sp>
        <p:nvSpPr>
          <p:cNvPr id="10" name="TextBox 9">
            <a:extLst>
              <a:ext uri="{FF2B5EF4-FFF2-40B4-BE49-F238E27FC236}">
                <a16:creationId xmlns:a16="http://schemas.microsoft.com/office/drawing/2014/main" id="{90DEBC1B-E567-ECA1-000D-EFC9E57A865E}"/>
              </a:ext>
            </a:extLst>
          </p:cNvPr>
          <p:cNvSpPr txBox="1"/>
          <p:nvPr/>
        </p:nvSpPr>
        <p:spPr>
          <a:xfrm>
            <a:off x="196645" y="1090105"/>
            <a:ext cx="8486274" cy="5574988"/>
          </a:xfrm>
          <a:prstGeom prst="rect">
            <a:avLst/>
          </a:prstGeom>
          <a:noFill/>
        </p:spPr>
        <p:txBody>
          <a:bodyPr wrap="square" rtlCol="0" anchor="ctr">
            <a:spAutoFit/>
          </a:bodyPr>
          <a:lstStyle/>
          <a:p>
            <a:pPr algn="just">
              <a:lnSpc>
                <a:spcPct val="150000"/>
              </a:lnSpc>
            </a:pP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We decided to use stiff technical methodologies to ensure a smooth analytics performance, and correct measures &amp; calculations. We established an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ETL Pipeline</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with a well orchestrated data warehousing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Medallion</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technique, starting by extracting and collecting our data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(Bronze)</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moving to staging schema in SQL database for data cleaning &amp; preprocessing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(Silver)</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and finally with the warehouse schema in SQL database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(Gold)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were we created our final form tables with the suitable data types,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fact &amp; dimension tables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classification for a neat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star schema</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model,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primary &amp; foreign keys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assignment for each table, and creating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surrogate keys &amp; indexes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for an overall performance optimization of the final report production.</a:t>
            </a:r>
          </a:p>
          <a:p>
            <a:pPr algn="just">
              <a:lnSpc>
                <a:spcPct val="150000"/>
              </a:lnSpc>
            </a:pPr>
            <a:endPar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18" name="Freeform: Shape 17">
            <a:extLst>
              <a:ext uri="{FF2B5EF4-FFF2-40B4-BE49-F238E27FC236}">
                <a16:creationId xmlns:a16="http://schemas.microsoft.com/office/drawing/2014/main" id="{D555138A-948F-2F4B-AF9E-16A6CDB5B129}"/>
              </a:ext>
            </a:extLst>
          </p:cNvPr>
          <p:cNvSpPr/>
          <p:nvPr/>
        </p:nvSpPr>
        <p:spPr>
          <a:xfrm>
            <a:off x="9298372" y="2455960"/>
            <a:ext cx="2242031" cy="2244865"/>
          </a:xfrm>
          <a:custGeom>
            <a:avLst/>
            <a:gdLst>
              <a:gd name="csX0" fmla="*/ 1833298 w 2242031"/>
              <a:gd name="csY0" fmla="*/ 1552780 h 2244865"/>
              <a:gd name="csX1" fmla="*/ 1657620 w 2242031"/>
              <a:gd name="csY1" fmla="*/ 1498943 h 2244865"/>
              <a:gd name="csX2" fmla="*/ 1530112 w 2242031"/>
              <a:gd name="csY2" fmla="*/ 1374269 h 2244865"/>
              <a:gd name="csX3" fmla="*/ 1705790 w 2242031"/>
              <a:gd name="csY3" fmla="*/ 858570 h 2244865"/>
              <a:gd name="csX4" fmla="*/ 855736 w 2242031"/>
              <a:gd name="csY4" fmla="*/ 16 h 2244865"/>
              <a:gd name="csX5" fmla="*/ 16 w 2242031"/>
              <a:gd name="csY5" fmla="*/ 850069 h 2244865"/>
              <a:gd name="csX6" fmla="*/ 850069 w 2242031"/>
              <a:gd name="csY6" fmla="*/ 1705790 h 2244865"/>
              <a:gd name="csX7" fmla="*/ 1371435 w 2242031"/>
              <a:gd name="csY7" fmla="*/ 1530112 h 2244865"/>
              <a:gd name="csX8" fmla="*/ 1496110 w 2242031"/>
              <a:gd name="csY8" fmla="*/ 1654786 h 2244865"/>
              <a:gd name="csX9" fmla="*/ 1549946 w 2242031"/>
              <a:gd name="csY9" fmla="*/ 1833298 h 2244865"/>
              <a:gd name="csX10" fmla="*/ 1904135 w 2242031"/>
              <a:gd name="csY10" fmla="*/ 2187487 h 2244865"/>
              <a:gd name="csX11" fmla="*/ 2184653 w 2242031"/>
              <a:gd name="csY11" fmla="*/ 2187487 h 2244865"/>
              <a:gd name="csX12" fmla="*/ 2184653 w 2242031"/>
              <a:gd name="csY12" fmla="*/ 1906969 h 2244865"/>
              <a:gd name="csX13" fmla="*/ 1833298 w 2242031"/>
              <a:gd name="csY13" fmla="*/ 1552780 h 2244865"/>
              <a:gd name="csX14" fmla="*/ 855736 w 2242031"/>
              <a:gd name="csY14" fmla="*/ 1535779 h 2244865"/>
              <a:gd name="csX15" fmla="*/ 175693 w 2242031"/>
              <a:gd name="csY15" fmla="*/ 855736 h 2244865"/>
              <a:gd name="csX16" fmla="*/ 855736 w 2242031"/>
              <a:gd name="csY16" fmla="*/ 175693 h 2244865"/>
              <a:gd name="csX17" fmla="*/ 1535779 w 2242031"/>
              <a:gd name="csY17" fmla="*/ 855736 h 2244865"/>
              <a:gd name="csX18" fmla="*/ 855736 w 2242031"/>
              <a:gd name="csY18" fmla="*/ 1535779 h 2244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242031" h="2244865">
                <a:moveTo>
                  <a:pt x="1833298" y="1552780"/>
                </a:moveTo>
                <a:cubicBezTo>
                  <a:pt x="1787961" y="1507444"/>
                  <a:pt x="1719957" y="1484776"/>
                  <a:pt x="1657620" y="1498943"/>
                </a:cubicBezTo>
                <a:lnTo>
                  <a:pt x="1530112" y="1374269"/>
                </a:lnTo>
                <a:cubicBezTo>
                  <a:pt x="1643452" y="1226926"/>
                  <a:pt x="1705790" y="1045581"/>
                  <a:pt x="1705790" y="858570"/>
                </a:cubicBezTo>
                <a:cubicBezTo>
                  <a:pt x="1708623" y="385373"/>
                  <a:pt x="1326099" y="2849"/>
                  <a:pt x="855736" y="16"/>
                </a:cubicBezTo>
                <a:cubicBezTo>
                  <a:pt x="385373" y="-2818"/>
                  <a:pt x="2849" y="379706"/>
                  <a:pt x="16" y="850069"/>
                </a:cubicBezTo>
                <a:cubicBezTo>
                  <a:pt x="-2818" y="1320432"/>
                  <a:pt x="379706" y="1702956"/>
                  <a:pt x="850069" y="1705790"/>
                </a:cubicBezTo>
                <a:cubicBezTo>
                  <a:pt x="1037081" y="1705790"/>
                  <a:pt x="1221259" y="1643452"/>
                  <a:pt x="1371435" y="1530112"/>
                </a:cubicBezTo>
                <a:lnTo>
                  <a:pt x="1496110" y="1654786"/>
                </a:lnTo>
                <a:cubicBezTo>
                  <a:pt x="1484776" y="1719957"/>
                  <a:pt x="1504610" y="1785128"/>
                  <a:pt x="1549946" y="1833298"/>
                </a:cubicBezTo>
                <a:lnTo>
                  <a:pt x="1904135" y="2187487"/>
                </a:lnTo>
                <a:cubicBezTo>
                  <a:pt x="1980640" y="2263991"/>
                  <a:pt x="2108148" y="2263991"/>
                  <a:pt x="2184653" y="2187487"/>
                </a:cubicBezTo>
                <a:cubicBezTo>
                  <a:pt x="2261158" y="2110982"/>
                  <a:pt x="2261158" y="1983474"/>
                  <a:pt x="2184653" y="1906969"/>
                </a:cubicBezTo>
                <a:lnTo>
                  <a:pt x="1833298" y="1552780"/>
                </a:lnTo>
                <a:close/>
                <a:moveTo>
                  <a:pt x="855736" y="1535779"/>
                </a:moveTo>
                <a:cubicBezTo>
                  <a:pt x="478879" y="1535779"/>
                  <a:pt x="175693" y="1232593"/>
                  <a:pt x="175693" y="855736"/>
                </a:cubicBezTo>
                <a:cubicBezTo>
                  <a:pt x="175693" y="478879"/>
                  <a:pt x="478879" y="175693"/>
                  <a:pt x="855736" y="175693"/>
                </a:cubicBezTo>
                <a:cubicBezTo>
                  <a:pt x="1232593" y="175693"/>
                  <a:pt x="1535779" y="478879"/>
                  <a:pt x="1535779" y="855736"/>
                </a:cubicBezTo>
                <a:cubicBezTo>
                  <a:pt x="1535779" y="1229760"/>
                  <a:pt x="1229760" y="1535779"/>
                  <a:pt x="855736" y="1535779"/>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Freeform: Shape 18">
            <a:extLst>
              <a:ext uri="{FF2B5EF4-FFF2-40B4-BE49-F238E27FC236}">
                <a16:creationId xmlns:a16="http://schemas.microsoft.com/office/drawing/2014/main" id="{91D8EFE1-94FD-5EE1-279D-F0D1DD6D00C4}"/>
              </a:ext>
            </a:extLst>
          </p:cNvPr>
          <p:cNvSpPr/>
          <p:nvPr/>
        </p:nvSpPr>
        <p:spPr>
          <a:xfrm>
            <a:off x="9544903" y="2877083"/>
            <a:ext cx="1221243" cy="896475"/>
          </a:xfrm>
          <a:custGeom>
            <a:avLst/>
            <a:gdLst>
              <a:gd name="csX0" fmla="*/ 1218410 w 1221243"/>
              <a:gd name="csY0" fmla="*/ 392110 h 896475"/>
              <a:gd name="csX1" fmla="*/ 1056900 w 1221243"/>
              <a:gd name="csY1" fmla="*/ 392110 h 896475"/>
              <a:gd name="csX2" fmla="*/ 1020064 w 1221243"/>
              <a:gd name="csY2" fmla="*/ 414778 h 896475"/>
              <a:gd name="csX3" fmla="*/ 912391 w 1221243"/>
              <a:gd name="csY3" fmla="*/ 530953 h 896475"/>
              <a:gd name="csX4" fmla="*/ 821718 w 1221243"/>
              <a:gd name="csY4" fmla="*/ 216433 h 896475"/>
              <a:gd name="csX5" fmla="*/ 759381 w 1221243"/>
              <a:gd name="csY5" fmla="*/ 182431 h 896475"/>
              <a:gd name="csX6" fmla="*/ 725379 w 1221243"/>
              <a:gd name="csY6" fmla="*/ 213599 h 896475"/>
              <a:gd name="csX7" fmla="*/ 555368 w 1221243"/>
              <a:gd name="csY7" fmla="*/ 664127 h 896475"/>
              <a:gd name="csX8" fmla="*/ 439194 w 1221243"/>
              <a:gd name="csY8" fmla="*/ 40755 h 896475"/>
              <a:gd name="csX9" fmla="*/ 382524 w 1221243"/>
              <a:gd name="csY9" fmla="*/ 1086 h 896475"/>
              <a:gd name="csX10" fmla="*/ 342855 w 1221243"/>
              <a:gd name="csY10" fmla="*/ 35088 h 896475"/>
              <a:gd name="csX11" fmla="*/ 221014 w 1221243"/>
              <a:gd name="csY11" fmla="*/ 392110 h 896475"/>
              <a:gd name="csX12" fmla="*/ 0 w 1221243"/>
              <a:gd name="csY12" fmla="*/ 392110 h 896475"/>
              <a:gd name="csX13" fmla="*/ 0 w 1221243"/>
              <a:gd name="csY13" fmla="*/ 505451 h 896475"/>
              <a:gd name="csX14" fmla="*/ 257850 w 1221243"/>
              <a:gd name="csY14" fmla="*/ 505451 h 896475"/>
              <a:gd name="csX15" fmla="*/ 306019 w 1221243"/>
              <a:gd name="csY15" fmla="*/ 462948 h 896475"/>
              <a:gd name="csX16" fmla="*/ 376857 w 1221243"/>
              <a:gd name="csY16" fmla="*/ 247601 h 896475"/>
              <a:gd name="csX17" fmla="*/ 490197 w 1221243"/>
              <a:gd name="csY17" fmla="*/ 856806 h 896475"/>
              <a:gd name="csX18" fmla="*/ 535534 w 1221243"/>
              <a:gd name="csY18" fmla="*/ 896475 h 896475"/>
              <a:gd name="csX19" fmla="*/ 541201 w 1221243"/>
              <a:gd name="csY19" fmla="*/ 896475 h 896475"/>
              <a:gd name="csX20" fmla="*/ 589370 w 1221243"/>
              <a:gd name="csY20" fmla="*/ 865307 h 896475"/>
              <a:gd name="csX21" fmla="*/ 770715 w 1221243"/>
              <a:gd name="csY21" fmla="*/ 389277 h 896475"/>
              <a:gd name="csX22" fmla="*/ 844386 w 1221243"/>
              <a:gd name="csY22" fmla="*/ 644293 h 896475"/>
              <a:gd name="csX23" fmla="*/ 906724 w 1221243"/>
              <a:gd name="csY23" fmla="*/ 678295 h 896475"/>
              <a:gd name="csX24" fmla="*/ 929392 w 1221243"/>
              <a:gd name="csY24" fmla="*/ 664127 h 896475"/>
              <a:gd name="csX25" fmla="*/ 1082401 w 1221243"/>
              <a:gd name="csY25" fmla="*/ 505451 h 896475"/>
              <a:gd name="csX26" fmla="*/ 1221243 w 1221243"/>
              <a:gd name="csY26" fmla="*/ 505451 h 896475"/>
              <a:gd name="csX27" fmla="*/ 1221243 w 1221243"/>
              <a:gd name="csY27" fmla="*/ 392110 h 896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221243" h="896475">
                <a:moveTo>
                  <a:pt x="1218410" y="392110"/>
                </a:moveTo>
                <a:lnTo>
                  <a:pt x="1056900" y="392110"/>
                </a:lnTo>
                <a:cubicBezTo>
                  <a:pt x="1042732" y="394944"/>
                  <a:pt x="1028565" y="403444"/>
                  <a:pt x="1020064" y="414778"/>
                </a:cubicBezTo>
                <a:lnTo>
                  <a:pt x="912391" y="530953"/>
                </a:lnTo>
                <a:lnTo>
                  <a:pt x="821718" y="216433"/>
                </a:lnTo>
                <a:cubicBezTo>
                  <a:pt x="813218" y="190931"/>
                  <a:pt x="784883" y="173930"/>
                  <a:pt x="759381" y="182431"/>
                </a:cubicBezTo>
                <a:cubicBezTo>
                  <a:pt x="745214" y="188098"/>
                  <a:pt x="731046" y="196598"/>
                  <a:pt x="725379" y="213599"/>
                </a:cubicBezTo>
                <a:lnTo>
                  <a:pt x="555368" y="664127"/>
                </a:lnTo>
                <a:lnTo>
                  <a:pt x="439194" y="40755"/>
                </a:lnTo>
                <a:cubicBezTo>
                  <a:pt x="433527" y="12420"/>
                  <a:pt x="408026" y="-4581"/>
                  <a:pt x="382524" y="1086"/>
                </a:cubicBezTo>
                <a:cubicBezTo>
                  <a:pt x="365523" y="3919"/>
                  <a:pt x="351355" y="18087"/>
                  <a:pt x="342855" y="35088"/>
                </a:cubicBezTo>
                <a:lnTo>
                  <a:pt x="221014" y="392110"/>
                </a:lnTo>
                <a:lnTo>
                  <a:pt x="0" y="392110"/>
                </a:lnTo>
                <a:lnTo>
                  <a:pt x="0" y="505451"/>
                </a:lnTo>
                <a:lnTo>
                  <a:pt x="257850" y="505451"/>
                </a:lnTo>
                <a:cubicBezTo>
                  <a:pt x="280518" y="502617"/>
                  <a:pt x="300352" y="485616"/>
                  <a:pt x="306019" y="462948"/>
                </a:cubicBezTo>
                <a:lnTo>
                  <a:pt x="376857" y="247601"/>
                </a:lnTo>
                <a:lnTo>
                  <a:pt x="490197" y="856806"/>
                </a:lnTo>
                <a:cubicBezTo>
                  <a:pt x="493031" y="879474"/>
                  <a:pt x="512866" y="896475"/>
                  <a:pt x="535534" y="896475"/>
                </a:cubicBezTo>
                <a:lnTo>
                  <a:pt x="541201" y="896475"/>
                </a:lnTo>
                <a:cubicBezTo>
                  <a:pt x="561035" y="896475"/>
                  <a:pt x="580870" y="885141"/>
                  <a:pt x="589370" y="865307"/>
                </a:cubicBezTo>
                <a:lnTo>
                  <a:pt x="770715" y="389277"/>
                </a:lnTo>
                <a:lnTo>
                  <a:pt x="844386" y="644293"/>
                </a:lnTo>
                <a:cubicBezTo>
                  <a:pt x="852887" y="669795"/>
                  <a:pt x="878389" y="686796"/>
                  <a:pt x="906724" y="678295"/>
                </a:cubicBezTo>
                <a:cubicBezTo>
                  <a:pt x="915224" y="675462"/>
                  <a:pt x="923725" y="669795"/>
                  <a:pt x="929392" y="664127"/>
                </a:cubicBezTo>
                <a:lnTo>
                  <a:pt x="1082401" y="505451"/>
                </a:lnTo>
                <a:lnTo>
                  <a:pt x="1221243" y="505451"/>
                </a:lnTo>
                <a:lnTo>
                  <a:pt x="1221243" y="39211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1" name="Isosceles Triangle 20">
            <a:extLst>
              <a:ext uri="{FF2B5EF4-FFF2-40B4-BE49-F238E27FC236}">
                <a16:creationId xmlns:a16="http://schemas.microsoft.com/office/drawing/2014/main" id="{2E69DCC4-EE39-1B10-1696-D7768BA58B7E}"/>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BC8F00"/>
              </a:solidFill>
            </a:endParaRPr>
          </a:p>
        </p:txBody>
      </p:sp>
    </p:spTree>
    <p:extLst>
      <p:ext uri="{BB962C8B-B14F-4D97-AF65-F5344CB8AC3E}">
        <p14:creationId xmlns:p14="http://schemas.microsoft.com/office/powerpoint/2010/main" val="3738220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CEF35E7-CA76-0742-4DA3-CF68A80B730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0BEF117-C599-C30E-F0EE-6DAE3EB2A8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C3AAFF54-F0C4-BB38-AF8D-DCFDA4D25804}"/>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4D7CEEDC-D7F1-B68B-1E6B-55CE1286EC0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999607C-B1C3-E597-054A-8F13FB905BC5}"/>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E78D28E5-0B75-7BAE-0BD6-698E109525D6}"/>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9C95CC2-5030-C4B5-BF62-B1AE02C03D0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12E34E9A-CFEE-A995-486C-51D0EE0FEC57}"/>
              </a:ext>
            </a:extLst>
          </p:cNvPr>
          <p:cNvSpPr txBox="1"/>
          <p:nvPr/>
        </p:nvSpPr>
        <p:spPr>
          <a:xfrm>
            <a:off x="196644" y="141356"/>
            <a:ext cx="8273587"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Tool Stack</a:t>
            </a:r>
          </a:p>
        </p:txBody>
      </p:sp>
      <p:sp>
        <p:nvSpPr>
          <p:cNvPr id="6" name="TextBox 5">
            <a:extLst>
              <a:ext uri="{FF2B5EF4-FFF2-40B4-BE49-F238E27FC236}">
                <a16:creationId xmlns:a16="http://schemas.microsoft.com/office/drawing/2014/main" id="{AA6ABC54-E15E-C5DC-2954-4946AB77B350}"/>
              </a:ext>
            </a:extLst>
          </p:cNvPr>
          <p:cNvSpPr txBox="1"/>
          <p:nvPr/>
        </p:nvSpPr>
        <p:spPr>
          <a:xfrm>
            <a:off x="196645" y="630883"/>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Dashboards Snapshots</a:t>
            </a:r>
          </a:p>
        </p:txBody>
      </p:sp>
      <p:sp>
        <p:nvSpPr>
          <p:cNvPr id="92" name="Rectangle: Rounded Corners 91">
            <a:extLst>
              <a:ext uri="{FF2B5EF4-FFF2-40B4-BE49-F238E27FC236}">
                <a16:creationId xmlns:a16="http://schemas.microsoft.com/office/drawing/2014/main" id="{37BFCBA3-5AAF-FF1C-C007-29FFE129DC25}"/>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4" name="Picture 93">
            <a:extLst>
              <a:ext uri="{FF2B5EF4-FFF2-40B4-BE49-F238E27FC236}">
                <a16:creationId xmlns:a16="http://schemas.microsoft.com/office/drawing/2014/main" id="{E3DFD1AD-A045-9CD2-8CFA-03E4841AF3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0180" y="3446728"/>
            <a:ext cx="683794" cy="690673"/>
          </a:xfrm>
          <a:prstGeom prst="rect">
            <a:avLst/>
          </a:prstGeom>
          <a:effectLst>
            <a:glow rad="1905000">
              <a:schemeClr val="bg1">
                <a:alpha val="10000"/>
              </a:schemeClr>
            </a:glow>
          </a:effectLst>
        </p:spPr>
      </p:pic>
      <p:sp>
        <p:nvSpPr>
          <p:cNvPr id="96" name="Rectangle: Rounded Corners 95">
            <a:extLst>
              <a:ext uri="{FF2B5EF4-FFF2-40B4-BE49-F238E27FC236}">
                <a16:creationId xmlns:a16="http://schemas.microsoft.com/office/drawing/2014/main" id="{FC16AE3F-0981-74F3-0B64-B08D15398F63}"/>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Picture 97">
            <a:extLst>
              <a:ext uri="{FF2B5EF4-FFF2-40B4-BE49-F238E27FC236}">
                <a16:creationId xmlns:a16="http://schemas.microsoft.com/office/drawing/2014/main" id="{882810C7-E410-5744-C0D6-22CD155979F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670180" y="3450167"/>
            <a:ext cx="683794" cy="683794"/>
          </a:xfrm>
          <a:prstGeom prst="rect">
            <a:avLst/>
          </a:prstGeom>
          <a:effectLst>
            <a:glow rad="1905000">
              <a:schemeClr val="bg1">
                <a:alpha val="10000"/>
              </a:schemeClr>
            </a:glow>
          </a:effectLst>
        </p:spPr>
      </p:pic>
      <p:sp>
        <p:nvSpPr>
          <p:cNvPr id="100" name="Rectangle: Rounded Corners 99">
            <a:extLst>
              <a:ext uri="{FF2B5EF4-FFF2-40B4-BE49-F238E27FC236}">
                <a16:creationId xmlns:a16="http://schemas.microsoft.com/office/drawing/2014/main" id="{6C0CB49E-577D-B90F-A365-50D3B1A049DB}"/>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Picture 101">
            <a:extLst>
              <a:ext uri="{FF2B5EF4-FFF2-40B4-BE49-F238E27FC236}">
                <a16:creationId xmlns:a16="http://schemas.microsoft.com/office/drawing/2014/main" id="{E69A6C52-6BD1-F7E5-C5B5-022835383B36}"/>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5561228" y="3538462"/>
            <a:ext cx="901698" cy="507205"/>
          </a:xfrm>
          <a:prstGeom prst="rect">
            <a:avLst/>
          </a:prstGeom>
          <a:effectLst>
            <a:glow rad="1905000">
              <a:schemeClr val="bg1">
                <a:alpha val="10000"/>
              </a:schemeClr>
            </a:glow>
          </a:effectLst>
        </p:spPr>
      </p:pic>
      <p:sp>
        <p:nvSpPr>
          <p:cNvPr id="108" name="Rectangle: Rounded Corners 107">
            <a:extLst>
              <a:ext uri="{FF2B5EF4-FFF2-40B4-BE49-F238E27FC236}">
                <a16:creationId xmlns:a16="http://schemas.microsoft.com/office/drawing/2014/main" id="{3F5CE28B-0205-C8DA-40D6-A4E20325C70E}"/>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B2AC64A2-5431-31D5-9B37-575B759E3577}"/>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5670180" y="3460852"/>
            <a:ext cx="683794" cy="662425"/>
          </a:xfrm>
          <a:prstGeom prst="rect">
            <a:avLst/>
          </a:prstGeom>
          <a:effectLst>
            <a:glow rad="1905000">
              <a:schemeClr val="bg1">
                <a:alpha val="10000"/>
              </a:schemeClr>
            </a:glow>
          </a:effectLst>
        </p:spPr>
      </p:pic>
      <p:sp>
        <p:nvSpPr>
          <p:cNvPr id="112" name="Rectangle: Rounded Corners 111">
            <a:extLst>
              <a:ext uri="{FF2B5EF4-FFF2-40B4-BE49-F238E27FC236}">
                <a16:creationId xmlns:a16="http://schemas.microsoft.com/office/drawing/2014/main" id="{62464532-E804-613C-8A5D-7D90CBD81CEA}"/>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4" name="Picture 113">
            <a:extLst>
              <a:ext uri="{FF2B5EF4-FFF2-40B4-BE49-F238E27FC236}">
                <a16:creationId xmlns:a16="http://schemas.microsoft.com/office/drawing/2014/main" id="{5028E849-AEA7-7661-C58C-CF5743BD6B2E}"/>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5476691" y="3457448"/>
            <a:ext cx="1070773" cy="669233"/>
          </a:xfrm>
          <a:prstGeom prst="rect">
            <a:avLst/>
          </a:prstGeom>
          <a:effectLst>
            <a:glow rad="1905000">
              <a:schemeClr val="bg1">
                <a:alpha val="10000"/>
              </a:schemeClr>
            </a:glow>
          </a:effectLst>
        </p:spPr>
      </p:pic>
      <p:sp>
        <p:nvSpPr>
          <p:cNvPr id="116" name="Rectangle: Rounded Corners 115">
            <a:extLst>
              <a:ext uri="{FF2B5EF4-FFF2-40B4-BE49-F238E27FC236}">
                <a16:creationId xmlns:a16="http://schemas.microsoft.com/office/drawing/2014/main" id="{A6636793-AAFF-0A2A-FE64-246E23B18228}"/>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Picture 117">
            <a:extLst>
              <a:ext uri="{FF2B5EF4-FFF2-40B4-BE49-F238E27FC236}">
                <a16:creationId xmlns:a16="http://schemas.microsoft.com/office/drawing/2014/main" id="{FF425144-A539-6596-F1DA-0B9A430CFBD4}"/>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5346663" y="3442723"/>
            <a:ext cx="1330829" cy="698683"/>
          </a:xfrm>
          <a:prstGeom prst="rect">
            <a:avLst/>
          </a:prstGeom>
          <a:effectLst>
            <a:glow rad="1905000">
              <a:schemeClr val="bg1">
                <a:alpha val="10000"/>
              </a:schemeClr>
            </a:glow>
          </a:effectLst>
        </p:spPr>
      </p:pic>
      <p:sp>
        <p:nvSpPr>
          <p:cNvPr id="120" name="Rectangle: Rounded Corners 119">
            <a:extLst>
              <a:ext uri="{FF2B5EF4-FFF2-40B4-BE49-F238E27FC236}">
                <a16:creationId xmlns:a16="http://schemas.microsoft.com/office/drawing/2014/main" id="{4D3A1A91-B92C-113E-E8F2-47853CD178DE}"/>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 name="Picture 121">
            <a:extLst>
              <a:ext uri="{FF2B5EF4-FFF2-40B4-BE49-F238E27FC236}">
                <a16:creationId xmlns:a16="http://schemas.microsoft.com/office/drawing/2014/main" id="{869CB55B-C31C-8081-2104-BB39A0871026}"/>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442139" y="3580770"/>
            <a:ext cx="1139876" cy="422588"/>
          </a:xfrm>
          <a:prstGeom prst="rect">
            <a:avLst/>
          </a:prstGeom>
          <a:effectLst>
            <a:glow rad="1905000">
              <a:schemeClr val="bg1">
                <a:alpha val="10000"/>
              </a:schemeClr>
            </a:glow>
          </a:effectLst>
        </p:spPr>
      </p:pic>
      <p:sp>
        <p:nvSpPr>
          <p:cNvPr id="124" name="Rectangle: Rounded Corners 123">
            <a:extLst>
              <a:ext uri="{FF2B5EF4-FFF2-40B4-BE49-F238E27FC236}">
                <a16:creationId xmlns:a16="http://schemas.microsoft.com/office/drawing/2014/main" id="{CA8F0D95-72E7-AC73-3F57-8E600B070CB4}"/>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6" name="Picture 125">
            <a:extLst>
              <a:ext uri="{FF2B5EF4-FFF2-40B4-BE49-F238E27FC236}">
                <a16:creationId xmlns:a16="http://schemas.microsoft.com/office/drawing/2014/main" id="{9C8EDF49-2532-3B4C-FF9F-737071E9E9F4}"/>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5670180" y="3564133"/>
            <a:ext cx="683794" cy="455862"/>
          </a:xfrm>
          <a:prstGeom prst="rect">
            <a:avLst/>
          </a:prstGeom>
          <a:effectLst>
            <a:glow rad="1905000">
              <a:schemeClr val="bg1">
                <a:alpha val="10000"/>
              </a:schemeClr>
            </a:glow>
          </a:effectLst>
        </p:spPr>
      </p:pic>
      <p:sp>
        <p:nvSpPr>
          <p:cNvPr id="128" name="Rectangle: Rounded Corners 127">
            <a:extLst>
              <a:ext uri="{FF2B5EF4-FFF2-40B4-BE49-F238E27FC236}">
                <a16:creationId xmlns:a16="http://schemas.microsoft.com/office/drawing/2014/main" id="{58C6769A-5C6F-8753-6556-69CDD6408DA7}"/>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0" name="Picture 129">
            <a:extLst>
              <a:ext uri="{FF2B5EF4-FFF2-40B4-BE49-F238E27FC236}">
                <a16:creationId xmlns:a16="http://schemas.microsoft.com/office/drawing/2014/main" id="{65E8DE6C-4DEE-91B1-1FF5-1295025107E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5561228" y="3453732"/>
            <a:ext cx="901699" cy="676664"/>
          </a:xfrm>
          <a:prstGeom prst="rect">
            <a:avLst/>
          </a:prstGeom>
          <a:effectLst>
            <a:glow rad="1905000">
              <a:schemeClr val="bg1">
                <a:alpha val="10000"/>
              </a:schemeClr>
            </a:glow>
          </a:effectLst>
        </p:spPr>
      </p:pic>
      <p:sp>
        <p:nvSpPr>
          <p:cNvPr id="132" name="Rectangle: Rounded Corners 131">
            <a:extLst>
              <a:ext uri="{FF2B5EF4-FFF2-40B4-BE49-F238E27FC236}">
                <a16:creationId xmlns:a16="http://schemas.microsoft.com/office/drawing/2014/main" id="{D86C3681-92D2-7EB3-97FA-115694D3F696}"/>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4" name="Picture 133">
            <a:extLst>
              <a:ext uri="{FF2B5EF4-FFF2-40B4-BE49-F238E27FC236}">
                <a16:creationId xmlns:a16="http://schemas.microsoft.com/office/drawing/2014/main" id="{7576B49F-ECA1-2B59-68F8-611C1E55DEC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5648579" y="3337488"/>
            <a:ext cx="726996" cy="909152"/>
          </a:xfrm>
          <a:prstGeom prst="rect">
            <a:avLst/>
          </a:prstGeom>
          <a:effectLst>
            <a:glow rad="1905000">
              <a:schemeClr val="bg1">
                <a:alpha val="10000"/>
              </a:schemeClr>
            </a:glow>
          </a:effectLst>
        </p:spPr>
      </p:pic>
      <p:sp>
        <p:nvSpPr>
          <p:cNvPr id="136" name="Rectangle: Rounded Corners 135">
            <a:extLst>
              <a:ext uri="{FF2B5EF4-FFF2-40B4-BE49-F238E27FC236}">
                <a16:creationId xmlns:a16="http://schemas.microsoft.com/office/drawing/2014/main" id="{F64674FD-B0C3-DDDF-D99C-19E508E29AAD}"/>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8" name="Picture 137">
            <a:extLst>
              <a:ext uri="{FF2B5EF4-FFF2-40B4-BE49-F238E27FC236}">
                <a16:creationId xmlns:a16="http://schemas.microsoft.com/office/drawing/2014/main" id="{396054BF-774A-C4C9-B669-B4472CAF2266}"/>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5225845" y="3349366"/>
            <a:ext cx="1572464" cy="885396"/>
          </a:xfrm>
          <a:prstGeom prst="rect">
            <a:avLst/>
          </a:prstGeom>
          <a:effectLst>
            <a:glow rad="1905000">
              <a:schemeClr val="bg1">
                <a:alpha val="10000"/>
              </a:schemeClr>
            </a:glow>
          </a:effectLst>
        </p:spPr>
      </p:pic>
      <p:sp>
        <p:nvSpPr>
          <p:cNvPr id="140" name="Rectangle: Rounded Corners 139">
            <a:extLst>
              <a:ext uri="{FF2B5EF4-FFF2-40B4-BE49-F238E27FC236}">
                <a16:creationId xmlns:a16="http://schemas.microsoft.com/office/drawing/2014/main" id="{294E25C5-14F7-2813-E885-B2B5DF5FC1BF}"/>
              </a:ext>
            </a:extLst>
          </p:cNvPr>
          <p:cNvSpPr/>
          <p:nvPr/>
        </p:nvSpPr>
        <p:spPr>
          <a:xfrm>
            <a:off x="5561227" y="3099179"/>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Picture 141">
            <a:extLst>
              <a:ext uri="{FF2B5EF4-FFF2-40B4-BE49-F238E27FC236}">
                <a16:creationId xmlns:a16="http://schemas.microsoft.com/office/drawing/2014/main" id="{DA9AA403-5266-A5BE-C5A7-59F1EDB5E770}"/>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5670180" y="3477100"/>
            <a:ext cx="683794" cy="629929"/>
          </a:xfrm>
          <a:prstGeom prst="rect">
            <a:avLst/>
          </a:prstGeom>
          <a:effectLst>
            <a:glow rad="1905000">
              <a:schemeClr val="bg1">
                <a:alpha val="10000"/>
              </a:schemeClr>
            </a:glow>
          </a:effectLst>
        </p:spPr>
      </p:pic>
      <p:sp>
        <p:nvSpPr>
          <p:cNvPr id="11" name="Rectangle: Rounded Corners 10">
            <a:extLst>
              <a:ext uri="{FF2B5EF4-FFF2-40B4-BE49-F238E27FC236}">
                <a16:creationId xmlns:a16="http://schemas.microsoft.com/office/drawing/2014/main" id="{5A351376-00CA-7DE8-60E5-A08BE9C8BE0B}"/>
              </a:ext>
            </a:extLst>
          </p:cNvPr>
          <p:cNvSpPr/>
          <p:nvPr/>
        </p:nvSpPr>
        <p:spPr>
          <a:xfrm>
            <a:off x="5645150" y="3068356"/>
            <a:ext cx="901700" cy="1385771"/>
          </a:xfrm>
          <a:prstGeom prst="roundRect">
            <a:avLst/>
          </a:prstGeom>
          <a:solidFill>
            <a:schemeClr val="bg1"/>
          </a:solidFill>
          <a:ln>
            <a:noFill/>
          </a:ln>
          <a:effectLst>
            <a:glow rad="1905000">
              <a:schemeClr val="bg1">
                <a:alpha val="1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9F01DA7B-7526-C2C5-C43F-B6C265DAAE5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822868" y="3099179"/>
            <a:ext cx="2546264" cy="1323097"/>
          </a:xfrm>
          <a:prstGeom prst="rect">
            <a:avLst/>
          </a:prstGeom>
        </p:spPr>
      </p:pic>
      <p:grpSp>
        <p:nvGrpSpPr>
          <p:cNvPr id="20" name="Group 19">
            <a:extLst>
              <a:ext uri="{FF2B5EF4-FFF2-40B4-BE49-F238E27FC236}">
                <a16:creationId xmlns:a16="http://schemas.microsoft.com/office/drawing/2014/main" id="{A2FF3514-320F-58D4-8407-A29D1799C542}"/>
              </a:ext>
            </a:extLst>
          </p:cNvPr>
          <p:cNvGrpSpPr/>
          <p:nvPr/>
        </p:nvGrpSpPr>
        <p:grpSpPr>
          <a:xfrm>
            <a:off x="13626832" y="2649121"/>
            <a:ext cx="1546698" cy="1548126"/>
            <a:chOff x="9742445" y="2874150"/>
            <a:chExt cx="762345" cy="763049"/>
          </a:xfrm>
        </p:grpSpPr>
        <p:sp>
          <p:nvSpPr>
            <p:cNvPr id="14" name="Freeform: Shape 13">
              <a:extLst>
                <a:ext uri="{FF2B5EF4-FFF2-40B4-BE49-F238E27FC236}">
                  <a16:creationId xmlns:a16="http://schemas.microsoft.com/office/drawing/2014/main" id="{A5BC76E8-CDA3-FA07-0E9D-B91816285CCD}"/>
                </a:ext>
              </a:extLst>
            </p:cNvPr>
            <p:cNvSpPr/>
            <p:nvPr/>
          </p:nvSpPr>
          <p:spPr>
            <a:xfrm>
              <a:off x="9742445" y="2874561"/>
              <a:ext cx="762345" cy="762638"/>
            </a:xfrm>
            <a:custGeom>
              <a:avLst/>
              <a:gdLst>
                <a:gd name="csX0" fmla="*/ 81060 w 762345"/>
                <a:gd name="csY0" fmla="*/ 712058 h 762638"/>
                <a:gd name="csX1" fmla="*/ 57247 w 762345"/>
                <a:gd name="csY1" fmla="*/ 716821 h 762638"/>
                <a:gd name="csX2" fmla="*/ 43912 w 762345"/>
                <a:gd name="csY2" fmla="*/ 696818 h 762638"/>
                <a:gd name="csX3" fmla="*/ 57247 w 762345"/>
                <a:gd name="csY3" fmla="*/ 676816 h 762638"/>
                <a:gd name="csX4" fmla="*/ 81060 w 762345"/>
                <a:gd name="csY4" fmla="*/ 681578 h 762638"/>
                <a:gd name="csX5" fmla="*/ 81060 w 762345"/>
                <a:gd name="csY5" fmla="*/ 712058 h 762638"/>
                <a:gd name="csX6" fmla="*/ 753525 w 762345"/>
                <a:gd name="csY6" fmla="*/ 84361 h 762638"/>
                <a:gd name="csX7" fmla="*/ 676372 w 762345"/>
                <a:gd name="csY7" fmla="*/ 161513 h 762638"/>
                <a:gd name="csX8" fmla="*/ 615412 w 762345"/>
                <a:gd name="csY8" fmla="*/ 145321 h 762638"/>
                <a:gd name="csX9" fmla="*/ 600172 w 762345"/>
                <a:gd name="csY9" fmla="*/ 85313 h 762638"/>
                <a:gd name="csX10" fmla="*/ 677325 w 762345"/>
                <a:gd name="csY10" fmla="*/ 8161 h 762638"/>
                <a:gd name="csX11" fmla="*/ 543975 w 762345"/>
                <a:gd name="csY11" fmla="*/ 33878 h 762638"/>
                <a:gd name="csX12" fmla="*/ 505875 w 762345"/>
                <a:gd name="csY12" fmla="*/ 164371 h 762638"/>
                <a:gd name="csX13" fmla="*/ 20100 w 762345"/>
                <a:gd name="csY13" fmla="*/ 650146 h 762638"/>
                <a:gd name="csX14" fmla="*/ 2002 w 762345"/>
                <a:gd name="csY14" fmla="*/ 713963 h 762638"/>
                <a:gd name="csX15" fmla="*/ 48675 w 762345"/>
                <a:gd name="csY15" fmla="*/ 760636 h 762638"/>
                <a:gd name="csX16" fmla="*/ 112492 w 762345"/>
                <a:gd name="csY16" fmla="*/ 742538 h 762638"/>
                <a:gd name="csX17" fmla="*/ 598267 w 762345"/>
                <a:gd name="csY17" fmla="*/ 256763 h 762638"/>
                <a:gd name="csX18" fmla="*/ 728760 w 762345"/>
                <a:gd name="csY18" fmla="*/ 218663 h 762638"/>
                <a:gd name="csX19" fmla="*/ 753525 w 762345"/>
                <a:gd name="csY19" fmla="*/ 84361 h 762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62345" h="762638">
                  <a:moveTo>
                    <a:pt x="81060" y="712058"/>
                  </a:moveTo>
                  <a:cubicBezTo>
                    <a:pt x="74392" y="718726"/>
                    <a:pt x="65820" y="720631"/>
                    <a:pt x="57247" y="716821"/>
                  </a:cubicBezTo>
                  <a:cubicBezTo>
                    <a:pt x="48675" y="713011"/>
                    <a:pt x="43912" y="705391"/>
                    <a:pt x="43912" y="696818"/>
                  </a:cubicBezTo>
                  <a:cubicBezTo>
                    <a:pt x="43912" y="688246"/>
                    <a:pt x="49627" y="679673"/>
                    <a:pt x="57247" y="676816"/>
                  </a:cubicBezTo>
                  <a:cubicBezTo>
                    <a:pt x="65820" y="673006"/>
                    <a:pt x="74392" y="674911"/>
                    <a:pt x="81060" y="681578"/>
                  </a:cubicBezTo>
                  <a:cubicBezTo>
                    <a:pt x="89632" y="689198"/>
                    <a:pt x="89632" y="703486"/>
                    <a:pt x="81060" y="712058"/>
                  </a:cubicBezTo>
                  <a:close/>
                  <a:moveTo>
                    <a:pt x="753525" y="84361"/>
                  </a:moveTo>
                  <a:lnTo>
                    <a:pt x="676372" y="161513"/>
                  </a:lnTo>
                  <a:lnTo>
                    <a:pt x="615412" y="145321"/>
                  </a:lnTo>
                  <a:lnTo>
                    <a:pt x="600172" y="85313"/>
                  </a:lnTo>
                  <a:lnTo>
                    <a:pt x="677325" y="8161"/>
                  </a:lnTo>
                  <a:cubicBezTo>
                    <a:pt x="631605" y="-8984"/>
                    <a:pt x="580170" y="1493"/>
                    <a:pt x="543975" y="33878"/>
                  </a:cubicBezTo>
                  <a:cubicBezTo>
                    <a:pt x="507780" y="67216"/>
                    <a:pt x="493492" y="116746"/>
                    <a:pt x="505875" y="164371"/>
                  </a:cubicBezTo>
                  <a:lnTo>
                    <a:pt x="20100" y="650146"/>
                  </a:lnTo>
                  <a:cubicBezTo>
                    <a:pt x="2955" y="666338"/>
                    <a:pt x="-3713" y="691103"/>
                    <a:pt x="2002" y="713963"/>
                  </a:cubicBezTo>
                  <a:cubicBezTo>
                    <a:pt x="7717" y="736823"/>
                    <a:pt x="25815" y="754921"/>
                    <a:pt x="48675" y="760636"/>
                  </a:cubicBezTo>
                  <a:cubicBezTo>
                    <a:pt x="71535" y="766351"/>
                    <a:pt x="95347" y="759683"/>
                    <a:pt x="112492" y="742538"/>
                  </a:cubicBezTo>
                  <a:lnTo>
                    <a:pt x="598267" y="256763"/>
                  </a:lnTo>
                  <a:cubicBezTo>
                    <a:pt x="645892" y="269146"/>
                    <a:pt x="695422" y="254858"/>
                    <a:pt x="728760" y="218663"/>
                  </a:cubicBezTo>
                  <a:cubicBezTo>
                    <a:pt x="761145" y="182468"/>
                    <a:pt x="771622" y="130081"/>
                    <a:pt x="753525" y="84361"/>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7" name="Freeform: Shape 16">
              <a:extLst>
                <a:ext uri="{FF2B5EF4-FFF2-40B4-BE49-F238E27FC236}">
                  <a16:creationId xmlns:a16="http://schemas.microsoft.com/office/drawing/2014/main" id="{ABA5DE64-3EDD-760D-67A8-8708CAA138DC}"/>
                </a:ext>
              </a:extLst>
            </p:cNvPr>
            <p:cNvSpPr/>
            <p:nvPr/>
          </p:nvSpPr>
          <p:spPr>
            <a:xfrm>
              <a:off x="10147355" y="3278962"/>
              <a:ext cx="357308" cy="357704"/>
            </a:xfrm>
            <a:custGeom>
              <a:avLst/>
              <a:gdLst>
                <a:gd name="csX0" fmla="*/ 344805 w 357308"/>
                <a:gd name="csY0" fmla="*/ 245745 h 357704"/>
                <a:gd name="csX1" fmla="*/ 99060 w 357308"/>
                <a:gd name="csY1" fmla="*/ 0 h 357704"/>
                <a:gd name="csX2" fmla="*/ 0 w 357308"/>
                <a:gd name="csY2" fmla="*/ 99060 h 357704"/>
                <a:gd name="csX3" fmla="*/ 238125 w 357308"/>
                <a:gd name="csY3" fmla="*/ 337185 h 357704"/>
                <a:gd name="csX4" fmla="*/ 246698 w 357308"/>
                <a:gd name="csY4" fmla="*/ 345758 h 357704"/>
                <a:gd name="csX5" fmla="*/ 247650 w 357308"/>
                <a:gd name="csY5" fmla="*/ 344805 h 357704"/>
                <a:gd name="csX6" fmla="*/ 337185 w 357308"/>
                <a:gd name="csY6" fmla="*/ 337185 h 357704"/>
                <a:gd name="csX7" fmla="*/ 344805 w 357308"/>
                <a:gd name="csY7" fmla="*/ 245745 h 357704"/>
                <a:gd name="csX8" fmla="*/ 344805 w 357308"/>
                <a:gd name="csY8" fmla="*/ 245745 h 357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7308" h="357704">
                  <a:moveTo>
                    <a:pt x="344805" y="245745"/>
                  </a:moveTo>
                  <a:lnTo>
                    <a:pt x="99060" y="0"/>
                  </a:lnTo>
                  <a:lnTo>
                    <a:pt x="0" y="99060"/>
                  </a:lnTo>
                  <a:lnTo>
                    <a:pt x="238125" y="337185"/>
                  </a:lnTo>
                  <a:lnTo>
                    <a:pt x="246698" y="345758"/>
                  </a:lnTo>
                  <a:lnTo>
                    <a:pt x="247650" y="344805"/>
                  </a:lnTo>
                  <a:cubicBezTo>
                    <a:pt x="275273" y="364808"/>
                    <a:pt x="313373" y="360998"/>
                    <a:pt x="337185" y="337185"/>
                  </a:cubicBezTo>
                  <a:cubicBezTo>
                    <a:pt x="360998" y="312420"/>
                    <a:pt x="363855" y="274320"/>
                    <a:pt x="344805" y="245745"/>
                  </a:cubicBezTo>
                  <a:lnTo>
                    <a:pt x="344805" y="245745"/>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Freeform: Shape 18">
              <a:extLst>
                <a:ext uri="{FF2B5EF4-FFF2-40B4-BE49-F238E27FC236}">
                  <a16:creationId xmlns:a16="http://schemas.microsoft.com/office/drawing/2014/main" id="{AB5883B1-1D8A-F358-577A-6EA2709857FA}"/>
                </a:ext>
              </a:extLst>
            </p:cNvPr>
            <p:cNvSpPr/>
            <p:nvPr/>
          </p:nvSpPr>
          <p:spPr>
            <a:xfrm>
              <a:off x="9742543" y="2874150"/>
              <a:ext cx="320992" cy="320992"/>
            </a:xfrm>
            <a:custGeom>
              <a:avLst/>
              <a:gdLst>
                <a:gd name="csX0" fmla="*/ 139065 w 320992"/>
                <a:gd name="csY0" fmla="*/ 112395 h 320992"/>
                <a:gd name="csX1" fmla="*/ 140018 w 320992"/>
                <a:gd name="csY1" fmla="*/ 111443 h 320992"/>
                <a:gd name="csX2" fmla="*/ 115253 w 320992"/>
                <a:gd name="csY2" fmla="*/ 65723 h 320992"/>
                <a:gd name="csX3" fmla="*/ 33338 w 320992"/>
                <a:gd name="csY3" fmla="*/ 0 h 320992"/>
                <a:gd name="csX4" fmla="*/ 0 w 320992"/>
                <a:gd name="csY4" fmla="*/ 33338 h 320992"/>
                <a:gd name="csX5" fmla="*/ 65723 w 320992"/>
                <a:gd name="csY5" fmla="*/ 115253 h 320992"/>
                <a:gd name="csX6" fmla="*/ 111443 w 320992"/>
                <a:gd name="csY6" fmla="*/ 140018 h 320992"/>
                <a:gd name="csX7" fmla="*/ 112395 w 320992"/>
                <a:gd name="csY7" fmla="*/ 139065 h 320992"/>
                <a:gd name="csX8" fmla="*/ 294323 w 320992"/>
                <a:gd name="csY8" fmla="*/ 320993 h 320992"/>
                <a:gd name="csX9" fmla="*/ 320993 w 320992"/>
                <a:gd name="csY9" fmla="*/ 294323 h 320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0992" h="320992">
                  <a:moveTo>
                    <a:pt x="139065" y="112395"/>
                  </a:moveTo>
                  <a:lnTo>
                    <a:pt x="140018" y="111443"/>
                  </a:lnTo>
                  <a:lnTo>
                    <a:pt x="115253" y="65723"/>
                  </a:lnTo>
                  <a:lnTo>
                    <a:pt x="33338" y="0"/>
                  </a:lnTo>
                  <a:lnTo>
                    <a:pt x="0" y="33338"/>
                  </a:lnTo>
                  <a:lnTo>
                    <a:pt x="65723" y="115253"/>
                  </a:lnTo>
                  <a:lnTo>
                    <a:pt x="111443" y="140018"/>
                  </a:lnTo>
                  <a:lnTo>
                    <a:pt x="112395" y="139065"/>
                  </a:lnTo>
                  <a:lnTo>
                    <a:pt x="294323" y="320993"/>
                  </a:lnTo>
                  <a:lnTo>
                    <a:pt x="320993" y="294323"/>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3597775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504FF7A-612A-4B26-A5ED-CC7D1DF1E07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EA849C5-5D1D-86DC-4A77-4C48649AF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7DB26432-9EBB-864C-32BB-D8AFBE966360}"/>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09BA0948-9F82-889A-D4A4-E7968D11B425}"/>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456BC858-E1D0-70F8-B5B9-67D7A9DE9BA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8868DA73-D1F5-6EE9-BF9E-132342D01DEC}"/>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75CD68B0-AAFC-C00F-CB6A-0B6AD17F241F}"/>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88349E47-E71E-D5E7-D383-A79793743C2B}"/>
              </a:ext>
            </a:extLst>
          </p:cNvPr>
          <p:cNvSpPr txBox="1"/>
          <p:nvPr/>
        </p:nvSpPr>
        <p:spPr>
          <a:xfrm>
            <a:off x="196644" y="141356"/>
            <a:ext cx="8273587"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Tool Stack</a:t>
            </a:r>
          </a:p>
        </p:txBody>
      </p:sp>
      <p:sp>
        <p:nvSpPr>
          <p:cNvPr id="6" name="TextBox 5">
            <a:extLst>
              <a:ext uri="{FF2B5EF4-FFF2-40B4-BE49-F238E27FC236}">
                <a16:creationId xmlns:a16="http://schemas.microsoft.com/office/drawing/2014/main" id="{6E47C2DD-B0B3-FB5A-7D35-36FBEC6A77D2}"/>
              </a:ext>
            </a:extLst>
          </p:cNvPr>
          <p:cNvSpPr txBox="1"/>
          <p:nvPr/>
        </p:nvSpPr>
        <p:spPr>
          <a:xfrm>
            <a:off x="196645" y="630883"/>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Dashboards Snapshots</a:t>
            </a:r>
          </a:p>
        </p:txBody>
      </p:sp>
      <p:sp>
        <p:nvSpPr>
          <p:cNvPr id="33" name="Rectangle: Rounded Corners 32">
            <a:extLst>
              <a:ext uri="{FF2B5EF4-FFF2-40B4-BE49-F238E27FC236}">
                <a16:creationId xmlns:a16="http://schemas.microsoft.com/office/drawing/2014/main" id="{34EEF987-FDBC-4A59-B411-7ED7B4609FE7}"/>
              </a:ext>
            </a:extLst>
          </p:cNvPr>
          <p:cNvSpPr/>
          <p:nvPr/>
        </p:nvSpPr>
        <p:spPr>
          <a:xfrm>
            <a:off x="334252" y="1577383"/>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B2D372A8-63CF-3425-0165-C06DA2CEC4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205" y="1924931"/>
            <a:ext cx="683794" cy="690673"/>
          </a:xfrm>
          <a:prstGeom prst="rect">
            <a:avLst/>
          </a:prstGeom>
          <a:effectLst/>
        </p:spPr>
      </p:pic>
      <p:sp>
        <p:nvSpPr>
          <p:cNvPr id="49" name="Rectangle: Rounded Corners 48">
            <a:extLst>
              <a:ext uri="{FF2B5EF4-FFF2-40B4-BE49-F238E27FC236}">
                <a16:creationId xmlns:a16="http://schemas.microsoft.com/office/drawing/2014/main" id="{7BF29EB9-895D-896B-03BE-C7A76C5D97D6}"/>
              </a:ext>
            </a:extLst>
          </p:cNvPr>
          <p:cNvSpPr/>
          <p:nvPr/>
        </p:nvSpPr>
        <p:spPr>
          <a:xfrm>
            <a:off x="1790607" y="1577383"/>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C0729389-CF02-BD15-C996-501B49FB88D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899560" y="1928370"/>
            <a:ext cx="683794" cy="683794"/>
          </a:xfrm>
          <a:prstGeom prst="rect">
            <a:avLst/>
          </a:prstGeom>
          <a:effectLst/>
        </p:spPr>
      </p:pic>
      <p:sp>
        <p:nvSpPr>
          <p:cNvPr id="52" name="Rectangle: Rounded Corners 51">
            <a:extLst>
              <a:ext uri="{FF2B5EF4-FFF2-40B4-BE49-F238E27FC236}">
                <a16:creationId xmlns:a16="http://schemas.microsoft.com/office/drawing/2014/main" id="{26B2FBFC-038D-5E4D-23F5-1E746B2E7FCD}"/>
              </a:ext>
            </a:extLst>
          </p:cNvPr>
          <p:cNvSpPr/>
          <p:nvPr/>
        </p:nvSpPr>
        <p:spPr>
          <a:xfrm>
            <a:off x="3246962" y="1577383"/>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3D091DBB-3518-6256-FB0D-C25A517B574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246962" y="2016664"/>
            <a:ext cx="901698" cy="507205"/>
          </a:xfrm>
          <a:prstGeom prst="rect">
            <a:avLst/>
          </a:prstGeom>
          <a:effectLst/>
        </p:spPr>
      </p:pic>
      <p:sp>
        <p:nvSpPr>
          <p:cNvPr id="58" name="Rectangle: Rounded Corners 57">
            <a:extLst>
              <a:ext uri="{FF2B5EF4-FFF2-40B4-BE49-F238E27FC236}">
                <a16:creationId xmlns:a16="http://schemas.microsoft.com/office/drawing/2014/main" id="{3F19E191-1FAE-E3D5-53AD-4D8DCD6C1DB3}"/>
              </a:ext>
            </a:extLst>
          </p:cNvPr>
          <p:cNvSpPr/>
          <p:nvPr/>
        </p:nvSpPr>
        <p:spPr>
          <a:xfrm>
            <a:off x="6159672" y="1577383"/>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724569C4-A0E8-FD26-435B-002E3D6111A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268625" y="1939055"/>
            <a:ext cx="683794" cy="662425"/>
          </a:xfrm>
          <a:prstGeom prst="rect">
            <a:avLst/>
          </a:prstGeom>
          <a:effectLst/>
        </p:spPr>
      </p:pic>
      <p:sp>
        <p:nvSpPr>
          <p:cNvPr id="61" name="Rectangle: Rounded Corners 60">
            <a:extLst>
              <a:ext uri="{FF2B5EF4-FFF2-40B4-BE49-F238E27FC236}">
                <a16:creationId xmlns:a16="http://schemas.microsoft.com/office/drawing/2014/main" id="{4B294AE2-B4F1-5BC2-B9C2-8C85DD62FC4E}"/>
              </a:ext>
            </a:extLst>
          </p:cNvPr>
          <p:cNvSpPr/>
          <p:nvPr/>
        </p:nvSpPr>
        <p:spPr>
          <a:xfrm>
            <a:off x="7616029" y="1577383"/>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61">
            <a:extLst>
              <a:ext uri="{FF2B5EF4-FFF2-40B4-BE49-F238E27FC236}">
                <a16:creationId xmlns:a16="http://schemas.microsoft.com/office/drawing/2014/main" id="{E2CFB758-67D5-BB62-9DDC-B0551E96A833}"/>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7531492" y="1932247"/>
            <a:ext cx="1070773" cy="669233"/>
          </a:xfrm>
          <a:prstGeom prst="rect">
            <a:avLst/>
          </a:prstGeom>
          <a:effectLst/>
        </p:spPr>
      </p:pic>
      <p:sp>
        <p:nvSpPr>
          <p:cNvPr id="8" name="Rectangle: Rounded Corners 7">
            <a:extLst>
              <a:ext uri="{FF2B5EF4-FFF2-40B4-BE49-F238E27FC236}">
                <a16:creationId xmlns:a16="http://schemas.microsoft.com/office/drawing/2014/main" id="{F91CD692-2EAE-3059-CB6A-1E69DCE67978}"/>
              </a:ext>
            </a:extLst>
          </p:cNvPr>
          <p:cNvSpPr/>
          <p:nvPr/>
        </p:nvSpPr>
        <p:spPr>
          <a:xfrm>
            <a:off x="334252" y="4618296"/>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98E241A-A2DB-F76C-07F2-C06AEDE7FFD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98322" y="4961837"/>
            <a:ext cx="1330829" cy="698683"/>
          </a:xfrm>
          <a:prstGeom prst="rect">
            <a:avLst/>
          </a:prstGeom>
          <a:effectLst/>
        </p:spPr>
      </p:pic>
      <p:sp>
        <p:nvSpPr>
          <p:cNvPr id="14" name="Rectangle: Rounded Corners 13">
            <a:extLst>
              <a:ext uri="{FF2B5EF4-FFF2-40B4-BE49-F238E27FC236}">
                <a16:creationId xmlns:a16="http://schemas.microsoft.com/office/drawing/2014/main" id="{ABF1AFAC-EDF7-ABD1-7F0B-7DB2F39CE87D}"/>
              </a:ext>
            </a:extLst>
          </p:cNvPr>
          <p:cNvSpPr/>
          <p:nvPr/>
        </p:nvSpPr>
        <p:spPr>
          <a:xfrm>
            <a:off x="1790607" y="4618296"/>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65277927-A7F5-9864-9C18-9AA957FFC9C2}"/>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671519" y="5099885"/>
            <a:ext cx="1139876" cy="422588"/>
          </a:xfrm>
          <a:prstGeom prst="rect">
            <a:avLst/>
          </a:prstGeom>
          <a:effectLst/>
        </p:spPr>
      </p:pic>
      <p:sp>
        <p:nvSpPr>
          <p:cNvPr id="19" name="Rectangle: Rounded Corners 18">
            <a:extLst>
              <a:ext uri="{FF2B5EF4-FFF2-40B4-BE49-F238E27FC236}">
                <a16:creationId xmlns:a16="http://schemas.microsoft.com/office/drawing/2014/main" id="{DA6A6D01-B7FE-8ED4-74CE-2D4293327624}"/>
              </a:ext>
            </a:extLst>
          </p:cNvPr>
          <p:cNvSpPr/>
          <p:nvPr/>
        </p:nvSpPr>
        <p:spPr>
          <a:xfrm>
            <a:off x="3252077" y="4618296"/>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A7BEC29C-71F2-6C96-821B-D352205BB02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360935" y="5083249"/>
            <a:ext cx="683794" cy="455862"/>
          </a:xfrm>
          <a:prstGeom prst="rect">
            <a:avLst/>
          </a:prstGeom>
          <a:effectLst/>
        </p:spPr>
      </p:pic>
      <p:sp>
        <p:nvSpPr>
          <p:cNvPr id="23" name="Rectangle: Rounded Corners 22">
            <a:extLst>
              <a:ext uri="{FF2B5EF4-FFF2-40B4-BE49-F238E27FC236}">
                <a16:creationId xmlns:a16="http://schemas.microsoft.com/office/drawing/2014/main" id="{B0780CA6-1606-FE00-C9D6-9D3D402E2C7A}"/>
              </a:ext>
            </a:extLst>
          </p:cNvPr>
          <p:cNvSpPr/>
          <p:nvPr/>
        </p:nvSpPr>
        <p:spPr>
          <a:xfrm>
            <a:off x="4703317" y="4618296"/>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6C054DD2-A9B8-EF0C-CEB2-E4708EBF2785}"/>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4642794" y="4965844"/>
            <a:ext cx="901699" cy="676664"/>
          </a:xfrm>
          <a:prstGeom prst="rect">
            <a:avLst/>
          </a:prstGeom>
          <a:effectLst/>
        </p:spPr>
      </p:pic>
      <p:sp>
        <p:nvSpPr>
          <p:cNvPr id="27" name="Rectangle: Rounded Corners 26">
            <a:extLst>
              <a:ext uri="{FF2B5EF4-FFF2-40B4-BE49-F238E27FC236}">
                <a16:creationId xmlns:a16="http://schemas.microsoft.com/office/drawing/2014/main" id="{EFC24C7E-EA8C-3B25-977A-893674E3F7F4}"/>
              </a:ext>
            </a:extLst>
          </p:cNvPr>
          <p:cNvSpPr/>
          <p:nvPr/>
        </p:nvSpPr>
        <p:spPr>
          <a:xfrm>
            <a:off x="6169902" y="4618296"/>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50D3EB6A-C6AC-1471-D079-C303737CE374}"/>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6247024" y="4856603"/>
            <a:ext cx="726996" cy="909152"/>
          </a:xfrm>
          <a:prstGeom prst="rect">
            <a:avLst/>
          </a:prstGeom>
          <a:effectLst/>
        </p:spPr>
      </p:pic>
      <p:sp>
        <p:nvSpPr>
          <p:cNvPr id="31" name="Rectangle: Rounded Corners 30">
            <a:extLst>
              <a:ext uri="{FF2B5EF4-FFF2-40B4-BE49-F238E27FC236}">
                <a16:creationId xmlns:a16="http://schemas.microsoft.com/office/drawing/2014/main" id="{53874B28-7AAA-ED3E-1FCF-EA94A92A536F}"/>
              </a:ext>
            </a:extLst>
          </p:cNvPr>
          <p:cNvSpPr/>
          <p:nvPr/>
        </p:nvSpPr>
        <p:spPr>
          <a:xfrm>
            <a:off x="7621142" y="4618296"/>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3EA58288-F648-66F5-B9BB-28D71B66C4E9}"/>
              </a:ext>
            </a:extLst>
          </p:cNvPr>
          <p:cNvSpPr/>
          <p:nvPr/>
        </p:nvSpPr>
        <p:spPr>
          <a:xfrm>
            <a:off x="4703317" y="1577383"/>
            <a:ext cx="901700" cy="1385771"/>
          </a:xfrm>
          <a:prstGeom prst="roundRect">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53C235AE-2D81-45BE-3A81-EEE55A5CCC5F}"/>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4812270" y="1955303"/>
            <a:ext cx="683794" cy="629929"/>
          </a:xfrm>
          <a:prstGeom prst="rect">
            <a:avLst/>
          </a:prstGeom>
          <a:effectLst/>
        </p:spPr>
      </p:pic>
      <p:pic>
        <p:nvPicPr>
          <p:cNvPr id="66" name="Picture 65">
            <a:extLst>
              <a:ext uri="{FF2B5EF4-FFF2-40B4-BE49-F238E27FC236}">
                <a16:creationId xmlns:a16="http://schemas.microsoft.com/office/drawing/2014/main" id="{1020C7D3-A7BD-79A6-1F65-382529692A6A}"/>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7433403" y="4979970"/>
            <a:ext cx="1277177" cy="719131"/>
          </a:xfrm>
          <a:prstGeom prst="rect">
            <a:avLst/>
          </a:prstGeom>
          <a:effectLst/>
        </p:spPr>
      </p:pic>
      <p:grpSp>
        <p:nvGrpSpPr>
          <p:cNvPr id="2" name="Group 1">
            <a:extLst>
              <a:ext uri="{FF2B5EF4-FFF2-40B4-BE49-F238E27FC236}">
                <a16:creationId xmlns:a16="http://schemas.microsoft.com/office/drawing/2014/main" id="{19C9450A-2E7B-BF28-21C0-72AD0A34B8C2}"/>
              </a:ext>
            </a:extLst>
          </p:cNvPr>
          <p:cNvGrpSpPr/>
          <p:nvPr/>
        </p:nvGrpSpPr>
        <p:grpSpPr>
          <a:xfrm>
            <a:off x="9287060" y="2649121"/>
            <a:ext cx="1546698" cy="1548126"/>
            <a:chOff x="9742445" y="2874150"/>
            <a:chExt cx="762345" cy="763049"/>
          </a:xfrm>
        </p:grpSpPr>
        <p:sp>
          <p:nvSpPr>
            <p:cNvPr id="10" name="Freeform: Shape 9">
              <a:extLst>
                <a:ext uri="{FF2B5EF4-FFF2-40B4-BE49-F238E27FC236}">
                  <a16:creationId xmlns:a16="http://schemas.microsoft.com/office/drawing/2014/main" id="{3A1DEA72-CFC7-6685-6EB2-CF7558F14943}"/>
                </a:ext>
              </a:extLst>
            </p:cNvPr>
            <p:cNvSpPr/>
            <p:nvPr/>
          </p:nvSpPr>
          <p:spPr>
            <a:xfrm>
              <a:off x="9742445" y="2874561"/>
              <a:ext cx="762345" cy="762638"/>
            </a:xfrm>
            <a:custGeom>
              <a:avLst/>
              <a:gdLst>
                <a:gd name="csX0" fmla="*/ 81060 w 762345"/>
                <a:gd name="csY0" fmla="*/ 712058 h 762638"/>
                <a:gd name="csX1" fmla="*/ 57247 w 762345"/>
                <a:gd name="csY1" fmla="*/ 716821 h 762638"/>
                <a:gd name="csX2" fmla="*/ 43912 w 762345"/>
                <a:gd name="csY2" fmla="*/ 696818 h 762638"/>
                <a:gd name="csX3" fmla="*/ 57247 w 762345"/>
                <a:gd name="csY3" fmla="*/ 676816 h 762638"/>
                <a:gd name="csX4" fmla="*/ 81060 w 762345"/>
                <a:gd name="csY4" fmla="*/ 681578 h 762638"/>
                <a:gd name="csX5" fmla="*/ 81060 w 762345"/>
                <a:gd name="csY5" fmla="*/ 712058 h 762638"/>
                <a:gd name="csX6" fmla="*/ 753525 w 762345"/>
                <a:gd name="csY6" fmla="*/ 84361 h 762638"/>
                <a:gd name="csX7" fmla="*/ 676372 w 762345"/>
                <a:gd name="csY7" fmla="*/ 161513 h 762638"/>
                <a:gd name="csX8" fmla="*/ 615412 w 762345"/>
                <a:gd name="csY8" fmla="*/ 145321 h 762638"/>
                <a:gd name="csX9" fmla="*/ 600172 w 762345"/>
                <a:gd name="csY9" fmla="*/ 85313 h 762638"/>
                <a:gd name="csX10" fmla="*/ 677325 w 762345"/>
                <a:gd name="csY10" fmla="*/ 8161 h 762638"/>
                <a:gd name="csX11" fmla="*/ 543975 w 762345"/>
                <a:gd name="csY11" fmla="*/ 33878 h 762638"/>
                <a:gd name="csX12" fmla="*/ 505875 w 762345"/>
                <a:gd name="csY12" fmla="*/ 164371 h 762638"/>
                <a:gd name="csX13" fmla="*/ 20100 w 762345"/>
                <a:gd name="csY13" fmla="*/ 650146 h 762638"/>
                <a:gd name="csX14" fmla="*/ 2002 w 762345"/>
                <a:gd name="csY14" fmla="*/ 713963 h 762638"/>
                <a:gd name="csX15" fmla="*/ 48675 w 762345"/>
                <a:gd name="csY15" fmla="*/ 760636 h 762638"/>
                <a:gd name="csX16" fmla="*/ 112492 w 762345"/>
                <a:gd name="csY16" fmla="*/ 742538 h 762638"/>
                <a:gd name="csX17" fmla="*/ 598267 w 762345"/>
                <a:gd name="csY17" fmla="*/ 256763 h 762638"/>
                <a:gd name="csX18" fmla="*/ 728760 w 762345"/>
                <a:gd name="csY18" fmla="*/ 218663 h 762638"/>
                <a:gd name="csX19" fmla="*/ 753525 w 762345"/>
                <a:gd name="csY19" fmla="*/ 84361 h 762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62345" h="762638">
                  <a:moveTo>
                    <a:pt x="81060" y="712058"/>
                  </a:moveTo>
                  <a:cubicBezTo>
                    <a:pt x="74392" y="718726"/>
                    <a:pt x="65820" y="720631"/>
                    <a:pt x="57247" y="716821"/>
                  </a:cubicBezTo>
                  <a:cubicBezTo>
                    <a:pt x="48675" y="713011"/>
                    <a:pt x="43912" y="705391"/>
                    <a:pt x="43912" y="696818"/>
                  </a:cubicBezTo>
                  <a:cubicBezTo>
                    <a:pt x="43912" y="688246"/>
                    <a:pt x="49627" y="679673"/>
                    <a:pt x="57247" y="676816"/>
                  </a:cubicBezTo>
                  <a:cubicBezTo>
                    <a:pt x="65820" y="673006"/>
                    <a:pt x="74392" y="674911"/>
                    <a:pt x="81060" y="681578"/>
                  </a:cubicBezTo>
                  <a:cubicBezTo>
                    <a:pt x="89632" y="689198"/>
                    <a:pt x="89632" y="703486"/>
                    <a:pt x="81060" y="712058"/>
                  </a:cubicBezTo>
                  <a:close/>
                  <a:moveTo>
                    <a:pt x="753525" y="84361"/>
                  </a:moveTo>
                  <a:lnTo>
                    <a:pt x="676372" y="161513"/>
                  </a:lnTo>
                  <a:lnTo>
                    <a:pt x="615412" y="145321"/>
                  </a:lnTo>
                  <a:lnTo>
                    <a:pt x="600172" y="85313"/>
                  </a:lnTo>
                  <a:lnTo>
                    <a:pt x="677325" y="8161"/>
                  </a:lnTo>
                  <a:cubicBezTo>
                    <a:pt x="631605" y="-8984"/>
                    <a:pt x="580170" y="1493"/>
                    <a:pt x="543975" y="33878"/>
                  </a:cubicBezTo>
                  <a:cubicBezTo>
                    <a:pt x="507780" y="67216"/>
                    <a:pt x="493492" y="116746"/>
                    <a:pt x="505875" y="164371"/>
                  </a:cubicBezTo>
                  <a:lnTo>
                    <a:pt x="20100" y="650146"/>
                  </a:lnTo>
                  <a:cubicBezTo>
                    <a:pt x="2955" y="666338"/>
                    <a:pt x="-3713" y="691103"/>
                    <a:pt x="2002" y="713963"/>
                  </a:cubicBezTo>
                  <a:cubicBezTo>
                    <a:pt x="7717" y="736823"/>
                    <a:pt x="25815" y="754921"/>
                    <a:pt x="48675" y="760636"/>
                  </a:cubicBezTo>
                  <a:cubicBezTo>
                    <a:pt x="71535" y="766351"/>
                    <a:pt x="95347" y="759683"/>
                    <a:pt x="112492" y="742538"/>
                  </a:cubicBezTo>
                  <a:lnTo>
                    <a:pt x="598267" y="256763"/>
                  </a:lnTo>
                  <a:cubicBezTo>
                    <a:pt x="645892" y="269146"/>
                    <a:pt x="695422" y="254858"/>
                    <a:pt x="728760" y="218663"/>
                  </a:cubicBezTo>
                  <a:cubicBezTo>
                    <a:pt x="761145" y="182468"/>
                    <a:pt x="771622" y="130081"/>
                    <a:pt x="753525" y="84361"/>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3" name="Freeform: Shape 12">
              <a:extLst>
                <a:ext uri="{FF2B5EF4-FFF2-40B4-BE49-F238E27FC236}">
                  <a16:creationId xmlns:a16="http://schemas.microsoft.com/office/drawing/2014/main" id="{1B460FBC-EC0B-069F-4A2B-155CF687B786}"/>
                </a:ext>
              </a:extLst>
            </p:cNvPr>
            <p:cNvSpPr/>
            <p:nvPr/>
          </p:nvSpPr>
          <p:spPr>
            <a:xfrm>
              <a:off x="10147355" y="3278962"/>
              <a:ext cx="357308" cy="357704"/>
            </a:xfrm>
            <a:custGeom>
              <a:avLst/>
              <a:gdLst>
                <a:gd name="csX0" fmla="*/ 344805 w 357308"/>
                <a:gd name="csY0" fmla="*/ 245745 h 357704"/>
                <a:gd name="csX1" fmla="*/ 99060 w 357308"/>
                <a:gd name="csY1" fmla="*/ 0 h 357704"/>
                <a:gd name="csX2" fmla="*/ 0 w 357308"/>
                <a:gd name="csY2" fmla="*/ 99060 h 357704"/>
                <a:gd name="csX3" fmla="*/ 238125 w 357308"/>
                <a:gd name="csY3" fmla="*/ 337185 h 357704"/>
                <a:gd name="csX4" fmla="*/ 246698 w 357308"/>
                <a:gd name="csY4" fmla="*/ 345758 h 357704"/>
                <a:gd name="csX5" fmla="*/ 247650 w 357308"/>
                <a:gd name="csY5" fmla="*/ 344805 h 357704"/>
                <a:gd name="csX6" fmla="*/ 337185 w 357308"/>
                <a:gd name="csY6" fmla="*/ 337185 h 357704"/>
                <a:gd name="csX7" fmla="*/ 344805 w 357308"/>
                <a:gd name="csY7" fmla="*/ 245745 h 357704"/>
                <a:gd name="csX8" fmla="*/ 344805 w 357308"/>
                <a:gd name="csY8" fmla="*/ 245745 h 357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7308" h="357704">
                  <a:moveTo>
                    <a:pt x="344805" y="245745"/>
                  </a:moveTo>
                  <a:lnTo>
                    <a:pt x="99060" y="0"/>
                  </a:lnTo>
                  <a:lnTo>
                    <a:pt x="0" y="99060"/>
                  </a:lnTo>
                  <a:lnTo>
                    <a:pt x="238125" y="337185"/>
                  </a:lnTo>
                  <a:lnTo>
                    <a:pt x="246698" y="345758"/>
                  </a:lnTo>
                  <a:lnTo>
                    <a:pt x="247650" y="344805"/>
                  </a:lnTo>
                  <a:cubicBezTo>
                    <a:pt x="275273" y="364808"/>
                    <a:pt x="313373" y="360998"/>
                    <a:pt x="337185" y="337185"/>
                  </a:cubicBezTo>
                  <a:cubicBezTo>
                    <a:pt x="360998" y="312420"/>
                    <a:pt x="363855" y="274320"/>
                    <a:pt x="344805" y="245745"/>
                  </a:cubicBezTo>
                  <a:lnTo>
                    <a:pt x="344805" y="245745"/>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5" name="Freeform: Shape 14">
              <a:extLst>
                <a:ext uri="{FF2B5EF4-FFF2-40B4-BE49-F238E27FC236}">
                  <a16:creationId xmlns:a16="http://schemas.microsoft.com/office/drawing/2014/main" id="{2586C030-2B54-E919-3FF0-72AE8DBFACF1}"/>
                </a:ext>
              </a:extLst>
            </p:cNvPr>
            <p:cNvSpPr/>
            <p:nvPr/>
          </p:nvSpPr>
          <p:spPr>
            <a:xfrm>
              <a:off x="9742543" y="2874150"/>
              <a:ext cx="320992" cy="320992"/>
            </a:xfrm>
            <a:custGeom>
              <a:avLst/>
              <a:gdLst>
                <a:gd name="csX0" fmla="*/ 139065 w 320992"/>
                <a:gd name="csY0" fmla="*/ 112395 h 320992"/>
                <a:gd name="csX1" fmla="*/ 140018 w 320992"/>
                <a:gd name="csY1" fmla="*/ 111443 h 320992"/>
                <a:gd name="csX2" fmla="*/ 115253 w 320992"/>
                <a:gd name="csY2" fmla="*/ 65723 h 320992"/>
                <a:gd name="csX3" fmla="*/ 33338 w 320992"/>
                <a:gd name="csY3" fmla="*/ 0 h 320992"/>
                <a:gd name="csX4" fmla="*/ 0 w 320992"/>
                <a:gd name="csY4" fmla="*/ 33338 h 320992"/>
                <a:gd name="csX5" fmla="*/ 65723 w 320992"/>
                <a:gd name="csY5" fmla="*/ 115253 h 320992"/>
                <a:gd name="csX6" fmla="*/ 111443 w 320992"/>
                <a:gd name="csY6" fmla="*/ 140018 h 320992"/>
                <a:gd name="csX7" fmla="*/ 112395 w 320992"/>
                <a:gd name="csY7" fmla="*/ 139065 h 320992"/>
                <a:gd name="csX8" fmla="*/ 294323 w 320992"/>
                <a:gd name="csY8" fmla="*/ 320993 h 320992"/>
                <a:gd name="csX9" fmla="*/ 320993 w 320992"/>
                <a:gd name="csY9" fmla="*/ 294323 h 320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0992" h="320992">
                  <a:moveTo>
                    <a:pt x="139065" y="112395"/>
                  </a:moveTo>
                  <a:lnTo>
                    <a:pt x="140018" y="111443"/>
                  </a:lnTo>
                  <a:lnTo>
                    <a:pt x="115253" y="65723"/>
                  </a:lnTo>
                  <a:lnTo>
                    <a:pt x="33338" y="0"/>
                  </a:lnTo>
                  <a:lnTo>
                    <a:pt x="0" y="33338"/>
                  </a:lnTo>
                  <a:lnTo>
                    <a:pt x="65723" y="115253"/>
                  </a:lnTo>
                  <a:lnTo>
                    <a:pt x="111443" y="140018"/>
                  </a:lnTo>
                  <a:lnTo>
                    <a:pt x="112395" y="139065"/>
                  </a:lnTo>
                  <a:lnTo>
                    <a:pt x="294323" y="320993"/>
                  </a:lnTo>
                  <a:lnTo>
                    <a:pt x="320993" y="294323"/>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19793838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837E-E00C-5661-9E9A-5818C84409D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96F3A99-7E2F-F33C-B9EB-46C5BD6B20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180" name="Picture 179">
            <a:extLst>
              <a:ext uri="{FF2B5EF4-FFF2-40B4-BE49-F238E27FC236}">
                <a16:creationId xmlns:a16="http://schemas.microsoft.com/office/drawing/2014/main" id="{916C0203-AAA1-EB2B-4C88-8488555EAF6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BCEDF89E-3E08-2D5F-C125-E6ED9DF888EA}"/>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6B290668-0D8F-6E41-4F0A-06AEDC7859E3}"/>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F6C1BE45-CC8B-D2AA-063B-B50A83505D17}"/>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4ECF0FE2-600C-5582-8A6C-CE87720DB742}"/>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52A79BF4-82A7-E59D-5BF5-00439FC44D48}"/>
              </a:ext>
            </a:extLst>
          </p:cNvPr>
          <p:cNvSpPr txBox="1"/>
          <p:nvPr/>
        </p:nvSpPr>
        <p:spPr>
          <a:xfrm>
            <a:off x="196644" y="141356"/>
            <a:ext cx="8273587"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Tool Stack</a:t>
            </a:r>
          </a:p>
        </p:txBody>
      </p:sp>
      <p:sp>
        <p:nvSpPr>
          <p:cNvPr id="6" name="TextBox 5">
            <a:extLst>
              <a:ext uri="{FF2B5EF4-FFF2-40B4-BE49-F238E27FC236}">
                <a16:creationId xmlns:a16="http://schemas.microsoft.com/office/drawing/2014/main" id="{A262E6E7-FF49-2AB8-53E7-3ECEDB6C7FA3}"/>
              </a:ext>
            </a:extLst>
          </p:cNvPr>
          <p:cNvSpPr txBox="1"/>
          <p:nvPr/>
        </p:nvSpPr>
        <p:spPr>
          <a:xfrm>
            <a:off x="196645" y="630883"/>
            <a:ext cx="4933950"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Dashboards Snapshots</a:t>
            </a:r>
          </a:p>
        </p:txBody>
      </p:sp>
      <p:sp>
        <p:nvSpPr>
          <p:cNvPr id="102" name="Rectangle: Rounded Corners 101">
            <a:extLst>
              <a:ext uri="{FF2B5EF4-FFF2-40B4-BE49-F238E27FC236}">
                <a16:creationId xmlns:a16="http://schemas.microsoft.com/office/drawing/2014/main" id="{A05ADFF5-8DCB-8502-A5E6-834201C7312B}"/>
              </a:ext>
            </a:extLst>
          </p:cNvPr>
          <p:cNvSpPr/>
          <p:nvPr/>
        </p:nvSpPr>
        <p:spPr>
          <a:xfrm>
            <a:off x="334251" y="1577383"/>
            <a:ext cx="1074325" cy="1385771"/>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 name="Picture 103">
            <a:extLst>
              <a:ext uri="{FF2B5EF4-FFF2-40B4-BE49-F238E27FC236}">
                <a16:creationId xmlns:a16="http://schemas.microsoft.com/office/drawing/2014/main" id="{1C3B9716-945D-F589-21D6-600F853873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970" y="1599411"/>
            <a:ext cx="683794" cy="690673"/>
          </a:xfrm>
          <a:prstGeom prst="rect">
            <a:avLst/>
          </a:prstGeom>
          <a:effectLst/>
        </p:spPr>
      </p:pic>
      <p:sp>
        <p:nvSpPr>
          <p:cNvPr id="106" name="Rectangle: Rounded Corners 105">
            <a:extLst>
              <a:ext uri="{FF2B5EF4-FFF2-40B4-BE49-F238E27FC236}">
                <a16:creationId xmlns:a16="http://schemas.microsoft.com/office/drawing/2014/main" id="{457EDB80-E53D-2AC6-D02F-7FEE5EAB1F19}"/>
              </a:ext>
            </a:extLst>
          </p:cNvPr>
          <p:cNvSpPr/>
          <p:nvPr/>
        </p:nvSpPr>
        <p:spPr>
          <a:xfrm>
            <a:off x="1790606" y="1577383"/>
            <a:ext cx="1074325" cy="1385771"/>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8" name="Picture 107">
            <a:extLst>
              <a:ext uri="{FF2B5EF4-FFF2-40B4-BE49-F238E27FC236}">
                <a16:creationId xmlns:a16="http://schemas.microsoft.com/office/drawing/2014/main" id="{D8303690-12B4-68BE-F297-122EDFA6370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999245" y="1602850"/>
            <a:ext cx="683794" cy="683794"/>
          </a:xfrm>
          <a:prstGeom prst="rect">
            <a:avLst/>
          </a:prstGeom>
          <a:effectLst/>
        </p:spPr>
      </p:pic>
      <p:sp>
        <p:nvSpPr>
          <p:cNvPr id="110" name="Rectangle: Rounded Corners 109">
            <a:extLst>
              <a:ext uri="{FF2B5EF4-FFF2-40B4-BE49-F238E27FC236}">
                <a16:creationId xmlns:a16="http://schemas.microsoft.com/office/drawing/2014/main" id="{7D9196C8-C53D-2DB2-6222-4A598AA36DAB}"/>
              </a:ext>
            </a:extLst>
          </p:cNvPr>
          <p:cNvSpPr/>
          <p:nvPr/>
        </p:nvSpPr>
        <p:spPr>
          <a:xfrm>
            <a:off x="3246961" y="1577383"/>
            <a:ext cx="1074325" cy="1385771"/>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 name="Picture 111">
            <a:extLst>
              <a:ext uri="{FF2B5EF4-FFF2-40B4-BE49-F238E27FC236}">
                <a16:creationId xmlns:a16="http://schemas.microsoft.com/office/drawing/2014/main" id="{D0B6CE6F-9F21-A2D3-C2BD-26711F73673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3324240" y="1691144"/>
            <a:ext cx="901698" cy="507205"/>
          </a:xfrm>
          <a:prstGeom prst="rect">
            <a:avLst/>
          </a:prstGeom>
          <a:effectLst/>
        </p:spPr>
      </p:pic>
      <p:sp>
        <p:nvSpPr>
          <p:cNvPr id="118" name="Rectangle: Rounded Corners 117">
            <a:extLst>
              <a:ext uri="{FF2B5EF4-FFF2-40B4-BE49-F238E27FC236}">
                <a16:creationId xmlns:a16="http://schemas.microsoft.com/office/drawing/2014/main" id="{819B0E45-918C-9A0D-9BD2-7BB99446EF07}"/>
              </a:ext>
            </a:extLst>
          </p:cNvPr>
          <p:cNvSpPr/>
          <p:nvPr/>
        </p:nvSpPr>
        <p:spPr>
          <a:xfrm>
            <a:off x="6159671" y="1577383"/>
            <a:ext cx="1074325" cy="1385771"/>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0" name="Picture 119">
            <a:extLst>
              <a:ext uri="{FF2B5EF4-FFF2-40B4-BE49-F238E27FC236}">
                <a16:creationId xmlns:a16="http://schemas.microsoft.com/office/drawing/2014/main" id="{D0F4BE6B-34B8-ADB3-2AA1-A6C11F87171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6347825" y="1613535"/>
            <a:ext cx="683794" cy="662425"/>
          </a:xfrm>
          <a:prstGeom prst="rect">
            <a:avLst/>
          </a:prstGeom>
          <a:effectLst/>
        </p:spPr>
      </p:pic>
      <p:sp>
        <p:nvSpPr>
          <p:cNvPr id="122" name="Rectangle: Rounded Corners 121">
            <a:extLst>
              <a:ext uri="{FF2B5EF4-FFF2-40B4-BE49-F238E27FC236}">
                <a16:creationId xmlns:a16="http://schemas.microsoft.com/office/drawing/2014/main" id="{C15BBFAD-7D99-CFCF-D58A-828CD84B4990}"/>
              </a:ext>
            </a:extLst>
          </p:cNvPr>
          <p:cNvSpPr/>
          <p:nvPr/>
        </p:nvSpPr>
        <p:spPr>
          <a:xfrm>
            <a:off x="7616028" y="1577383"/>
            <a:ext cx="1074325" cy="1385771"/>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4" name="Picture 123">
            <a:extLst>
              <a:ext uri="{FF2B5EF4-FFF2-40B4-BE49-F238E27FC236}">
                <a16:creationId xmlns:a16="http://schemas.microsoft.com/office/drawing/2014/main" id="{87FB9F6F-88D6-59A4-F455-895BD6F4008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7639807" y="1606727"/>
            <a:ext cx="1070773" cy="669233"/>
          </a:xfrm>
          <a:prstGeom prst="rect">
            <a:avLst/>
          </a:prstGeom>
          <a:effectLst/>
        </p:spPr>
      </p:pic>
      <p:sp>
        <p:nvSpPr>
          <p:cNvPr id="126" name="Rectangle: Rounded Corners 125">
            <a:extLst>
              <a:ext uri="{FF2B5EF4-FFF2-40B4-BE49-F238E27FC236}">
                <a16:creationId xmlns:a16="http://schemas.microsoft.com/office/drawing/2014/main" id="{4678ED58-7E7C-505F-D885-82FD45B20964}"/>
              </a:ext>
            </a:extLst>
          </p:cNvPr>
          <p:cNvSpPr/>
          <p:nvPr/>
        </p:nvSpPr>
        <p:spPr>
          <a:xfrm>
            <a:off x="324021" y="4455266"/>
            <a:ext cx="1074325" cy="1548802"/>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8" name="Picture 127">
            <a:extLst>
              <a:ext uri="{FF2B5EF4-FFF2-40B4-BE49-F238E27FC236}">
                <a16:creationId xmlns:a16="http://schemas.microsoft.com/office/drawing/2014/main" id="{9528E4B8-46E9-1FFC-AE96-4169F895D210}"/>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32296" y="4588558"/>
            <a:ext cx="1452909" cy="762775"/>
          </a:xfrm>
          <a:prstGeom prst="rect">
            <a:avLst/>
          </a:prstGeom>
          <a:effectLst/>
        </p:spPr>
      </p:pic>
      <p:sp>
        <p:nvSpPr>
          <p:cNvPr id="130" name="Rectangle: Rounded Corners 129">
            <a:extLst>
              <a:ext uri="{FF2B5EF4-FFF2-40B4-BE49-F238E27FC236}">
                <a16:creationId xmlns:a16="http://schemas.microsoft.com/office/drawing/2014/main" id="{7A9D265D-39F1-361F-540B-039564B4F93A}"/>
              </a:ext>
            </a:extLst>
          </p:cNvPr>
          <p:cNvSpPr/>
          <p:nvPr/>
        </p:nvSpPr>
        <p:spPr>
          <a:xfrm>
            <a:off x="1780376" y="4455266"/>
            <a:ext cx="1074325" cy="1548802"/>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2" name="Picture 131">
            <a:extLst>
              <a:ext uri="{FF2B5EF4-FFF2-40B4-BE49-F238E27FC236}">
                <a16:creationId xmlns:a16="http://schemas.microsoft.com/office/drawing/2014/main" id="{F9FCDFB6-11FD-09B6-940E-62F8466A5F8D}"/>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761495" y="4758651"/>
            <a:ext cx="1139876" cy="422588"/>
          </a:xfrm>
          <a:prstGeom prst="rect">
            <a:avLst/>
          </a:prstGeom>
          <a:effectLst/>
        </p:spPr>
      </p:pic>
      <p:sp>
        <p:nvSpPr>
          <p:cNvPr id="134" name="Rectangle: Rounded Corners 133">
            <a:extLst>
              <a:ext uri="{FF2B5EF4-FFF2-40B4-BE49-F238E27FC236}">
                <a16:creationId xmlns:a16="http://schemas.microsoft.com/office/drawing/2014/main" id="{44611BCF-ECC6-041E-8503-B939BE05EAFC}"/>
              </a:ext>
            </a:extLst>
          </p:cNvPr>
          <p:cNvSpPr/>
          <p:nvPr/>
        </p:nvSpPr>
        <p:spPr>
          <a:xfrm>
            <a:off x="3241846" y="4455266"/>
            <a:ext cx="1074325" cy="1548802"/>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6" name="Picture 135">
            <a:extLst>
              <a:ext uri="{FF2B5EF4-FFF2-40B4-BE49-F238E27FC236}">
                <a16:creationId xmlns:a16="http://schemas.microsoft.com/office/drawing/2014/main" id="{2E3112CC-4A9E-3E19-11BD-CA32852079C3}"/>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3436181" y="4698959"/>
            <a:ext cx="683794" cy="455862"/>
          </a:xfrm>
          <a:prstGeom prst="rect">
            <a:avLst/>
          </a:prstGeom>
          <a:effectLst/>
        </p:spPr>
      </p:pic>
      <p:sp>
        <p:nvSpPr>
          <p:cNvPr id="138" name="Rectangle: Rounded Corners 137">
            <a:extLst>
              <a:ext uri="{FF2B5EF4-FFF2-40B4-BE49-F238E27FC236}">
                <a16:creationId xmlns:a16="http://schemas.microsoft.com/office/drawing/2014/main" id="{FF531EA3-DCE5-BCA3-F5F9-9CBFB36B2A56}"/>
              </a:ext>
            </a:extLst>
          </p:cNvPr>
          <p:cNvSpPr/>
          <p:nvPr/>
        </p:nvSpPr>
        <p:spPr>
          <a:xfrm>
            <a:off x="4693086" y="4455266"/>
            <a:ext cx="1074325" cy="1548802"/>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0" name="Picture 139">
            <a:extLst>
              <a:ext uri="{FF2B5EF4-FFF2-40B4-BE49-F238E27FC236}">
                <a16:creationId xmlns:a16="http://schemas.microsoft.com/office/drawing/2014/main" id="{203907B2-488A-B1A4-29EB-84BF2F600412}"/>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4779398" y="4588558"/>
            <a:ext cx="901699" cy="676664"/>
          </a:xfrm>
          <a:prstGeom prst="rect">
            <a:avLst/>
          </a:prstGeom>
          <a:effectLst/>
        </p:spPr>
      </p:pic>
      <p:sp>
        <p:nvSpPr>
          <p:cNvPr id="142" name="Rectangle: Rounded Corners 141">
            <a:extLst>
              <a:ext uri="{FF2B5EF4-FFF2-40B4-BE49-F238E27FC236}">
                <a16:creationId xmlns:a16="http://schemas.microsoft.com/office/drawing/2014/main" id="{8CA8823C-6A45-1C3A-F980-7DD6B2713F33}"/>
              </a:ext>
            </a:extLst>
          </p:cNvPr>
          <p:cNvSpPr/>
          <p:nvPr/>
        </p:nvSpPr>
        <p:spPr>
          <a:xfrm>
            <a:off x="6159671" y="4455266"/>
            <a:ext cx="1074325" cy="1548802"/>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4" name="Picture 143">
            <a:extLst>
              <a:ext uri="{FF2B5EF4-FFF2-40B4-BE49-F238E27FC236}">
                <a16:creationId xmlns:a16="http://schemas.microsoft.com/office/drawing/2014/main" id="{FACED7E6-620F-777A-F0A6-62BB8EAE2DA0}"/>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6297162" y="4399626"/>
            <a:ext cx="785120" cy="981840"/>
          </a:xfrm>
          <a:prstGeom prst="rect">
            <a:avLst/>
          </a:prstGeom>
          <a:effectLst/>
        </p:spPr>
      </p:pic>
      <p:sp>
        <p:nvSpPr>
          <p:cNvPr id="146" name="Rectangle: Rounded Corners 145">
            <a:extLst>
              <a:ext uri="{FF2B5EF4-FFF2-40B4-BE49-F238E27FC236}">
                <a16:creationId xmlns:a16="http://schemas.microsoft.com/office/drawing/2014/main" id="{9EB762D4-A903-8004-73E8-2503DBB71DCD}"/>
              </a:ext>
            </a:extLst>
          </p:cNvPr>
          <p:cNvSpPr/>
          <p:nvPr/>
        </p:nvSpPr>
        <p:spPr>
          <a:xfrm>
            <a:off x="7610911" y="4455266"/>
            <a:ext cx="1074325" cy="1548802"/>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Picture 147">
            <a:extLst>
              <a:ext uri="{FF2B5EF4-FFF2-40B4-BE49-F238E27FC236}">
                <a16:creationId xmlns:a16="http://schemas.microsoft.com/office/drawing/2014/main" id="{5384DC2D-B79F-4D5B-5488-EC80585EA6BB}"/>
              </a:ext>
            </a:extLst>
          </p:cNvPr>
          <p:cNvPicPr>
            <a:picLocks noChangeAspect="1"/>
          </p:cNvPicPr>
          <p:nvPr/>
        </p:nvPicPr>
        <p:blipFill>
          <a:blip r:embed="rId15">
            <a:extLst>
              <a:ext uri="{28A0092B-C50C-407E-A947-70E740481C1C}">
                <a14:useLocalDpi xmlns:a14="http://schemas.microsoft.com/office/drawing/2010/main" val="0"/>
              </a:ext>
            </a:extLst>
          </a:blip>
          <a:srcRect/>
          <a:stretch/>
        </p:blipFill>
        <p:spPr>
          <a:xfrm>
            <a:off x="7489031" y="4540538"/>
            <a:ext cx="1372323" cy="772704"/>
          </a:xfrm>
          <a:prstGeom prst="rect">
            <a:avLst/>
          </a:prstGeom>
          <a:effectLst/>
        </p:spPr>
      </p:pic>
      <p:sp>
        <p:nvSpPr>
          <p:cNvPr id="150" name="Rectangle: Rounded Corners 149">
            <a:extLst>
              <a:ext uri="{FF2B5EF4-FFF2-40B4-BE49-F238E27FC236}">
                <a16:creationId xmlns:a16="http://schemas.microsoft.com/office/drawing/2014/main" id="{7FA44670-8A71-9A4C-6D0D-3A2C67C65F55}"/>
              </a:ext>
            </a:extLst>
          </p:cNvPr>
          <p:cNvSpPr/>
          <p:nvPr/>
        </p:nvSpPr>
        <p:spPr>
          <a:xfrm>
            <a:off x="4704876" y="1579805"/>
            <a:ext cx="1074325" cy="1385771"/>
          </a:xfrm>
          <a:prstGeom prst="roundRect">
            <a:avLst/>
          </a:prstGeom>
          <a:solidFill>
            <a:schemeClr val="bg1"/>
          </a:solidFill>
          <a:ln>
            <a:noFill/>
          </a:ln>
          <a:effectLst>
            <a:outerShdw blurRad="76200" dir="13500000" sy="23000" kx="1200000" algn="br" rotWithShape="0">
              <a:prstClr val="black">
                <a:alpha val="12000"/>
              </a:prstClr>
            </a:outerShdw>
            <a:reflection blurRad="63500" stA="30000" endPos="50000" dist="635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2" name="Picture 151">
            <a:extLst>
              <a:ext uri="{FF2B5EF4-FFF2-40B4-BE49-F238E27FC236}">
                <a16:creationId xmlns:a16="http://schemas.microsoft.com/office/drawing/2014/main" id="{5B30A9A9-9ACA-52E9-2BD1-9DA11819F707}"/>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4890313" y="1617564"/>
            <a:ext cx="683794" cy="629929"/>
          </a:xfrm>
          <a:prstGeom prst="rect">
            <a:avLst/>
          </a:prstGeom>
          <a:effectLst/>
        </p:spPr>
      </p:pic>
      <p:sp>
        <p:nvSpPr>
          <p:cNvPr id="154" name="TextBox 153">
            <a:extLst>
              <a:ext uri="{FF2B5EF4-FFF2-40B4-BE49-F238E27FC236}">
                <a16:creationId xmlns:a16="http://schemas.microsoft.com/office/drawing/2014/main" id="{E5D105EA-0078-E10B-F9C5-3F5CCAF99ED5}"/>
              </a:ext>
            </a:extLst>
          </p:cNvPr>
          <p:cNvSpPr txBox="1"/>
          <p:nvPr/>
        </p:nvSpPr>
        <p:spPr>
          <a:xfrm>
            <a:off x="288569" y="2350002"/>
            <a:ext cx="1177715" cy="523220"/>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NumPy, Pandas, </a:t>
            </a:r>
            <a:r>
              <a:rPr lang="en-US" sz="700" dirty="0" err="1">
                <a:solidFill>
                  <a:srgbClr val="C29524"/>
                </a:solidFill>
                <a:latin typeface="Segoe UI Semibold" panose="020B0702040204020203" pitchFamily="34" charset="0"/>
                <a:cs typeface="Segoe UI Semibold" panose="020B0702040204020203" pitchFamily="34" charset="0"/>
              </a:rPr>
              <a:t>FastAPI</a:t>
            </a:r>
            <a:r>
              <a:rPr lang="en-US" sz="700" dirty="0">
                <a:solidFill>
                  <a:srgbClr val="C29524"/>
                </a:solidFill>
                <a:latin typeface="Segoe UI Semibold" panose="020B0702040204020203" pitchFamily="34" charset="0"/>
                <a:cs typeface="Segoe UI Semibold" panose="020B0702040204020203" pitchFamily="34" charset="0"/>
              </a:rPr>
              <a:t>, </a:t>
            </a:r>
            <a:r>
              <a:rPr lang="en-US" sz="700" dirty="0" err="1">
                <a:solidFill>
                  <a:srgbClr val="C29524"/>
                </a:solidFill>
                <a:latin typeface="Segoe UI Semibold" panose="020B0702040204020203" pitchFamily="34" charset="0"/>
                <a:cs typeface="Segoe UI Semibold" panose="020B0702040204020203" pitchFamily="34" charset="0"/>
              </a:rPr>
              <a:t>Uvicorn</a:t>
            </a:r>
            <a:r>
              <a:rPr lang="en-US" sz="700" dirty="0">
                <a:solidFill>
                  <a:srgbClr val="C29524"/>
                </a:solidFill>
                <a:latin typeface="Segoe UI Semibold" panose="020B0702040204020203" pitchFamily="34" charset="0"/>
                <a:cs typeface="Segoe UI Semibold" panose="020B0702040204020203" pitchFamily="34" charset="0"/>
              </a:rPr>
              <a:t>, </a:t>
            </a:r>
            <a:r>
              <a:rPr lang="en-US" sz="700" dirty="0" err="1">
                <a:solidFill>
                  <a:srgbClr val="C29524"/>
                </a:solidFill>
                <a:latin typeface="Segoe UI Semibold" panose="020B0702040204020203" pitchFamily="34" charset="0"/>
                <a:cs typeface="Segoe UI Semibold" panose="020B0702040204020203" pitchFamily="34" charset="0"/>
              </a:rPr>
              <a:t>Pydantic</a:t>
            </a:r>
            <a:r>
              <a:rPr lang="en-US" sz="700" dirty="0">
                <a:solidFill>
                  <a:srgbClr val="C29524"/>
                </a:solidFill>
                <a:latin typeface="Segoe UI Semibold" panose="020B0702040204020203" pitchFamily="34" charset="0"/>
                <a:cs typeface="Segoe UI Semibold" panose="020B0702040204020203" pitchFamily="34" charset="0"/>
              </a:rPr>
              <a:t>, Data Preprocessing, Cleaning</a:t>
            </a:r>
          </a:p>
        </p:txBody>
      </p:sp>
      <p:sp>
        <p:nvSpPr>
          <p:cNvPr id="156" name="TextBox 155">
            <a:extLst>
              <a:ext uri="{FF2B5EF4-FFF2-40B4-BE49-F238E27FC236}">
                <a16:creationId xmlns:a16="http://schemas.microsoft.com/office/drawing/2014/main" id="{95ECA616-25D7-8E18-F329-AD667CEFF2B8}"/>
              </a:ext>
            </a:extLst>
          </p:cNvPr>
          <p:cNvSpPr txBox="1"/>
          <p:nvPr/>
        </p:nvSpPr>
        <p:spPr>
          <a:xfrm>
            <a:off x="1688817" y="2278549"/>
            <a:ext cx="1253975" cy="630942"/>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Database Schemas, Orchestration, Fact &amp; Dimension Tables, Primary &amp; Foreign Keys, Surrogate Keys , Indexing</a:t>
            </a:r>
          </a:p>
        </p:txBody>
      </p:sp>
      <p:sp>
        <p:nvSpPr>
          <p:cNvPr id="158" name="TextBox 157">
            <a:extLst>
              <a:ext uri="{FF2B5EF4-FFF2-40B4-BE49-F238E27FC236}">
                <a16:creationId xmlns:a16="http://schemas.microsoft.com/office/drawing/2014/main" id="{17AEE48E-9C37-7ACB-674A-284213AB2576}"/>
              </a:ext>
            </a:extLst>
          </p:cNvPr>
          <p:cNvSpPr txBox="1"/>
          <p:nvPr/>
        </p:nvSpPr>
        <p:spPr>
          <a:xfrm>
            <a:off x="3223433" y="2239704"/>
            <a:ext cx="1121379" cy="738664"/>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Dashboards, Data Model (Star Schema), DAX Measures, Calculated Columns, Visualization, UI/UX, </a:t>
            </a:r>
            <a:r>
              <a:rPr lang="en-US" sz="700" dirty="0" err="1">
                <a:solidFill>
                  <a:srgbClr val="C29524"/>
                </a:solidFill>
                <a:latin typeface="Segoe UI Semibold" panose="020B0702040204020203" pitchFamily="34" charset="0"/>
                <a:cs typeface="Segoe UI Semibold" panose="020B0702040204020203" pitchFamily="34" charset="0"/>
              </a:rPr>
              <a:t>FIlters</a:t>
            </a:r>
            <a:endParaRPr lang="en-US" sz="700" dirty="0">
              <a:solidFill>
                <a:srgbClr val="C29524"/>
              </a:solidFill>
              <a:latin typeface="Segoe UI Semibold" panose="020B0702040204020203" pitchFamily="34" charset="0"/>
              <a:cs typeface="Segoe UI Semibold" panose="020B0702040204020203" pitchFamily="34" charset="0"/>
            </a:endParaRPr>
          </a:p>
        </p:txBody>
      </p:sp>
      <p:sp>
        <p:nvSpPr>
          <p:cNvPr id="162" name="TextBox 161">
            <a:extLst>
              <a:ext uri="{FF2B5EF4-FFF2-40B4-BE49-F238E27FC236}">
                <a16:creationId xmlns:a16="http://schemas.microsoft.com/office/drawing/2014/main" id="{A96AEF06-BAC6-77B3-9BE9-57935706765C}"/>
              </a:ext>
            </a:extLst>
          </p:cNvPr>
          <p:cNvSpPr txBox="1"/>
          <p:nvPr/>
        </p:nvSpPr>
        <p:spPr>
          <a:xfrm>
            <a:off x="6169114" y="2312112"/>
            <a:ext cx="1041216" cy="630942"/>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Presentation Design, Slideshow, Video Demo, Transitions, Animations, Background Design</a:t>
            </a:r>
          </a:p>
        </p:txBody>
      </p:sp>
      <p:sp>
        <p:nvSpPr>
          <p:cNvPr id="164" name="TextBox 163">
            <a:extLst>
              <a:ext uri="{FF2B5EF4-FFF2-40B4-BE49-F238E27FC236}">
                <a16:creationId xmlns:a16="http://schemas.microsoft.com/office/drawing/2014/main" id="{EAC606DA-AE0A-7D32-98CA-604B234DCEB3}"/>
              </a:ext>
            </a:extLst>
          </p:cNvPr>
          <p:cNvSpPr txBox="1"/>
          <p:nvPr/>
        </p:nvSpPr>
        <p:spPr>
          <a:xfrm>
            <a:off x="7566982" y="2188195"/>
            <a:ext cx="1172415" cy="738664"/>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Online Host, Port Creation, SQL Server Connection to Python, ETL Pipeline Transferring Data to Staging Schema</a:t>
            </a:r>
          </a:p>
        </p:txBody>
      </p:sp>
      <p:sp>
        <p:nvSpPr>
          <p:cNvPr id="166" name="TextBox 165">
            <a:extLst>
              <a:ext uri="{FF2B5EF4-FFF2-40B4-BE49-F238E27FC236}">
                <a16:creationId xmlns:a16="http://schemas.microsoft.com/office/drawing/2014/main" id="{AF106A01-E962-727A-C094-3CD09B291B84}"/>
              </a:ext>
            </a:extLst>
          </p:cNvPr>
          <p:cNvSpPr txBox="1"/>
          <p:nvPr/>
        </p:nvSpPr>
        <p:spPr>
          <a:xfrm>
            <a:off x="4718744" y="2327103"/>
            <a:ext cx="1041910" cy="553998"/>
          </a:xfrm>
          <a:prstGeom prst="rect">
            <a:avLst/>
          </a:prstGeom>
          <a:noFill/>
        </p:spPr>
        <p:txBody>
          <a:bodyPr wrap="square" rtlCol="0" anchor="ctr" anchorCtr="1">
            <a:no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Portal Development &amp; Deployment, Front-End, Back-End, UI/UX, Forecasting Model Training &amp; Deployment</a:t>
            </a:r>
          </a:p>
        </p:txBody>
      </p:sp>
      <p:sp>
        <p:nvSpPr>
          <p:cNvPr id="168" name="TextBox 167">
            <a:extLst>
              <a:ext uri="{FF2B5EF4-FFF2-40B4-BE49-F238E27FC236}">
                <a16:creationId xmlns:a16="http://schemas.microsoft.com/office/drawing/2014/main" id="{4EB3317B-733B-1CE7-DD51-0AD2DA12FAD6}"/>
              </a:ext>
            </a:extLst>
          </p:cNvPr>
          <p:cNvSpPr txBox="1"/>
          <p:nvPr/>
        </p:nvSpPr>
        <p:spPr>
          <a:xfrm>
            <a:off x="352284" y="5313614"/>
            <a:ext cx="1024337" cy="523220"/>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Git Language used in Bash for files publishing to GitHub repos</a:t>
            </a:r>
          </a:p>
        </p:txBody>
      </p:sp>
      <p:sp>
        <p:nvSpPr>
          <p:cNvPr id="170" name="TextBox 169">
            <a:extLst>
              <a:ext uri="{FF2B5EF4-FFF2-40B4-BE49-F238E27FC236}">
                <a16:creationId xmlns:a16="http://schemas.microsoft.com/office/drawing/2014/main" id="{7D963134-D2E8-B6CA-502D-8D06A72E730F}"/>
              </a:ext>
            </a:extLst>
          </p:cNvPr>
          <p:cNvSpPr txBox="1"/>
          <p:nvPr/>
        </p:nvSpPr>
        <p:spPr>
          <a:xfrm>
            <a:off x="1748685" y="5338055"/>
            <a:ext cx="1161163" cy="523220"/>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Repos Creation, Portal Deployment, Project Files Publishing, Project Description &amp; Briefing</a:t>
            </a:r>
          </a:p>
        </p:txBody>
      </p:sp>
      <p:sp>
        <p:nvSpPr>
          <p:cNvPr id="172" name="TextBox 171">
            <a:extLst>
              <a:ext uri="{FF2B5EF4-FFF2-40B4-BE49-F238E27FC236}">
                <a16:creationId xmlns:a16="http://schemas.microsoft.com/office/drawing/2014/main" id="{9214345B-C47F-E629-A4D8-C482FA1120FB}"/>
              </a:ext>
            </a:extLst>
          </p:cNvPr>
          <p:cNvSpPr txBox="1"/>
          <p:nvPr/>
        </p:nvSpPr>
        <p:spPr>
          <a:xfrm>
            <a:off x="3259880" y="5351333"/>
            <a:ext cx="1030419" cy="415498"/>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Portal Public Deployment </a:t>
            </a:r>
          </a:p>
          <a:p>
            <a:pPr algn="ctr"/>
            <a:r>
              <a:rPr lang="en-US" sz="700" dirty="0">
                <a:solidFill>
                  <a:srgbClr val="C29524"/>
                </a:solidFill>
                <a:latin typeface="Segoe UI Semibold" panose="020B0702040204020203" pitchFamily="34" charset="0"/>
                <a:cs typeface="Segoe UI Semibold" panose="020B0702040204020203" pitchFamily="34" charset="0"/>
              </a:rPr>
              <a:t>and Hosting </a:t>
            </a:r>
          </a:p>
        </p:txBody>
      </p:sp>
      <p:sp>
        <p:nvSpPr>
          <p:cNvPr id="174" name="TextBox 173">
            <a:extLst>
              <a:ext uri="{FF2B5EF4-FFF2-40B4-BE49-F238E27FC236}">
                <a16:creationId xmlns:a16="http://schemas.microsoft.com/office/drawing/2014/main" id="{F6210C45-EE67-CD6F-47CD-D406EFDAB455}"/>
              </a:ext>
            </a:extLst>
          </p:cNvPr>
          <p:cNvSpPr txBox="1"/>
          <p:nvPr/>
        </p:nvSpPr>
        <p:spPr>
          <a:xfrm>
            <a:off x="4688235" y="5429162"/>
            <a:ext cx="1088702" cy="307777"/>
          </a:xfrm>
          <a:prstGeom prst="rect">
            <a:avLst/>
          </a:prstGeom>
          <a:noFill/>
        </p:spPr>
        <p:txBody>
          <a:bodyPr wrap="square" rtlCol="0" anchor="ctr" anchorCtr="1">
            <a:spAutoFit/>
          </a:bodyPr>
          <a:lstStyle/>
          <a:p>
            <a:pPr algn="ctr"/>
            <a:r>
              <a:rPr lang="en-US" sz="700" dirty="0" err="1">
                <a:solidFill>
                  <a:srgbClr val="C29524"/>
                </a:solidFill>
                <a:latin typeface="Segoe UI Semibold" panose="020B0702040204020203" pitchFamily="34" charset="0"/>
                <a:cs typeface="Segoe UI Semibold" panose="020B0702040204020203" pitchFamily="34" charset="0"/>
              </a:rPr>
              <a:t>Anigravity’s</a:t>
            </a:r>
            <a:r>
              <a:rPr lang="en-US" sz="700" dirty="0">
                <a:solidFill>
                  <a:srgbClr val="C29524"/>
                </a:solidFill>
                <a:latin typeface="Segoe UI Semibold" panose="020B0702040204020203" pitchFamily="34" charset="0"/>
                <a:cs typeface="Segoe UI Semibold" panose="020B0702040204020203" pitchFamily="34" charset="0"/>
              </a:rPr>
              <a:t> Main Engine</a:t>
            </a:r>
          </a:p>
        </p:txBody>
      </p:sp>
      <p:sp>
        <p:nvSpPr>
          <p:cNvPr id="176" name="TextBox 175">
            <a:extLst>
              <a:ext uri="{FF2B5EF4-FFF2-40B4-BE49-F238E27FC236}">
                <a16:creationId xmlns:a16="http://schemas.microsoft.com/office/drawing/2014/main" id="{F7477879-DB4A-9EE6-AE87-7770FC26AC68}"/>
              </a:ext>
            </a:extLst>
          </p:cNvPr>
          <p:cNvSpPr txBox="1"/>
          <p:nvPr/>
        </p:nvSpPr>
        <p:spPr>
          <a:xfrm>
            <a:off x="6130526" y="5313242"/>
            <a:ext cx="1118392" cy="523220"/>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Python &amp; SQL Process Code Assistance, Advanced Techniques Consultant</a:t>
            </a:r>
          </a:p>
        </p:txBody>
      </p:sp>
      <p:sp>
        <p:nvSpPr>
          <p:cNvPr id="178" name="TextBox 177">
            <a:extLst>
              <a:ext uri="{FF2B5EF4-FFF2-40B4-BE49-F238E27FC236}">
                <a16:creationId xmlns:a16="http://schemas.microsoft.com/office/drawing/2014/main" id="{5423B566-E8C6-9177-9C7E-EE18F51B3A58}"/>
              </a:ext>
            </a:extLst>
          </p:cNvPr>
          <p:cNvSpPr txBox="1"/>
          <p:nvPr/>
        </p:nvSpPr>
        <p:spPr>
          <a:xfrm>
            <a:off x="7599391" y="5198613"/>
            <a:ext cx="1118392" cy="738664"/>
          </a:xfrm>
          <a:prstGeom prst="rect">
            <a:avLst/>
          </a:prstGeom>
          <a:noFill/>
        </p:spPr>
        <p:txBody>
          <a:bodyPr wrap="square" rtlCol="0" anchor="ctr" anchorCtr="1">
            <a:spAutoFit/>
          </a:bodyPr>
          <a:lstStyle/>
          <a:p>
            <a:pPr algn="ctr"/>
            <a:r>
              <a:rPr lang="en-US" sz="700" dirty="0">
                <a:solidFill>
                  <a:srgbClr val="C29524"/>
                </a:solidFill>
                <a:latin typeface="Segoe UI Semibold" panose="020B0702040204020203" pitchFamily="34" charset="0"/>
                <a:cs typeface="Segoe UI Semibold" panose="020B0702040204020203" pitchFamily="34" charset="0"/>
              </a:rPr>
              <a:t>Advanced Techniques Consultant, Senior Tech Consultant, Brainstorming, Learning Assistant, Image Creation</a:t>
            </a:r>
          </a:p>
        </p:txBody>
      </p:sp>
      <p:pic>
        <p:nvPicPr>
          <p:cNvPr id="189" name="Picture 188">
            <a:extLst>
              <a:ext uri="{FF2B5EF4-FFF2-40B4-BE49-F238E27FC236}">
                <a16:creationId xmlns:a16="http://schemas.microsoft.com/office/drawing/2014/main" id="{BD0B0F2B-24B6-6A7D-4D45-4C3F89C743D0}"/>
              </a:ext>
            </a:extLst>
          </p:cNvPr>
          <p:cNvPicPr>
            <a:picLocks noChangeAspect="1"/>
          </p:cNvPicPr>
          <p:nvPr/>
        </p:nvPicPr>
        <p:blipFill>
          <a:blip r:embed="rId17">
            <a:extLst>
              <a:ext uri="{28A0092B-C50C-407E-A947-70E740481C1C}">
                <a14:useLocalDpi xmlns:a14="http://schemas.microsoft.com/office/drawing/2010/main" val="0"/>
              </a:ext>
            </a:extLst>
          </a:blip>
          <a:srcRect/>
          <a:stretch/>
        </p:blipFill>
        <p:spPr>
          <a:xfrm>
            <a:off x="1289222" y="7771591"/>
            <a:ext cx="9613554" cy="5405737"/>
          </a:xfrm>
          <a:prstGeom prst="rect">
            <a:avLst/>
          </a:prstGeom>
          <a:effectLst>
            <a:outerShdw blurRad="317500" sx="102000" sy="102000" algn="ctr" rotWithShape="0">
              <a:srgbClr val="C29524">
                <a:alpha val="35000"/>
              </a:srgbClr>
            </a:outerShdw>
          </a:effectLst>
        </p:spPr>
      </p:pic>
      <p:grpSp>
        <p:nvGrpSpPr>
          <p:cNvPr id="2" name="Group 1">
            <a:extLst>
              <a:ext uri="{FF2B5EF4-FFF2-40B4-BE49-F238E27FC236}">
                <a16:creationId xmlns:a16="http://schemas.microsoft.com/office/drawing/2014/main" id="{63C75181-FF6A-6E2E-73EF-DF32816E0B3E}"/>
              </a:ext>
            </a:extLst>
          </p:cNvPr>
          <p:cNvGrpSpPr/>
          <p:nvPr/>
        </p:nvGrpSpPr>
        <p:grpSpPr>
          <a:xfrm>
            <a:off x="9287060" y="2649121"/>
            <a:ext cx="1546698" cy="1548126"/>
            <a:chOff x="9742445" y="2874150"/>
            <a:chExt cx="762345" cy="763049"/>
          </a:xfrm>
        </p:grpSpPr>
        <p:sp>
          <p:nvSpPr>
            <p:cNvPr id="3" name="Freeform: Shape 2">
              <a:extLst>
                <a:ext uri="{FF2B5EF4-FFF2-40B4-BE49-F238E27FC236}">
                  <a16:creationId xmlns:a16="http://schemas.microsoft.com/office/drawing/2014/main" id="{9336FFD3-4E37-10E0-2D9B-AD87E1693FEE}"/>
                </a:ext>
              </a:extLst>
            </p:cNvPr>
            <p:cNvSpPr/>
            <p:nvPr/>
          </p:nvSpPr>
          <p:spPr>
            <a:xfrm>
              <a:off x="9742445" y="2874561"/>
              <a:ext cx="762345" cy="762638"/>
            </a:xfrm>
            <a:custGeom>
              <a:avLst/>
              <a:gdLst>
                <a:gd name="csX0" fmla="*/ 81060 w 762345"/>
                <a:gd name="csY0" fmla="*/ 712058 h 762638"/>
                <a:gd name="csX1" fmla="*/ 57247 w 762345"/>
                <a:gd name="csY1" fmla="*/ 716821 h 762638"/>
                <a:gd name="csX2" fmla="*/ 43912 w 762345"/>
                <a:gd name="csY2" fmla="*/ 696818 h 762638"/>
                <a:gd name="csX3" fmla="*/ 57247 w 762345"/>
                <a:gd name="csY3" fmla="*/ 676816 h 762638"/>
                <a:gd name="csX4" fmla="*/ 81060 w 762345"/>
                <a:gd name="csY4" fmla="*/ 681578 h 762638"/>
                <a:gd name="csX5" fmla="*/ 81060 w 762345"/>
                <a:gd name="csY5" fmla="*/ 712058 h 762638"/>
                <a:gd name="csX6" fmla="*/ 753525 w 762345"/>
                <a:gd name="csY6" fmla="*/ 84361 h 762638"/>
                <a:gd name="csX7" fmla="*/ 676372 w 762345"/>
                <a:gd name="csY7" fmla="*/ 161513 h 762638"/>
                <a:gd name="csX8" fmla="*/ 615412 w 762345"/>
                <a:gd name="csY8" fmla="*/ 145321 h 762638"/>
                <a:gd name="csX9" fmla="*/ 600172 w 762345"/>
                <a:gd name="csY9" fmla="*/ 85313 h 762638"/>
                <a:gd name="csX10" fmla="*/ 677325 w 762345"/>
                <a:gd name="csY10" fmla="*/ 8161 h 762638"/>
                <a:gd name="csX11" fmla="*/ 543975 w 762345"/>
                <a:gd name="csY11" fmla="*/ 33878 h 762638"/>
                <a:gd name="csX12" fmla="*/ 505875 w 762345"/>
                <a:gd name="csY12" fmla="*/ 164371 h 762638"/>
                <a:gd name="csX13" fmla="*/ 20100 w 762345"/>
                <a:gd name="csY13" fmla="*/ 650146 h 762638"/>
                <a:gd name="csX14" fmla="*/ 2002 w 762345"/>
                <a:gd name="csY14" fmla="*/ 713963 h 762638"/>
                <a:gd name="csX15" fmla="*/ 48675 w 762345"/>
                <a:gd name="csY15" fmla="*/ 760636 h 762638"/>
                <a:gd name="csX16" fmla="*/ 112492 w 762345"/>
                <a:gd name="csY16" fmla="*/ 742538 h 762638"/>
                <a:gd name="csX17" fmla="*/ 598267 w 762345"/>
                <a:gd name="csY17" fmla="*/ 256763 h 762638"/>
                <a:gd name="csX18" fmla="*/ 728760 w 762345"/>
                <a:gd name="csY18" fmla="*/ 218663 h 762638"/>
                <a:gd name="csX19" fmla="*/ 753525 w 762345"/>
                <a:gd name="csY19" fmla="*/ 84361 h 7626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62345" h="762638">
                  <a:moveTo>
                    <a:pt x="81060" y="712058"/>
                  </a:moveTo>
                  <a:cubicBezTo>
                    <a:pt x="74392" y="718726"/>
                    <a:pt x="65820" y="720631"/>
                    <a:pt x="57247" y="716821"/>
                  </a:cubicBezTo>
                  <a:cubicBezTo>
                    <a:pt x="48675" y="713011"/>
                    <a:pt x="43912" y="705391"/>
                    <a:pt x="43912" y="696818"/>
                  </a:cubicBezTo>
                  <a:cubicBezTo>
                    <a:pt x="43912" y="688246"/>
                    <a:pt x="49627" y="679673"/>
                    <a:pt x="57247" y="676816"/>
                  </a:cubicBezTo>
                  <a:cubicBezTo>
                    <a:pt x="65820" y="673006"/>
                    <a:pt x="74392" y="674911"/>
                    <a:pt x="81060" y="681578"/>
                  </a:cubicBezTo>
                  <a:cubicBezTo>
                    <a:pt x="89632" y="689198"/>
                    <a:pt x="89632" y="703486"/>
                    <a:pt x="81060" y="712058"/>
                  </a:cubicBezTo>
                  <a:close/>
                  <a:moveTo>
                    <a:pt x="753525" y="84361"/>
                  </a:moveTo>
                  <a:lnTo>
                    <a:pt x="676372" y="161513"/>
                  </a:lnTo>
                  <a:lnTo>
                    <a:pt x="615412" y="145321"/>
                  </a:lnTo>
                  <a:lnTo>
                    <a:pt x="600172" y="85313"/>
                  </a:lnTo>
                  <a:lnTo>
                    <a:pt x="677325" y="8161"/>
                  </a:lnTo>
                  <a:cubicBezTo>
                    <a:pt x="631605" y="-8984"/>
                    <a:pt x="580170" y="1493"/>
                    <a:pt x="543975" y="33878"/>
                  </a:cubicBezTo>
                  <a:cubicBezTo>
                    <a:pt x="507780" y="67216"/>
                    <a:pt x="493492" y="116746"/>
                    <a:pt x="505875" y="164371"/>
                  </a:cubicBezTo>
                  <a:lnTo>
                    <a:pt x="20100" y="650146"/>
                  </a:lnTo>
                  <a:cubicBezTo>
                    <a:pt x="2955" y="666338"/>
                    <a:pt x="-3713" y="691103"/>
                    <a:pt x="2002" y="713963"/>
                  </a:cubicBezTo>
                  <a:cubicBezTo>
                    <a:pt x="7717" y="736823"/>
                    <a:pt x="25815" y="754921"/>
                    <a:pt x="48675" y="760636"/>
                  </a:cubicBezTo>
                  <a:cubicBezTo>
                    <a:pt x="71535" y="766351"/>
                    <a:pt x="95347" y="759683"/>
                    <a:pt x="112492" y="742538"/>
                  </a:cubicBezTo>
                  <a:lnTo>
                    <a:pt x="598267" y="256763"/>
                  </a:lnTo>
                  <a:cubicBezTo>
                    <a:pt x="645892" y="269146"/>
                    <a:pt x="695422" y="254858"/>
                    <a:pt x="728760" y="218663"/>
                  </a:cubicBezTo>
                  <a:cubicBezTo>
                    <a:pt x="761145" y="182468"/>
                    <a:pt x="771622" y="130081"/>
                    <a:pt x="753525" y="84361"/>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8" name="Freeform: Shape 7">
              <a:extLst>
                <a:ext uri="{FF2B5EF4-FFF2-40B4-BE49-F238E27FC236}">
                  <a16:creationId xmlns:a16="http://schemas.microsoft.com/office/drawing/2014/main" id="{4C63747A-2265-58EB-DFF8-F586DCFCF60B}"/>
                </a:ext>
              </a:extLst>
            </p:cNvPr>
            <p:cNvSpPr/>
            <p:nvPr/>
          </p:nvSpPr>
          <p:spPr>
            <a:xfrm>
              <a:off x="10147355" y="3278962"/>
              <a:ext cx="357308" cy="357704"/>
            </a:xfrm>
            <a:custGeom>
              <a:avLst/>
              <a:gdLst>
                <a:gd name="csX0" fmla="*/ 344805 w 357308"/>
                <a:gd name="csY0" fmla="*/ 245745 h 357704"/>
                <a:gd name="csX1" fmla="*/ 99060 w 357308"/>
                <a:gd name="csY1" fmla="*/ 0 h 357704"/>
                <a:gd name="csX2" fmla="*/ 0 w 357308"/>
                <a:gd name="csY2" fmla="*/ 99060 h 357704"/>
                <a:gd name="csX3" fmla="*/ 238125 w 357308"/>
                <a:gd name="csY3" fmla="*/ 337185 h 357704"/>
                <a:gd name="csX4" fmla="*/ 246698 w 357308"/>
                <a:gd name="csY4" fmla="*/ 345758 h 357704"/>
                <a:gd name="csX5" fmla="*/ 247650 w 357308"/>
                <a:gd name="csY5" fmla="*/ 344805 h 357704"/>
                <a:gd name="csX6" fmla="*/ 337185 w 357308"/>
                <a:gd name="csY6" fmla="*/ 337185 h 357704"/>
                <a:gd name="csX7" fmla="*/ 344805 w 357308"/>
                <a:gd name="csY7" fmla="*/ 245745 h 357704"/>
                <a:gd name="csX8" fmla="*/ 344805 w 357308"/>
                <a:gd name="csY8" fmla="*/ 245745 h 3577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57308" h="357704">
                  <a:moveTo>
                    <a:pt x="344805" y="245745"/>
                  </a:moveTo>
                  <a:lnTo>
                    <a:pt x="99060" y="0"/>
                  </a:lnTo>
                  <a:lnTo>
                    <a:pt x="0" y="99060"/>
                  </a:lnTo>
                  <a:lnTo>
                    <a:pt x="238125" y="337185"/>
                  </a:lnTo>
                  <a:lnTo>
                    <a:pt x="246698" y="345758"/>
                  </a:lnTo>
                  <a:lnTo>
                    <a:pt x="247650" y="344805"/>
                  </a:lnTo>
                  <a:cubicBezTo>
                    <a:pt x="275273" y="364808"/>
                    <a:pt x="313373" y="360998"/>
                    <a:pt x="337185" y="337185"/>
                  </a:cubicBezTo>
                  <a:cubicBezTo>
                    <a:pt x="360998" y="312420"/>
                    <a:pt x="363855" y="274320"/>
                    <a:pt x="344805" y="245745"/>
                  </a:cubicBezTo>
                  <a:lnTo>
                    <a:pt x="344805" y="245745"/>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0" name="Freeform: Shape 9">
              <a:extLst>
                <a:ext uri="{FF2B5EF4-FFF2-40B4-BE49-F238E27FC236}">
                  <a16:creationId xmlns:a16="http://schemas.microsoft.com/office/drawing/2014/main" id="{7B4CAC70-9E9D-D315-0EB9-5C43C89A8E87}"/>
                </a:ext>
              </a:extLst>
            </p:cNvPr>
            <p:cNvSpPr/>
            <p:nvPr/>
          </p:nvSpPr>
          <p:spPr>
            <a:xfrm>
              <a:off x="9742543" y="2874150"/>
              <a:ext cx="320992" cy="320992"/>
            </a:xfrm>
            <a:custGeom>
              <a:avLst/>
              <a:gdLst>
                <a:gd name="csX0" fmla="*/ 139065 w 320992"/>
                <a:gd name="csY0" fmla="*/ 112395 h 320992"/>
                <a:gd name="csX1" fmla="*/ 140018 w 320992"/>
                <a:gd name="csY1" fmla="*/ 111443 h 320992"/>
                <a:gd name="csX2" fmla="*/ 115253 w 320992"/>
                <a:gd name="csY2" fmla="*/ 65723 h 320992"/>
                <a:gd name="csX3" fmla="*/ 33338 w 320992"/>
                <a:gd name="csY3" fmla="*/ 0 h 320992"/>
                <a:gd name="csX4" fmla="*/ 0 w 320992"/>
                <a:gd name="csY4" fmla="*/ 33338 h 320992"/>
                <a:gd name="csX5" fmla="*/ 65723 w 320992"/>
                <a:gd name="csY5" fmla="*/ 115253 h 320992"/>
                <a:gd name="csX6" fmla="*/ 111443 w 320992"/>
                <a:gd name="csY6" fmla="*/ 140018 h 320992"/>
                <a:gd name="csX7" fmla="*/ 112395 w 320992"/>
                <a:gd name="csY7" fmla="*/ 139065 h 320992"/>
                <a:gd name="csX8" fmla="*/ 294323 w 320992"/>
                <a:gd name="csY8" fmla="*/ 320993 h 320992"/>
                <a:gd name="csX9" fmla="*/ 320993 w 320992"/>
                <a:gd name="csY9" fmla="*/ 294323 h 320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20992" h="320992">
                  <a:moveTo>
                    <a:pt x="139065" y="112395"/>
                  </a:moveTo>
                  <a:lnTo>
                    <a:pt x="140018" y="111443"/>
                  </a:lnTo>
                  <a:lnTo>
                    <a:pt x="115253" y="65723"/>
                  </a:lnTo>
                  <a:lnTo>
                    <a:pt x="33338" y="0"/>
                  </a:lnTo>
                  <a:lnTo>
                    <a:pt x="0" y="33338"/>
                  </a:lnTo>
                  <a:lnTo>
                    <a:pt x="65723" y="115253"/>
                  </a:lnTo>
                  <a:lnTo>
                    <a:pt x="111443" y="140018"/>
                  </a:lnTo>
                  <a:lnTo>
                    <a:pt x="112395" y="139065"/>
                  </a:lnTo>
                  <a:lnTo>
                    <a:pt x="294323" y="320993"/>
                  </a:lnTo>
                  <a:lnTo>
                    <a:pt x="320993" y="294323"/>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11622743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65261-8662-6F19-7205-61F14B21B01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2F88C4D-D058-2953-D4FE-69130E646D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D14AA075-400B-C4A3-7640-CB064377CD28}"/>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5B6FC2FC-CC1D-F1CD-2EBD-F6E442DFE326}"/>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noFill/>
            </a:endParaRPr>
          </a:p>
        </p:txBody>
      </p:sp>
      <p:sp>
        <p:nvSpPr>
          <p:cNvPr id="12" name="TextBox 11">
            <a:extLst>
              <a:ext uri="{FF2B5EF4-FFF2-40B4-BE49-F238E27FC236}">
                <a16:creationId xmlns:a16="http://schemas.microsoft.com/office/drawing/2014/main" id="{7BAB3AE3-10C4-D256-D9C5-405500D4FAEA}"/>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B4451112-2928-F192-772A-DAC2BD9991A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013E2E9-BD55-7D85-7D9E-5E9344939BB7}"/>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FA04358-1575-0793-CD62-C34BC812DCEE}"/>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A07DB043-0F31-0D8D-80BF-6304E2AF9180}"/>
              </a:ext>
            </a:extLst>
          </p:cNvPr>
          <p:cNvSpPr txBox="1"/>
          <p:nvPr/>
        </p:nvSpPr>
        <p:spPr>
          <a:xfrm>
            <a:off x="196645" y="141355"/>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Dashboards Snapshots</a:t>
            </a:r>
          </a:p>
        </p:txBody>
      </p:sp>
      <p:sp>
        <p:nvSpPr>
          <p:cNvPr id="8" name="TextBox 7">
            <a:extLst>
              <a:ext uri="{FF2B5EF4-FFF2-40B4-BE49-F238E27FC236}">
                <a16:creationId xmlns:a16="http://schemas.microsoft.com/office/drawing/2014/main" id="{450785E9-E049-58CB-0EF0-EA17E676AAD3}"/>
              </a:ext>
            </a:extLst>
          </p:cNvPr>
          <p:cNvSpPr txBox="1"/>
          <p:nvPr/>
        </p:nvSpPr>
        <p:spPr>
          <a:xfrm>
            <a:off x="196644" y="630883"/>
            <a:ext cx="6508955"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Key Insights &amp; Conclusions</a:t>
            </a:r>
          </a:p>
        </p:txBody>
      </p:sp>
      <p:pic>
        <p:nvPicPr>
          <p:cNvPr id="18" name="Picture 17">
            <a:extLst>
              <a:ext uri="{FF2B5EF4-FFF2-40B4-BE49-F238E27FC236}">
                <a16:creationId xmlns:a16="http://schemas.microsoft.com/office/drawing/2014/main" id="{7F2F7878-578C-D0F8-93CF-5143DCEB4D1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89222" y="1310908"/>
            <a:ext cx="9613554" cy="5405737"/>
          </a:xfrm>
          <a:prstGeom prst="rect">
            <a:avLst/>
          </a:prstGeom>
          <a:effectLst>
            <a:outerShdw blurRad="317500" sx="102000" sy="102000" algn="ctr" rotWithShape="0">
              <a:srgbClr val="C29524">
                <a:alpha val="35000"/>
              </a:srgbClr>
            </a:outerShdw>
          </a:effectLst>
        </p:spPr>
      </p:pic>
      <p:pic>
        <p:nvPicPr>
          <p:cNvPr id="13" name="Picture 12">
            <a:extLst>
              <a:ext uri="{FF2B5EF4-FFF2-40B4-BE49-F238E27FC236}">
                <a16:creationId xmlns:a16="http://schemas.microsoft.com/office/drawing/2014/main" id="{7FA626FB-6508-B08E-948B-A13314F8C8C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29758" y="7946438"/>
            <a:ext cx="9532482" cy="5405737"/>
          </a:xfrm>
          <a:prstGeom prst="rect">
            <a:avLst/>
          </a:prstGeom>
          <a:effectLst>
            <a:outerShdw blurRad="317500" sx="102000" sy="102000" algn="ctr" rotWithShape="0">
              <a:srgbClr val="C29524">
                <a:alpha val="35000"/>
              </a:srgbClr>
            </a:outerShdw>
          </a:effectLst>
        </p:spPr>
      </p:pic>
    </p:spTree>
    <p:extLst>
      <p:ext uri="{BB962C8B-B14F-4D97-AF65-F5344CB8AC3E}">
        <p14:creationId xmlns:p14="http://schemas.microsoft.com/office/powerpoint/2010/main" val="37429662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4EB8BE1-B0A6-4E12-7F2A-DF534B4D242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177CE75-69AD-2204-4858-9494EA54A0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521D195D-6A57-2C09-E7D8-52CB1677A2B7}"/>
              </a:ext>
            </a:extLst>
          </p:cNvPr>
          <p:cNvPicPr>
            <a:picLocks noChangeAspect="1"/>
          </p:cNvPicPr>
          <p:nvPr/>
        </p:nvPicPr>
        <p:blipFill>
          <a:blip r:embed="rId4">
            <a:alphaModFix amt="40000"/>
            <a:extLst>
              <a:ext uri="{BEBA8EAE-BF5A-486C-A8C5-ECC9F3942E4B}">
                <a14:imgProps xmlns:a14="http://schemas.microsoft.com/office/drawing/2010/main">
                  <a14:imgLayer r:embed="rId5">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4D66B9DF-A562-4A10-B8CC-AFAA53676E57}"/>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8F72E304-CBBE-2A94-BC22-BDB5468E52B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B178EB9C-E88C-5421-4144-D5BF3D6F2F2C}"/>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90F1AB3-6512-466B-E564-AD0930160B5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35392839-C658-5888-C4DE-253008F624E8}"/>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BAD47190-6FBA-7E41-0BD8-E243730CD3AD}"/>
              </a:ext>
            </a:extLst>
          </p:cNvPr>
          <p:cNvSpPr txBox="1"/>
          <p:nvPr/>
        </p:nvSpPr>
        <p:spPr>
          <a:xfrm>
            <a:off x="196645" y="141355"/>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Dashboards Snapshots</a:t>
            </a:r>
          </a:p>
        </p:txBody>
      </p:sp>
      <p:sp>
        <p:nvSpPr>
          <p:cNvPr id="8" name="TextBox 7">
            <a:extLst>
              <a:ext uri="{FF2B5EF4-FFF2-40B4-BE49-F238E27FC236}">
                <a16:creationId xmlns:a16="http://schemas.microsoft.com/office/drawing/2014/main" id="{F5479C8F-A2DD-6AA5-44B8-8950FD22D971}"/>
              </a:ext>
            </a:extLst>
          </p:cNvPr>
          <p:cNvSpPr txBox="1"/>
          <p:nvPr/>
        </p:nvSpPr>
        <p:spPr>
          <a:xfrm>
            <a:off x="196645" y="630883"/>
            <a:ext cx="6864762"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Key Insights &amp; Conclusions</a:t>
            </a:r>
          </a:p>
        </p:txBody>
      </p:sp>
      <p:pic>
        <p:nvPicPr>
          <p:cNvPr id="10" name="Picture 9">
            <a:extLst>
              <a:ext uri="{FF2B5EF4-FFF2-40B4-BE49-F238E27FC236}">
                <a16:creationId xmlns:a16="http://schemas.microsoft.com/office/drawing/2014/main" id="{4F2EAA8C-5FB5-B531-6249-8608B55D23B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29758" y="1310908"/>
            <a:ext cx="9532482" cy="5405737"/>
          </a:xfrm>
          <a:prstGeom prst="rect">
            <a:avLst/>
          </a:prstGeom>
          <a:effectLst>
            <a:outerShdw blurRad="317500" sx="102000" sy="102000" algn="ctr" rotWithShape="0">
              <a:srgbClr val="C29524">
                <a:alpha val="35000"/>
              </a:srgbClr>
            </a:outerShdw>
          </a:effectLst>
        </p:spPr>
      </p:pic>
      <p:pic>
        <p:nvPicPr>
          <p:cNvPr id="14" name="Picture 13">
            <a:extLst>
              <a:ext uri="{FF2B5EF4-FFF2-40B4-BE49-F238E27FC236}">
                <a16:creationId xmlns:a16="http://schemas.microsoft.com/office/drawing/2014/main" id="{13803122-5AA9-A4E9-B5F7-9B946C431C5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12072" y="8027554"/>
            <a:ext cx="9567853" cy="5405737"/>
          </a:xfrm>
          <a:prstGeom prst="rect">
            <a:avLst/>
          </a:prstGeom>
          <a:effectLst>
            <a:outerShdw blurRad="317500" sx="102000" sy="102000" algn="ctr" rotWithShape="0">
              <a:srgbClr val="C29524">
                <a:alpha val="35000"/>
              </a:srgbClr>
            </a:outerShdw>
          </a:effectLst>
        </p:spPr>
      </p:pic>
    </p:spTree>
    <p:extLst>
      <p:ext uri="{BB962C8B-B14F-4D97-AF65-F5344CB8AC3E}">
        <p14:creationId xmlns:p14="http://schemas.microsoft.com/office/powerpoint/2010/main" val="7439705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61604-31C2-4812-26AB-DFC1AF2DA17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B82AACE-CDD3-D31D-88AB-25CB8F44B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A79BDB9-1559-55B9-84EA-FA70F07C6BFD}"/>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F447F268-19F6-F662-46D1-1AA8188DFCB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788BEC7C-EB34-91CF-3898-05283567571D}"/>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198DAF39-32B8-2F54-A4E4-18F6165CB455}"/>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A0241DF1-FBC9-5E07-3650-89B0768FA299}"/>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CEDC17B-65B9-B222-097F-94299B0EFD2C}"/>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1BDDB708-B7B2-7D63-77F8-08311E8DDF05}"/>
              </a:ext>
            </a:extLst>
          </p:cNvPr>
          <p:cNvSpPr txBox="1"/>
          <p:nvPr/>
        </p:nvSpPr>
        <p:spPr>
          <a:xfrm>
            <a:off x="196645" y="141355"/>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Dashboards Snapshots</a:t>
            </a:r>
          </a:p>
        </p:txBody>
      </p:sp>
      <p:sp>
        <p:nvSpPr>
          <p:cNvPr id="8" name="TextBox 7">
            <a:extLst>
              <a:ext uri="{FF2B5EF4-FFF2-40B4-BE49-F238E27FC236}">
                <a16:creationId xmlns:a16="http://schemas.microsoft.com/office/drawing/2014/main" id="{B8E23D20-6BAB-8EC2-9695-762AB4F1AE0B}"/>
              </a:ext>
            </a:extLst>
          </p:cNvPr>
          <p:cNvSpPr txBox="1"/>
          <p:nvPr/>
        </p:nvSpPr>
        <p:spPr>
          <a:xfrm>
            <a:off x="196644" y="630883"/>
            <a:ext cx="7204279"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Key Insights &amp; Conclusions</a:t>
            </a:r>
          </a:p>
        </p:txBody>
      </p:sp>
      <p:pic>
        <p:nvPicPr>
          <p:cNvPr id="13" name="Picture 12">
            <a:extLst>
              <a:ext uri="{FF2B5EF4-FFF2-40B4-BE49-F238E27FC236}">
                <a16:creationId xmlns:a16="http://schemas.microsoft.com/office/drawing/2014/main" id="{892CF77C-76B2-3987-193F-7E1D8468248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12072" y="1310908"/>
            <a:ext cx="9567853" cy="5405737"/>
          </a:xfrm>
          <a:prstGeom prst="rect">
            <a:avLst/>
          </a:prstGeom>
          <a:effectLst>
            <a:outerShdw blurRad="317500" sx="102000" sy="102000" algn="ctr" rotWithShape="0">
              <a:srgbClr val="C29524">
                <a:alpha val="35000"/>
              </a:srgbClr>
            </a:outerShdw>
          </a:effectLst>
        </p:spPr>
      </p:pic>
      <p:pic>
        <p:nvPicPr>
          <p:cNvPr id="10" name="Picture 9">
            <a:extLst>
              <a:ext uri="{FF2B5EF4-FFF2-40B4-BE49-F238E27FC236}">
                <a16:creationId xmlns:a16="http://schemas.microsoft.com/office/drawing/2014/main" id="{C3F3BEA5-7FFB-E27F-5BB8-CB8F5CAFBE7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320932" y="7759431"/>
            <a:ext cx="9550135" cy="5405737"/>
          </a:xfrm>
          <a:prstGeom prst="rect">
            <a:avLst/>
          </a:prstGeom>
          <a:effectLst>
            <a:outerShdw blurRad="317500" sx="102000" sy="102000" algn="ctr" rotWithShape="0">
              <a:srgbClr val="C29524">
                <a:alpha val="35000"/>
              </a:srgbClr>
            </a:outerShdw>
          </a:effectLst>
        </p:spPr>
      </p:pic>
    </p:spTree>
    <p:extLst>
      <p:ext uri="{BB962C8B-B14F-4D97-AF65-F5344CB8AC3E}">
        <p14:creationId xmlns:p14="http://schemas.microsoft.com/office/powerpoint/2010/main" val="3626411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7BC1A-EE0A-4F0B-7A62-C10D7500253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AAB0920-4EE9-AA85-32F9-3DD01F8818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423A9C7-2E2D-8D03-F08E-882F55CA8CD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20ED390D-1701-D01E-150A-D46A7F5C9F98}"/>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26EB63D5-3074-E98A-3700-1ABE0BAF6F2C}"/>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6A1CDA4D-83D0-E5F5-FB5D-380BB49815CD}"/>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56BDDAB-2FDE-1889-AF3C-2FC8DEE4631B}"/>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5FC1309F-2EA5-9722-AF5C-AB9CCD8B499A}"/>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E5482E93-EFD1-EC0A-AD06-09810647ADFE}"/>
              </a:ext>
            </a:extLst>
          </p:cNvPr>
          <p:cNvSpPr txBox="1"/>
          <p:nvPr/>
        </p:nvSpPr>
        <p:spPr>
          <a:xfrm>
            <a:off x="196645" y="141355"/>
            <a:ext cx="4933950"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Dashboards Snapshots</a:t>
            </a:r>
          </a:p>
        </p:txBody>
      </p:sp>
      <p:sp>
        <p:nvSpPr>
          <p:cNvPr id="8" name="TextBox 7">
            <a:extLst>
              <a:ext uri="{FF2B5EF4-FFF2-40B4-BE49-F238E27FC236}">
                <a16:creationId xmlns:a16="http://schemas.microsoft.com/office/drawing/2014/main" id="{7DB98D7E-D986-FD6B-8657-0D945620BAF0}"/>
              </a:ext>
            </a:extLst>
          </p:cNvPr>
          <p:cNvSpPr txBox="1"/>
          <p:nvPr/>
        </p:nvSpPr>
        <p:spPr>
          <a:xfrm>
            <a:off x="196645" y="630883"/>
            <a:ext cx="6864762"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Key Insights &amp; Conclusions</a:t>
            </a:r>
          </a:p>
        </p:txBody>
      </p:sp>
      <p:pic>
        <p:nvPicPr>
          <p:cNvPr id="13" name="Picture 12">
            <a:extLst>
              <a:ext uri="{FF2B5EF4-FFF2-40B4-BE49-F238E27FC236}">
                <a16:creationId xmlns:a16="http://schemas.microsoft.com/office/drawing/2014/main" id="{3F54F55E-D08D-A957-B193-4A19ABD92FC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20932" y="1310908"/>
            <a:ext cx="9550135" cy="5405737"/>
          </a:xfrm>
          <a:prstGeom prst="rect">
            <a:avLst/>
          </a:prstGeom>
          <a:effectLst>
            <a:outerShdw blurRad="317500" sx="102000" sy="102000" algn="ctr" rotWithShape="0">
              <a:srgbClr val="C29524">
                <a:alpha val="35000"/>
              </a:srgbClr>
            </a:outerShdw>
          </a:effectLst>
        </p:spPr>
      </p:pic>
    </p:spTree>
    <p:extLst>
      <p:ext uri="{BB962C8B-B14F-4D97-AF65-F5344CB8AC3E}">
        <p14:creationId xmlns:p14="http://schemas.microsoft.com/office/powerpoint/2010/main" val="15210870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FB34E1-8FE0-C0B9-95C5-85E31B4B11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7D349D2-A769-7285-6C5D-268E4F05CF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B8883ED-1BFE-C1FA-1F7B-8E76D167FC8A}"/>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5605C1B2-8CBF-6627-24B1-C3F3DDD43A7B}"/>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B9D31A22-69F7-5484-EC9D-4FD98101E1A4}"/>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03AEA227-57EC-537B-1DA9-2342C2E541B5}"/>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8A2CCD8A-88A6-3160-AC43-E9D79098F348}"/>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4FE142B9-28A1-EBB1-5C24-BA4B689FDDBC}"/>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08309319-6E0C-9B76-D9CF-7D719AA3D13F}"/>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DBF24E6F-C904-1B37-194F-17A12A393100}"/>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BC62A34D-CB2F-0DD6-AC6B-6BD7A1AD35BE}"/>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B769B1FA-DAF9-00DE-6D53-36F1CF3092FF}"/>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1E11026-4624-E171-351E-063100E7FB47}"/>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0A01E828-387C-3E52-CA99-D706403BA0BB}"/>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092D2B4-4616-8B20-C4FB-1321EB997C89}"/>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336FEEA-89CD-247F-6B42-63D37CAEA4AA}"/>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161D088-2018-F5AE-B4C4-6F845476F44D}"/>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97493E8-3F55-9F12-41F9-3ABC6AAF174A}"/>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983CE90-AC95-F6F9-7929-A709163A2A63}"/>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8728110B-47B6-BDDD-2538-62D31D7DA21D}"/>
              </a:ext>
            </a:extLst>
          </p:cNvPr>
          <p:cNvGrpSpPr/>
          <p:nvPr/>
        </p:nvGrpSpPr>
        <p:grpSpPr>
          <a:xfrm>
            <a:off x="-3920423" y="1230331"/>
            <a:ext cx="1970636" cy="5332610"/>
            <a:chOff x="273095" y="1230331"/>
            <a:chExt cx="1970636" cy="5332610"/>
          </a:xfrm>
        </p:grpSpPr>
        <p:sp>
          <p:nvSpPr>
            <p:cNvPr id="49" name="Rectangle: Rounded Corners 48">
              <a:extLst>
                <a:ext uri="{FF2B5EF4-FFF2-40B4-BE49-F238E27FC236}">
                  <a16:creationId xmlns:a16="http://schemas.microsoft.com/office/drawing/2014/main" id="{63E5FD17-A2C7-313B-018D-A294B15408ED}"/>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D2E7C770-F6A4-7BA9-FF40-CB70405941B9}"/>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98A6066C-4E67-585F-1A6F-221B6B578543}"/>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9A3DC054-4A79-AA0B-7C78-BDE26DE0ECB4}"/>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3928C750-2DBB-AD7C-5B76-95F0A5AC3E95}"/>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0268B6F2-399D-1862-2AF0-3622D24CF98A}"/>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608F4F8D-D6BB-C9A3-E135-94475DDDB745}"/>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5BFED49E-B087-983C-5D5F-FC5454FAE9C4}"/>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1E6B82EC-5543-7D93-4FB1-79C5FE880CB0}"/>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C6EB7FF6-B492-5526-E7BE-38A9239E86A3}"/>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F2AE6FED-884D-796D-B2F7-666B7D1CEC87}"/>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7A19FE22-85BD-AA99-82CC-7F1A20663353}"/>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059CA04A-07EF-95E1-4044-8897E6A7ADFD}"/>
              </a:ext>
            </a:extLst>
          </p:cNvPr>
          <p:cNvGrpSpPr/>
          <p:nvPr/>
        </p:nvGrpSpPr>
        <p:grpSpPr>
          <a:xfrm>
            <a:off x="3171008" y="8156484"/>
            <a:ext cx="2801619" cy="5049358"/>
            <a:chOff x="3171008" y="1372226"/>
            <a:chExt cx="2801619" cy="5049358"/>
          </a:xfrm>
        </p:grpSpPr>
        <p:sp>
          <p:nvSpPr>
            <p:cNvPr id="101" name="TextBox 100">
              <a:extLst>
                <a:ext uri="{FF2B5EF4-FFF2-40B4-BE49-F238E27FC236}">
                  <a16:creationId xmlns:a16="http://schemas.microsoft.com/office/drawing/2014/main" id="{B6FECFF4-9D34-9178-5DAF-202E96738929}"/>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02F1588F-5CE3-0F72-02BD-C49DFBF1C0AD}"/>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AA2A3F57-C309-15A8-D7F1-98C228663D08}"/>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0136EC3F-D383-8DAB-7B7F-34BCE63B7874}"/>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457F9613-9597-597E-B56B-85BBE4FBEE46}"/>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80BF1423-8E29-5660-ADF2-2B22EF9199D3}"/>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A845A7CD-F0D1-99CC-9052-CA903B15C0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79662"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DE7CFF79-8988-77D4-4BF8-E89FA947C2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8040055"/>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FAEF93F8-8DF9-F8A1-97B4-BA7ADFB3CA38}"/>
              </a:ext>
            </a:extLst>
          </p:cNvPr>
          <p:cNvSpPr/>
          <p:nvPr/>
        </p:nvSpPr>
        <p:spPr>
          <a:xfrm>
            <a:off x="12579662"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03AD4E9A-21B3-39BF-4620-1A31DB2C4F69}"/>
              </a:ext>
            </a:extLst>
          </p:cNvPr>
          <p:cNvSpPr/>
          <p:nvPr/>
        </p:nvSpPr>
        <p:spPr>
          <a:xfrm>
            <a:off x="6240380" y="9832236"/>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DA7C6C55-4910-59FF-3D19-608E47283C1F}"/>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F920EAD3-81F9-238A-922E-E2A41B38BDAF}"/>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D8C2376D-2CAB-91AB-F5F1-56B7B9AC18AB}"/>
              </a:ext>
            </a:extLst>
          </p:cNvPr>
          <p:cNvSpPr/>
          <p:nvPr/>
        </p:nvSpPr>
        <p:spPr>
          <a:xfrm>
            <a:off x="8830961" y="836415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FDBA8622-1DAD-4C73-A4D9-BB0502A17A57}"/>
              </a:ext>
            </a:extLst>
          </p:cNvPr>
          <p:cNvSpPr/>
          <p:nvPr/>
        </p:nvSpPr>
        <p:spPr>
          <a:xfrm>
            <a:off x="9312121"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EA0DC5AC-28B7-FFD2-7A48-A8A79D4DC0CF}"/>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3993965-E3D4-CBBF-BB90-3F17286C1380}"/>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1DEA901A-0B0B-B486-9ADE-57EE3B66CAC4}"/>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01284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9E16FA-D719-7CDB-63F4-466A3EA9AB7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30AB6C4-C5EB-AEB9-0D88-BDC322F31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223EEE8-8DF2-C4DF-5295-2E650DBD4C4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25E6D169-ABB9-405D-0766-03AF2C664E40}"/>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E3B36D31-737F-6E9F-18E4-064FECB49670}"/>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A3962AAA-798E-D36A-C798-F6126540EC94}"/>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663A4865-1CF6-BDE5-0DF9-269A491B56D8}"/>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0E19777-214B-F433-7D72-1DB713CCA915}"/>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7C6A4F3D-1993-86E3-1038-06E3DD67320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469EAB31-934E-ECC4-FBCA-6FDDE53B44CE}"/>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02D65478-3778-7B9C-C75A-02DE0C89BE37}"/>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3DB04F95-57DE-B876-C99B-7B6692B0F31F}"/>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F9E2FC5-F85E-6A34-6F34-C953EE3D2C3C}"/>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6561B007-97E5-D68A-9144-BE02F311DA6A}"/>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0F2A28A-0BB1-30C1-6082-9336CAC9321F}"/>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D78DBFE-79A3-FFB6-A5A2-6F5FC159EF89}"/>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EC29794-D682-A114-6CE5-EBC4919664B7}"/>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D6EEA4B-CD89-D41D-A86C-927D66DAC422}"/>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CBDA70B-7FAC-5853-083E-48951390D317}"/>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4B9A1663-F6D2-5649-10A1-041B26621D0D}"/>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45061455-8BF3-E216-7C96-FA4B01D0D593}"/>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D1D8C309-0CB9-C848-B9BE-FC7B00997F5E}"/>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2FD4E6A4-DF02-BB98-FC6C-3C9373D38BBE}"/>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EAE339A3-256E-A64C-96C9-C5A7A2D38EDD}"/>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76038BE0-8B34-8AFF-8A48-CBD6C0A591A0}"/>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85D62BAE-7602-7580-154A-070FA9B7AC28}"/>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04E931EC-D2FE-DC32-7135-0D2580339FB5}"/>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E7A70386-5069-1424-892C-2E830726EB94}"/>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3644B24B-2879-FCF9-0BE9-318EDB3785F7}"/>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22A3C317-D31E-7E13-DE5B-9767F142C5C9}"/>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84C00BC4-CEB0-4877-88B8-22F0789CED93}"/>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E06C8DD3-B942-F39C-D891-CE460703C84C}"/>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19A12845-BFCE-8932-96AF-BD21BB09A5EA}"/>
              </a:ext>
            </a:extLst>
          </p:cNvPr>
          <p:cNvGrpSpPr/>
          <p:nvPr/>
        </p:nvGrpSpPr>
        <p:grpSpPr>
          <a:xfrm>
            <a:off x="3171008" y="8156484"/>
            <a:ext cx="2801619" cy="5049358"/>
            <a:chOff x="3171008" y="1372226"/>
            <a:chExt cx="2801619" cy="5049358"/>
          </a:xfrm>
        </p:grpSpPr>
        <p:sp>
          <p:nvSpPr>
            <p:cNvPr id="101" name="TextBox 100">
              <a:extLst>
                <a:ext uri="{FF2B5EF4-FFF2-40B4-BE49-F238E27FC236}">
                  <a16:creationId xmlns:a16="http://schemas.microsoft.com/office/drawing/2014/main" id="{AA9812B0-BFAB-3236-7F9E-C8D7C10E24DE}"/>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C2A98319-C683-698C-95A1-B7A979982943}"/>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F3937625-DAA5-7A92-0EC9-69082549491A}"/>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DE912476-8ED1-1FF0-C9B1-3559D45528FB}"/>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294ED761-8C05-4283-D96C-915FEC72A42C}"/>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0F0D3BF1-1F84-D98B-82E1-1577B14F29F1}"/>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272A976A-7848-B880-D6F4-1C5B9C33D9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79662"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9A7A0C3B-19BE-996B-7BA7-5514C52DB4A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8040055"/>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E6C5FB6B-1488-22D8-327B-3B65118B0B26}"/>
              </a:ext>
            </a:extLst>
          </p:cNvPr>
          <p:cNvSpPr/>
          <p:nvPr/>
        </p:nvSpPr>
        <p:spPr>
          <a:xfrm>
            <a:off x="12579662"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28BB769B-30BA-3585-56B0-E0421B83E622}"/>
              </a:ext>
            </a:extLst>
          </p:cNvPr>
          <p:cNvSpPr/>
          <p:nvPr/>
        </p:nvSpPr>
        <p:spPr>
          <a:xfrm>
            <a:off x="6240380" y="9832236"/>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93EBC4D2-A27C-AE75-F4E0-608CF0A23481}"/>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B6071BDD-F739-5F4F-BC53-C884ADDBF546}"/>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7E26E643-8408-1FC4-3BB3-5A2EF8F2D30C}"/>
              </a:ext>
            </a:extLst>
          </p:cNvPr>
          <p:cNvSpPr/>
          <p:nvPr/>
        </p:nvSpPr>
        <p:spPr>
          <a:xfrm>
            <a:off x="8830961" y="836415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2C377274-1A98-D6CF-CCB8-7BB3D2FD130B}"/>
              </a:ext>
            </a:extLst>
          </p:cNvPr>
          <p:cNvSpPr/>
          <p:nvPr/>
        </p:nvSpPr>
        <p:spPr>
          <a:xfrm>
            <a:off x="9312121"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FF519F5E-D521-16DE-55F1-446231F9912A}"/>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56C46D9C-6115-29DA-BEC9-BF023EA95379}"/>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E024C317-0F92-154C-42B1-7C751B5C79EC}"/>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579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6E1A7B5-0394-912B-D2AE-D5E67F2C684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EA98543-9D85-BC59-2FF6-7403FC158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8397429E-772F-7416-95B5-EECDD449A710}"/>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6AFC3BF3-F802-ED06-35A5-36D6F83901FB}"/>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124CD308-531F-F052-C844-6E21D18E4042}"/>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5E21898C-0096-130A-8863-0E75638F45BC}"/>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98A29A8-AD09-2D49-A026-EFD3DBC829E5}"/>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96B595F2-D1E6-860A-D2B9-206A1D0B2586}"/>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C3EE21A8-5982-5D1C-DA0C-FB1061B78981}"/>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CC3C0405-0529-66D8-02CB-2CE0583489F7}"/>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rPr>
              <a:t>Key Insights &amp; Conclusions</a:t>
            </a:r>
          </a:p>
        </p:txBody>
      </p:sp>
      <p:sp>
        <p:nvSpPr>
          <p:cNvPr id="10" name="TextBox 9">
            <a:extLst>
              <a:ext uri="{FF2B5EF4-FFF2-40B4-BE49-F238E27FC236}">
                <a16:creationId xmlns:a16="http://schemas.microsoft.com/office/drawing/2014/main" id="{54652B66-20E9-09AC-7C9A-AA03209062E5}"/>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E6AF00">
                    <a:alpha val="10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E57071A8-69E8-6EFC-0B78-5FFD50FB37EA}"/>
              </a:ext>
            </a:extLst>
          </p:cNvPr>
          <p:cNvCxnSpPr/>
          <p:nvPr/>
        </p:nvCxnSpPr>
        <p:spPr>
          <a:xfrm>
            <a:off x="6096000"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BABE38E-0707-6BDB-6FFE-EA3B7E1E5CE5}"/>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238EA0E-B73B-F9DD-319E-3CEA96CD8800}"/>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7522D6-3C88-AA02-A840-42B6BFACDC04}"/>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9D219A6-9A68-2DF0-096E-F7F66CBE43E9}"/>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135B40C-9A71-A0BB-8D27-95CF779C8145}"/>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453E9E2-21AA-0C26-8DF7-25C459E10F16}"/>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C3672619-8A83-B23C-2554-6C4F2628D4F8}"/>
              </a:ext>
            </a:extLst>
          </p:cNvPr>
          <p:cNvSpPr/>
          <p:nvPr/>
        </p:nvSpPr>
        <p:spPr>
          <a:xfrm>
            <a:off x="272801"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66D80062-46FA-D77C-0E93-0438A7345DB7}"/>
              </a:ext>
            </a:extLst>
          </p:cNvPr>
          <p:cNvSpPr/>
          <p:nvPr/>
        </p:nvSpPr>
        <p:spPr>
          <a:xfrm>
            <a:off x="272801"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C0BEA0DE-DFD9-7F60-B15C-6004763286B7}"/>
              </a:ext>
            </a:extLst>
          </p:cNvPr>
          <p:cNvSpPr/>
          <p:nvPr/>
        </p:nvSpPr>
        <p:spPr>
          <a:xfrm>
            <a:off x="272801"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495D129A-3CB2-B590-70EF-F352F2683A61}"/>
              </a:ext>
            </a:extLst>
          </p:cNvPr>
          <p:cNvSpPr/>
          <p:nvPr/>
        </p:nvSpPr>
        <p:spPr>
          <a:xfrm>
            <a:off x="272801"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C364C902-7346-27D7-A8DF-9C807290CA12}"/>
              </a:ext>
            </a:extLst>
          </p:cNvPr>
          <p:cNvSpPr/>
          <p:nvPr/>
        </p:nvSpPr>
        <p:spPr>
          <a:xfrm>
            <a:off x="272801"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1FC6B66C-FEB4-CE26-BE72-2F13E893EAFB}"/>
              </a:ext>
            </a:extLst>
          </p:cNvPr>
          <p:cNvSpPr/>
          <p:nvPr/>
        </p:nvSpPr>
        <p:spPr>
          <a:xfrm>
            <a:off x="272801"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EAD0549D-921A-7339-68F2-BACF4D550069}"/>
              </a:ext>
            </a:extLst>
          </p:cNvPr>
          <p:cNvSpPr txBox="1"/>
          <p:nvPr/>
        </p:nvSpPr>
        <p:spPr>
          <a:xfrm>
            <a:off x="586607"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B5ACB9E0-DA13-AD95-7FD5-3288AAAF348F}"/>
              </a:ext>
            </a:extLst>
          </p:cNvPr>
          <p:cNvSpPr txBox="1"/>
          <p:nvPr/>
        </p:nvSpPr>
        <p:spPr>
          <a:xfrm>
            <a:off x="586607"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E16CEB93-BFDD-6859-2A51-28CE077F03B6}"/>
              </a:ext>
            </a:extLst>
          </p:cNvPr>
          <p:cNvSpPr txBox="1"/>
          <p:nvPr/>
        </p:nvSpPr>
        <p:spPr>
          <a:xfrm>
            <a:off x="586607"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FCDD0230-22E9-C659-D6E4-862E4373B967}"/>
              </a:ext>
            </a:extLst>
          </p:cNvPr>
          <p:cNvSpPr txBox="1"/>
          <p:nvPr/>
        </p:nvSpPr>
        <p:spPr>
          <a:xfrm>
            <a:off x="586607"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20CF32E5-DAAA-2494-5C29-E02B7C160AD7}"/>
              </a:ext>
            </a:extLst>
          </p:cNvPr>
          <p:cNvSpPr txBox="1"/>
          <p:nvPr/>
        </p:nvSpPr>
        <p:spPr>
          <a:xfrm>
            <a:off x="586607"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AEB97AE5-D1C4-F20D-9802-2110EE2C7243}"/>
              </a:ext>
            </a:extLst>
          </p:cNvPr>
          <p:cNvSpPr txBox="1"/>
          <p:nvPr/>
        </p:nvSpPr>
        <p:spPr>
          <a:xfrm>
            <a:off x="586607"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sp>
        <p:nvSpPr>
          <p:cNvPr id="101" name="TextBox 100">
            <a:extLst>
              <a:ext uri="{FF2B5EF4-FFF2-40B4-BE49-F238E27FC236}">
                <a16:creationId xmlns:a16="http://schemas.microsoft.com/office/drawing/2014/main" id="{27A9E8CF-1DF6-5457-CBF3-0AAC0C6E4DC1}"/>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34DD342D-5667-25B8-8F8B-387F022BEF05}"/>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FD0E9318-4872-8B5F-E35C-0763E0A1AB55}"/>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AA000F7D-7240-2C50-2570-647A62CA1A10}"/>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431C4D7C-98A9-DABD-9508-56A250F99EF5}"/>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D9DDDDE8-0F3F-7C88-748E-18775089DB93}"/>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pic>
        <p:nvPicPr>
          <p:cNvPr id="113" name="Picture 112">
            <a:extLst>
              <a:ext uri="{FF2B5EF4-FFF2-40B4-BE49-F238E27FC236}">
                <a16:creationId xmlns:a16="http://schemas.microsoft.com/office/drawing/2014/main" id="{07726AE3-BB5F-1A2B-8754-7705E6230A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8833483C-D904-CE63-EC5D-9ED2A60DED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3775451"/>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747C65EE-F7BF-3FE0-AF6B-B75196A273FD}"/>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B267BEC3-2AC5-4995-3C82-1F03CC658D8F}"/>
              </a:ext>
            </a:extLst>
          </p:cNvPr>
          <p:cNvSpPr/>
          <p:nvPr/>
        </p:nvSpPr>
        <p:spPr>
          <a:xfrm>
            <a:off x="6240380" y="5567632"/>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F887A645-E3CA-9DB9-DBED-53B0B9C38555}"/>
              </a:ext>
            </a:extLst>
          </p:cNvPr>
          <p:cNvSpPr/>
          <p:nvPr/>
        </p:nvSpPr>
        <p:spPr>
          <a:xfrm>
            <a:off x="791527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E535B093-EEAE-ED7F-1E81-55C7BD827BC4}"/>
              </a:ext>
            </a:extLst>
          </p:cNvPr>
          <p:cNvSpPr/>
          <p:nvPr/>
        </p:nvSpPr>
        <p:spPr>
          <a:xfrm>
            <a:off x="7357305"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64C17749-E8BD-DC20-069F-78E5F59454D4}"/>
              </a:ext>
            </a:extLst>
          </p:cNvPr>
          <p:cNvSpPr/>
          <p:nvPr/>
        </p:nvSpPr>
        <p:spPr>
          <a:xfrm>
            <a:off x="8830961" y="409954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36476415-AF27-6D73-9E59-86B1E4A9FF5B}"/>
              </a:ext>
            </a:extLst>
          </p:cNvPr>
          <p:cNvSpPr/>
          <p:nvPr/>
        </p:nvSpPr>
        <p:spPr>
          <a:xfrm>
            <a:off x="9312121" y="4024194"/>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3CF197C0-FED8-6BCB-94A7-D9246F0909E8}"/>
              </a:ext>
            </a:extLst>
          </p:cNvPr>
          <p:cNvCxnSpPr>
            <a:cxnSpLocks/>
          </p:cNvCxnSpPr>
          <p:nvPr/>
        </p:nvCxnSpPr>
        <p:spPr>
          <a:xfrm flipV="1">
            <a:off x="8739188" y="407945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68D9C663-137D-256F-0DFC-E393EEDA33A6}"/>
              </a:ext>
            </a:extLst>
          </p:cNvPr>
          <p:cNvCxnSpPr>
            <a:cxnSpLocks/>
          </p:cNvCxnSpPr>
          <p:nvPr/>
        </p:nvCxnSpPr>
        <p:spPr>
          <a:xfrm flipV="1">
            <a:off x="9596438" y="39839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7400C5EE-16B2-46EE-FF00-E1B86DF6C7B0}"/>
              </a:ext>
            </a:extLst>
          </p:cNvPr>
          <p:cNvCxnSpPr>
            <a:cxnSpLocks/>
          </p:cNvCxnSpPr>
          <p:nvPr/>
        </p:nvCxnSpPr>
        <p:spPr>
          <a:xfrm>
            <a:off x="9172574" y="4375229"/>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534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40BD71A-06B0-F9B7-E85C-3B09CF83DA4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218147F-F9BB-4767-C3B3-F15FA478D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E58ACF5-F073-9FCB-8FDF-B24132A8F528}"/>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A80106A1-BA68-B041-93FD-5715C6869387}"/>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1E863077-BDC0-70D4-8A5D-41D1088F21FE}"/>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95B6A064-9839-B558-C73B-3C3F7365E73F}"/>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0EBA59B-5935-EF52-E4C1-0D26A6752F5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4341BF91-545F-A031-9294-057EAE65FE47}"/>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FC78883C-07CB-9910-D640-42596FA79F8D}"/>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D724C33B-2763-528E-ADE6-BA95A7495EB9}"/>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5ACC537A-4C3D-CDFC-8BE0-82D18484493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62569D88-74FF-DCD2-873E-3F085FF20DFD}"/>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36E91D94-DE75-E0A8-DC0F-8291B76B2C0D}"/>
              </a:ext>
            </a:extLst>
          </p:cNvPr>
          <p:cNvGrpSpPr/>
          <p:nvPr/>
        </p:nvGrpSpPr>
        <p:grpSpPr>
          <a:xfrm>
            <a:off x="2411509" y="1604426"/>
            <a:ext cx="707325" cy="4566893"/>
            <a:chOff x="2411509" y="1604426"/>
            <a:chExt cx="707325" cy="4566893"/>
          </a:xfrm>
        </p:grpSpPr>
        <p:cxnSp>
          <p:nvCxnSpPr>
            <p:cNvPr id="42" name="Straight Arrow Connector 41">
              <a:extLst>
                <a:ext uri="{FF2B5EF4-FFF2-40B4-BE49-F238E27FC236}">
                  <a16:creationId xmlns:a16="http://schemas.microsoft.com/office/drawing/2014/main" id="{1F8A7052-F86F-A33D-E07D-56001E0FC18F}"/>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6CF5484-1E64-C069-792E-DCEC29216CC7}"/>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264E403-8DE7-0A2E-FB08-977330C69C54}"/>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FAC8434-A4F8-040A-30A7-177FEDCFCFA7}"/>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6C5B07A-7C53-3E9F-EDDC-B265DB888DD5}"/>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B84757E-BB00-7B77-69FA-0DE27BF7DCFA}"/>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A8FCD7D4-167A-17EB-BA0B-5F9F7F76FDB4}"/>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A043E4ED-C591-9181-1911-B44B88A7E748}"/>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453311F9-9575-A359-49B0-1D4678A0D275}"/>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62C0BDDA-D337-1A9A-86F5-6C7B78BBC450}"/>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BAEBAE55-06C8-2312-8948-E7463C284733}"/>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A545A46C-0646-4A12-941A-FB8F9C9C6CF1}"/>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507CB7D4-E8C0-1817-5A47-E73A0A07D387}"/>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9284EBD1-7CFF-0FE5-C379-C0E573F8846A}"/>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ECD38E07-7769-0C01-7054-6EA6FD684E45}"/>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0505084A-E190-6E8D-5E1B-313E7863CB58}"/>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72AC43E4-D8DE-CFD8-27B4-BCD69AE219FE}"/>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7F7C8E69-EF10-51C1-A2DC-5BD79CD8F54C}"/>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B6FA653A-F7F9-38AD-1C33-36F3C7FA672B}"/>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A53FB8F7-379A-77F3-C709-BA3693271E43}"/>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EB4CB163-4533-5753-5FCE-C416AE001BEB}"/>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3232B493-66F7-B053-2E4F-54DC8C218B54}"/>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F75B5D4F-2682-F6E5-03A8-1D76DD1E57AB}"/>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4B67F08E-E9E9-4DD7-E927-55B2B0234201}"/>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BC46872C-77E0-AB58-48D1-ECD12305143F}"/>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FA1C74A4-55CB-5B27-91CA-818353BC4767}"/>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BB909E1A-11D8-F2E6-646C-0F6CCAA666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79662"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59E2EAC0-CBA4-78B8-8F7A-2CE5FFB71E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8040055"/>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27955C99-C265-91AF-CA9B-FBAFE9E51E3F}"/>
              </a:ext>
            </a:extLst>
          </p:cNvPr>
          <p:cNvSpPr/>
          <p:nvPr/>
        </p:nvSpPr>
        <p:spPr>
          <a:xfrm>
            <a:off x="12579662"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9777B690-9B9E-E637-A103-D69D8161BA2B}"/>
              </a:ext>
            </a:extLst>
          </p:cNvPr>
          <p:cNvSpPr/>
          <p:nvPr/>
        </p:nvSpPr>
        <p:spPr>
          <a:xfrm>
            <a:off x="6240380" y="9832236"/>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94774F31-E402-AA00-4D08-E62639D9BFF6}"/>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53A03989-DDB2-9862-0FF8-11B89CCD2933}"/>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3D076F99-AD78-8576-1C11-792D48251C45}"/>
              </a:ext>
            </a:extLst>
          </p:cNvPr>
          <p:cNvSpPr/>
          <p:nvPr/>
        </p:nvSpPr>
        <p:spPr>
          <a:xfrm>
            <a:off x="8830961" y="836415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56F93004-8EB7-3D77-6330-B458A883E7A9}"/>
              </a:ext>
            </a:extLst>
          </p:cNvPr>
          <p:cNvSpPr/>
          <p:nvPr/>
        </p:nvSpPr>
        <p:spPr>
          <a:xfrm>
            <a:off x="9312121"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79C48062-151D-6CA3-6E51-A660E90B40AC}"/>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D0BE7408-F0DF-4770-9994-4895D768E10B}"/>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33C137FA-748D-F5CF-CA38-88DBAD1A9170}"/>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6689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10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FF6F61-3A9C-CA5F-CA25-D629A1BFA3C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A6805BA-4D60-7F0E-1E86-385B74C770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20EA073D-DBF5-F168-2204-86E436E319BD}"/>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B3D86FF-3FC8-F510-23B8-2190FF3ABC55}"/>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677B310-96FB-C1F7-B543-F45C951579D1}"/>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89FFAEB7-C8A1-DF86-3E26-671E89651E34}"/>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8D4E7E10-4554-A970-109E-F9A1DA3990D0}"/>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2DF0D7E4-98EF-646B-2913-AA2A41D77E47}"/>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C280F7D-756D-DA74-10AA-E46BBA7B7B6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13E7DC41-C917-5695-70E4-2C56FA0E6107}"/>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C0FDC5BF-4370-782A-3289-5BEA2F44DF50}"/>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3EFAED8E-C913-8FB3-6390-11BD66049D06}"/>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883DC79-F0D1-DE41-003F-6557BFE1CD8B}"/>
              </a:ext>
            </a:extLst>
          </p:cNvPr>
          <p:cNvGrpSpPr/>
          <p:nvPr/>
        </p:nvGrpSpPr>
        <p:grpSpPr>
          <a:xfrm>
            <a:off x="2411509"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F407D9EE-7DC1-D8F1-05AF-D08D7F55DEB8}"/>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DA9B512-3C34-7507-1F43-CB68DE61EC35}"/>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57E8CE9-6B34-553E-80BE-893A506CDE42}"/>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6EB5AF9-F042-0D16-C9DB-B6FE38343972}"/>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CB815BB-ED18-825B-1D4E-A98F8F70FA2D}"/>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E9DE7B8-6033-CB21-B3A4-9AEC53A76C7D}"/>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77D38AD1-1234-B3A4-B6D6-D0BB5EA8004E}"/>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13BBF927-C19B-6D1C-BD9C-4A8429884D78}"/>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2B5C590B-4AFD-E4DB-E27D-42CE5BED1C26}"/>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F73DC286-5B42-1857-2254-1AC723223146}"/>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7F930AEA-876C-2CF1-21DA-41CC07B32C79}"/>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DAE32DCB-0FB1-467A-EB78-933372B421EE}"/>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90D0078F-8E3F-7D16-6731-A5305BAA4E5B}"/>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5E4C7137-25EF-3955-5A9E-122D98B4358A}"/>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1FDBA2E3-CF83-8178-A7D9-577C045323F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4E25772A-22D9-F058-44B0-7FE0932C02C1}"/>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6C6D0925-FF8E-555C-428A-9355667DDC02}"/>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20EBA968-0D56-843B-C064-42A9C21835BA}"/>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F4FA6EF0-8D1C-963C-74FC-F9FFDC68C3F9}"/>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B50198A0-7056-F933-0A53-1BC273FE8547}"/>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E64E31C4-5ADC-DE4A-F775-C7B6F6F6E4FF}"/>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9C9C72CD-991F-3718-8681-AEA56BFDE3EB}"/>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7F9C7BD2-B5A9-631A-9332-5BB6C9C22642}"/>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F6D73E91-6526-4493-40A2-929C1829C874}"/>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97CF707B-DEF7-3862-01E2-07AEFDB28C59}"/>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135DA671-335C-6D35-9725-59FEE9A84669}"/>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C5AB01F6-D821-281A-D236-EE3DB8BA6F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05806"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FEB3C9C0-D019-E474-6D45-F486472119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240502" y="7438413"/>
            <a:ext cx="3141712" cy="1717469"/>
          </a:xfrm>
          <a:prstGeom prst="rect">
            <a:avLst/>
          </a:prstGeom>
          <a:effectLst>
            <a:outerShdw blurRad="317500" sx="102000" sy="102000" algn="ctr" rotWithShape="0">
              <a:srgbClr val="C29524">
                <a:alpha val="50000"/>
              </a:srgbClr>
            </a:outerShdw>
          </a:effectLst>
        </p:spPr>
      </p:pic>
      <p:sp>
        <p:nvSpPr>
          <p:cNvPr id="123" name="Rectangle: Rounded Corners 122">
            <a:extLst>
              <a:ext uri="{FF2B5EF4-FFF2-40B4-BE49-F238E27FC236}">
                <a16:creationId xmlns:a16="http://schemas.microsoft.com/office/drawing/2014/main" id="{8100D85C-64FF-9862-DD11-4DDC4DD1E718}"/>
              </a:ext>
            </a:extLst>
          </p:cNvPr>
          <p:cNvSpPr/>
          <p:nvPr/>
        </p:nvSpPr>
        <p:spPr>
          <a:xfrm>
            <a:off x="14062247" y="9221727"/>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7CCD1BE1-3D83-5AE2-F620-21F64CEF5F22}"/>
              </a:ext>
            </a:extLst>
          </p:cNvPr>
          <p:cNvSpPr/>
          <p:nvPr/>
        </p:nvSpPr>
        <p:spPr>
          <a:xfrm>
            <a:off x="14028823"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F12DDFD0-CB87-70B2-135E-6DBAC5B1FF5A}"/>
              </a:ext>
            </a:extLst>
          </p:cNvPr>
          <p:cNvSpPr/>
          <p:nvPr/>
        </p:nvSpPr>
        <p:spPr>
          <a:xfrm>
            <a:off x="13484313"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C4ED0434-6C30-4924-7E1B-EBE56E87CD13}"/>
              </a:ext>
            </a:extLst>
          </p:cNvPr>
          <p:cNvSpPr/>
          <p:nvPr/>
        </p:nvSpPr>
        <p:spPr>
          <a:xfrm>
            <a:off x="15095760"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91DC5B60-6BBA-0199-8CDF-481485EF4E26}"/>
              </a:ext>
            </a:extLst>
          </p:cNvPr>
          <p:cNvSpPr/>
          <p:nvPr/>
        </p:nvSpPr>
        <p:spPr>
          <a:xfrm>
            <a:off x="15576920"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52E86939-89BE-9E51-3A51-B8BB6C348A60}"/>
              </a:ext>
            </a:extLst>
          </p:cNvPr>
          <p:cNvCxnSpPr>
            <a:cxnSpLocks/>
          </p:cNvCxnSpPr>
          <p:nvPr/>
        </p:nvCxnSpPr>
        <p:spPr>
          <a:xfrm flipV="1">
            <a:off x="15003987"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A72100CD-B713-8D6A-0668-46F17349EFBF}"/>
              </a:ext>
            </a:extLst>
          </p:cNvPr>
          <p:cNvCxnSpPr>
            <a:cxnSpLocks/>
          </p:cNvCxnSpPr>
          <p:nvPr/>
        </p:nvCxnSpPr>
        <p:spPr>
          <a:xfrm flipV="1">
            <a:off x="15861237"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73F173B4-6B07-6C7A-6D08-7CF57B2CCE7E}"/>
              </a:ext>
            </a:extLst>
          </p:cNvPr>
          <p:cNvCxnSpPr>
            <a:cxnSpLocks/>
          </p:cNvCxnSpPr>
          <p:nvPr/>
        </p:nvCxnSpPr>
        <p:spPr>
          <a:xfrm>
            <a:off x="15437373"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C5FE5969-622A-33F3-77E9-8FF34EC73E95}"/>
              </a:ext>
            </a:extLst>
          </p:cNvPr>
          <p:cNvSpPr/>
          <p:nvPr/>
        </p:nvSpPr>
        <p:spPr>
          <a:xfrm>
            <a:off x="12402623"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1621779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9C43E4-1390-B89C-FD76-D1FC4613DC4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6653927-895F-2EED-6A3C-3A56865A3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32A8251-7918-69CF-77C2-CEF07C30E82C}"/>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B9F0914B-82CB-F453-7A36-ED3ED26AEC10}"/>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B314FE6-3206-9184-F454-FB1D110CBE7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1B6B1FB8-430E-264F-AF93-E60DFE456AFF}"/>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D4731E6E-EE28-D0B3-1145-9BB5D2AC0FA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2E67243E-4CA0-487C-EE5F-85B7A4C1D470}"/>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A66AA2B-62C2-E71B-2192-3F1E35DBAB54}"/>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6D63A52-40A2-54AA-04FA-FBAAB303B9C0}"/>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421C03FA-1B89-317B-5563-DE3760375ED7}"/>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34FCE394-9F18-A6DD-606E-ED349C9377C2}"/>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3D55AB5A-BDF8-3EAD-3784-98DB0DED4876}"/>
              </a:ext>
            </a:extLst>
          </p:cNvPr>
          <p:cNvGrpSpPr/>
          <p:nvPr/>
        </p:nvGrpSpPr>
        <p:grpSpPr>
          <a:xfrm>
            <a:off x="2411509"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79705CE2-299F-118E-791A-776BDCA48EA2}"/>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1521336-B25D-70C5-436F-D867CA3144F3}"/>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A009B8C-64D2-B4BF-8425-7DDB5BF2EFD4}"/>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CB6F86A-07E6-E565-C990-3E5A93F31B8D}"/>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48F300B-7FDE-171D-3F55-CBC92D18CF3E}"/>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2B6B49C-E948-494E-A4B0-9F84580FB8E2}"/>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30252AE9-1B4B-591B-6F09-A6242477936A}"/>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17CD4F5D-D76E-BBE0-94C4-DE3131C81E05}"/>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8F838A98-0936-EF7E-EEF1-08308AC4D629}"/>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BB6DA2D7-F46D-D21B-6981-D93725384D2D}"/>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0F1B8A95-7C17-3F65-BE85-B997C7BFDA00}"/>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236B10F1-8231-8A8B-B680-3A3B3964EE5F}"/>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87C14C25-1571-CE02-47A6-FB8C8C647E38}"/>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913B96C6-9B7C-6362-CA96-8E6C997C9FD4}"/>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2C7A2004-D793-A629-9202-BEC92BC5BEA5}"/>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D8DEE022-82EC-0E3E-5917-2589A3009067}"/>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1221C9A0-3F90-FB5C-D533-1D364E4FA39D}"/>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AA809BB5-636C-BEAE-5DA7-AED6CB840A82}"/>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7FD43EEC-2499-7FB2-A139-1318C5B22574}"/>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4EBFFCC4-C6C0-80CA-C4D7-1D91D3907D5C}"/>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94080EB2-CC37-5B1F-FC6C-A8DF802F4696}"/>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09196C85-733B-1504-01E0-B076D8101AEF}"/>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3096AE92-1567-7724-E490-54663A33D1E2}"/>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979E059B-B7E6-7647-022B-02AA5EE31AFC}"/>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C7C2EEBC-5ECD-975F-6CC3-3E1CC94C0DFD}"/>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55AAB244-E611-6E75-9878-14B8A62274B9}"/>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301B0698-B949-E744-8BCC-5BC7F05102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8805B0D5-1EB4-B418-C464-A38A10265B8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4B76B9AF-0A94-604E-D2B3-765A3754EA5C}"/>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C5732DDE-D6E5-1ACE-8F31-F8CAC6F718EA}"/>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B387278F-70E6-FBB5-DD8D-C234C4516911}"/>
              </a:ext>
            </a:extLst>
          </p:cNvPr>
          <p:cNvSpPr/>
          <p:nvPr/>
        </p:nvSpPr>
        <p:spPr>
          <a:xfrm>
            <a:off x="1304183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FD2A76DA-F5B0-5B05-3379-6A0E479531B0}"/>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918EB833-43FC-8EBA-9469-9E539B2C8A1A}"/>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9FB644C0-856B-78DD-4CE6-C0A503C2ED5B}"/>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98C8429C-6D87-833C-7CD2-9930813C7D33}"/>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613D931D-5728-4F9F-A9A6-AAFEEC011617}"/>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D9D747F1-54E9-9080-8EDC-A6BCD9BCC41B}"/>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525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0988F0-5D11-0280-5396-7EA2544B0C6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753F4A4-6A18-0AFA-4E59-A257192F53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794F2C07-D8D5-9F42-418D-DE573F6FE0E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BA4F7A0E-6885-7040-9432-D3AC1D656869}"/>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B863098B-01EF-7BCE-1371-93D657FBCCFB}"/>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E3D767A9-7861-216E-17B0-0D98EA4BB1D2}"/>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12408B45-183C-7A80-BB30-F72F6129259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0437A20B-6885-6E14-1451-2866D6E4C7B0}"/>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038A4A3F-B9E3-0C82-B742-4A0B2DCD4E9F}"/>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090442F6-3DE4-C8F4-B8E1-B1526EC35FF4}"/>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CBD612CC-7C42-8F2B-77B3-81A406899D37}"/>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52C08557-3041-2F88-78D0-2E0CB2A180A0}"/>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E0110EAB-EA31-2521-D792-FCE6D6431B40}"/>
              </a:ext>
            </a:extLst>
          </p:cNvPr>
          <p:cNvGrpSpPr/>
          <p:nvPr/>
        </p:nvGrpSpPr>
        <p:grpSpPr>
          <a:xfrm>
            <a:off x="2411509"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80A3C51E-898D-6948-CD13-C44251A47139}"/>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A882602-6BF2-D208-8FF7-C4C6F1328BDB}"/>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7E2DF87-6F52-CDF8-5612-7DABB7E0800A}"/>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6572211-2F32-1A0D-9C43-101F64A9E360}"/>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2D11CF19-DCD6-9433-630F-B1F3566170F1}"/>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CC81222-71ED-1D1E-F764-00585B52583A}"/>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946FFD77-82B9-9516-2E13-09F29AF86089}"/>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ABF04EE1-463F-7D3F-8144-B8847D923C51}"/>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61902DF3-FF8E-534E-BA95-6F0DDBD3CDFE}"/>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42CF95BE-E90A-0C78-05F5-4B2BCFEB800D}"/>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6FEA45E3-08B9-34F5-63D1-EBDE5C9F0EB3}"/>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F7CF2A93-FB03-AB98-91B0-851FEE6A9560}"/>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6F937471-50C6-C05E-617C-F2F924B7B92A}"/>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DC2C3B61-EEE5-2857-53FF-964334344B58}"/>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B3499691-B428-EA9B-D4CE-2B57E00AF041}"/>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342A926B-6A69-4960-6501-FBD6696AA263}"/>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D8D5A122-3AE1-8F17-49FF-30E23513758C}"/>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3314CD9C-7B96-7C65-0C0F-A75647BDEF90}"/>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5A41B3B8-98E4-394C-14D6-AAA0468A5815}"/>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C6A4984C-C536-3ABB-2574-BD008ED7C22C}"/>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53428B38-3F7E-5935-D96D-26CAC23445BF}"/>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40B1C40E-B5B3-0AB3-1675-1CF11351968D}"/>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36461C82-665B-3093-2B89-127EF80A26DA}"/>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2D34AB5D-E525-09A0-3EE2-75469E9F6D3E}"/>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93878F29-7AB4-A7DB-C905-07AF24AF82D0}"/>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78C78AF9-C5C9-3AFF-7B35-452E419BF4CE}"/>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C6AF53EE-2AF9-2AB2-F950-C719A093A4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BF4F9533-8059-510F-4DC8-EDEAE4A99F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579662"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185E0122-D395-9158-FEE0-D94303691FF0}"/>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C7A8CE28-FF57-8FF0-5CE3-67210AD99356}"/>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85598330-425D-1DF3-54DA-B0617CA62AB4}"/>
              </a:ext>
            </a:extLst>
          </p:cNvPr>
          <p:cNvSpPr/>
          <p:nvPr/>
        </p:nvSpPr>
        <p:spPr>
          <a:xfrm>
            <a:off x="7970327"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066EF800-EAB1-3304-58D4-219175E988A1}"/>
              </a:ext>
            </a:extLst>
          </p:cNvPr>
          <p:cNvSpPr/>
          <p:nvPr/>
        </p:nvSpPr>
        <p:spPr>
          <a:xfrm>
            <a:off x="7396320"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D9959877-262C-9EE8-A25E-A9558AF75240}"/>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396092BC-9553-6804-5CE4-69B1C5CE398D}"/>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24A436FD-25C2-0233-CC07-26ADB097BC13}"/>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1896DA8D-DC02-2A09-147A-05BE2E227677}"/>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062AD38D-9566-DFE2-3447-1E05BA94F5B1}"/>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9304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47D756-B3C2-8179-8CAC-19A1EB28783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150593D-D8D1-85E9-4278-116C157CE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EE0FA76C-EA33-58AA-D213-9D971D3205BE}"/>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B1E00E64-A302-BF9B-A5C7-C200940F496F}"/>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CD8E311-D9FA-B275-E0B4-0C7E515D04D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96404AFD-54F1-3057-572E-5060D8B7D70A}"/>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548D06D-745A-53A3-1D78-1C9DFF1644EB}"/>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6D1F24F0-6049-0D2A-51C2-C98954417059}"/>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A118BC1A-A139-68C1-4CDD-6D03C3847CD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8F69B6E7-1C72-37FD-1918-87E6E2434A3C}"/>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4FE44229-CEEA-F77C-8C9E-DF3C5666920B}"/>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2FA4B584-4461-989C-E9FB-78BEDF672B67}"/>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B714241C-F985-3851-7E55-063BA9642209}"/>
              </a:ext>
            </a:extLst>
          </p:cNvPr>
          <p:cNvGrpSpPr/>
          <p:nvPr/>
        </p:nvGrpSpPr>
        <p:grpSpPr>
          <a:xfrm>
            <a:off x="2411509"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A2710D1C-5B77-F233-51C1-4DD4572F16BA}"/>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02B00EB1-C70F-2F0D-8D97-8FB9EBB4A9C1}"/>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097FE87-9A70-6476-43B3-1321F3090DAD}"/>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2D79EDC-604D-E446-D95D-B71C5E83B790}"/>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24E0AAE-89EF-7742-FFA1-CD875E337FE2}"/>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5ACE165-2315-C7ED-68AA-07C099FAF635}"/>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AFBB33F5-115D-2038-38A0-439A1B10CB18}"/>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5C19C586-9F38-C4FD-A83C-ED87991D99D5}"/>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45560345-135B-F4BD-87E3-B5FE6423E38A}"/>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746CB958-617F-CB4A-3581-F98C9684853F}"/>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5BD2947B-1A06-BD16-CA85-B16EC20BAB94}"/>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C10911B1-7667-1801-991B-1A7A3B8D61D8}"/>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DE6BAA05-3BE5-5576-9CF9-6DDA137EC8FC}"/>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1885BE57-B46E-D112-B41E-0BA5B46BC313}"/>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0E5E6EFC-CD44-9052-F2B8-02C0C52A94A0}"/>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72682621-184E-8790-A1EA-3EDB690A67D5}"/>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17A66376-348A-C007-BFD0-EE0A9A2F60E8}"/>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0163ABAA-B4BD-00BA-79D4-0EDE9CD74215}"/>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1780DB3B-B8A4-8320-8638-3896BA54B89C}"/>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112BD1F7-8E1E-89F1-E711-EBD72955555B}"/>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F9A437E2-75EB-6011-4996-7BA8AC5BBB77}"/>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EF751A23-F621-EEC3-DDBF-818EF56DF4C1}"/>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0D76D51A-501E-F74E-A8B4-74CB24A84F5C}"/>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132FE17F-41CE-8194-1A3D-C6BBC63F38D3}"/>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6E57276D-B669-5A5D-2CA9-611D90AFC6AA}"/>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02654685-79DC-1B55-6188-6D2BC550106D}"/>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436968F5-8FEC-878A-66A4-D707663B44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C2F689AF-4259-4724-6E3C-B2C051FE11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7033"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53DBBF1C-40FC-1E72-3A3D-3BA9684688BC}"/>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0847A345-8025-9890-7A2A-3158EA354FEF}"/>
              </a:ext>
            </a:extLst>
          </p:cNvPr>
          <p:cNvSpPr/>
          <p:nvPr/>
        </p:nvSpPr>
        <p:spPr>
          <a:xfrm>
            <a:off x="12497322"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AC4A2B7D-AAC8-1008-CC52-6700F714DAAB}"/>
              </a:ext>
            </a:extLst>
          </p:cNvPr>
          <p:cNvSpPr/>
          <p:nvPr/>
        </p:nvSpPr>
        <p:spPr>
          <a:xfrm>
            <a:off x="7970327"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53135823-B00C-095A-C777-CE8299FE1FA7}"/>
              </a:ext>
            </a:extLst>
          </p:cNvPr>
          <p:cNvSpPr/>
          <p:nvPr/>
        </p:nvSpPr>
        <p:spPr>
          <a:xfrm>
            <a:off x="7396320"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71985A8F-CA6A-27C4-409C-11307DE1788C}"/>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A868B03D-A1FE-58E6-F5E6-933ED6692C6C}"/>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964139A6-4BB5-2E4D-DD17-1D98A9D479C3}"/>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80866A9B-9E0E-213B-C6B2-733306B9D365}"/>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E2FE621D-B211-7A73-F8C0-BCB449F5875F}"/>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9707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7F5DA0E-262C-D41F-93C7-53BE6E202FE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6E19FBF-12E9-03DA-5522-4A014AE4E9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8A8A2B3C-9AEC-BD07-D9F0-4CBB4B598C10}"/>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65207E0A-1EF4-7763-4624-1FE352CA3BCE}"/>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E734AB11-FA1F-2BA8-6449-481050F9A3F8}"/>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2117D254-262A-7649-3A95-AABCC6C55034}"/>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A7187049-EE5C-9707-D72A-4C7A11AAB2A5}"/>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DEE3DC66-A3BF-23D5-4F37-D5D2FBB00D73}"/>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24D0A75-868E-AFAA-B1FC-BF532F1B59ED}"/>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4E1DC019-DD6F-83FC-05BE-C40127CF84CE}"/>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C55B6E3C-0B4D-486D-8B5A-91A136C5D288}"/>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276B115B-4F4C-E651-8206-F6373AFAE7C6}"/>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1CDB3754-53CB-7B3A-A374-11B1785A6B71}"/>
              </a:ext>
            </a:extLst>
          </p:cNvPr>
          <p:cNvGrpSpPr/>
          <p:nvPr/>
        </p:nvGrpSpPr>
        <p:grpSpPr>
          <a:xfrm>
            <a:off x="2411509"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6DFEEEEA-3B2B-776E-3119-A41353F69330}"/>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AB40F57-A53B-3061-1852-54FB35E5C716}"/>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8F39B02-78E8-7400-A094-B2EF5551D3E4}"/>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EE5BA30-0400-A1C6-5C79-6D76023E57A2}"/>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38555FE-D22D-B8C8-AE25-D43496344AF0}"/>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78D9C99-8D9F-CB6A-24B0-3B8154EF8C2E}"/>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323F48B2-87AD-38F2-9954-DDC278E939E1}"/>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FFB92D75-B1E9-E36A-74DF-14591AB4A956}"/>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8A9FFAA7-5B55-7996-F2C2-DA4EB56447A1}"/>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7C7A9BFC-7310-07CD-BFF2-8D4A36068321}"/>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FA7B95F0-B1A9-76E3-ED37-91A411874192}"/>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5F226013-93B1-D0D6-E950-68069070EDC5}"/>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5F44D605-0DC4-6876-7868-D4F83B9AA62D}"/>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B8FBB16E-EA24-C4E2-8325-865B72623F1D}"/>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527603C9-E656-DE6E-1501-99099594D8D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6C26724E-DEC8-D4F9-A919-FB24AA7270A1}"/>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A38A0969-9697-4A44-4BC8-472C64371415}"/>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396DCBFA-DD51-8CDD-4FFD-AF7F6AE3C931}"/>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12C7F349-6FD7-6C6A-E621-6F1E7A13C2B2}"/>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E1694E07-7A69-7B7C-CA6F-6350E9725EB6}"/>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E0AA1423-DA15-1846-C102-EB1EE48946F1}"/>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F12534E8-495F-1169-F30F-C9E50C22BFCD}"/>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FEA10C7F-8962-ADE6-8E37-C12585D93AD8}"/>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6C43652D-0CE6-C323-5B38-A368DA4F5CC1}"/>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1D1533B8-FD16-BED4-CD80-706DC5B31125}"/>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41ECCDBF-DB7A-7779-37D7-022AA739F11B}"/>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9BDC5702-3A47-CCBA-62F4-DA2F44D8C2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BE68E8A4-A5FE-3C0D-6A88-31C1F86AD8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97033"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8F1D3ED3-356F-8A81-AF2A-9D4CD5718CFB}"/>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82B684F2-B257-7FC2-D0DA-F1C3C4DDC294}"/>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E01A3004-16BD-1793-41BE-BAC712714718}"/>
              </a:ext>
            </a:extLst>
          </p:cNvPr>
          <p:cNvSpPr/>
          <p:nvPr/>
        </p:nvSpPr>
        <p:spPr>
          <a:xfrm>
            <a:off x="7970327"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B0AE0A92-CBB6-3527-0472-28A2F57AD255}"/>
              </a:ext>
            </a:extLst>
          </p:cNvPr>
          <p:cNvSpPr/>
          <p:nvPr/>
        </p:nvSpPr>
        <p:spPr>
          <a:xfrm>
            <a:off x="7396320"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4CEDDBA8-8749-60AA-648A-1BF8FABA2B0C}"/>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D9894987-5B90-5013-1E9F-A699B848FE6D}"/>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9A44CD3C-BD08-2321-C2EF-E479EC783A49}"/>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9CF6D1C1-B882-BCCA-20E1-D35C62A59BE7}"/>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B5C8E427-5B48-8D0E-E99E-56D097FF0958}"/>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79958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C1533-D828-C495-D0CD-3E575FC0AE0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CED8292-A797-1A61-AF9D-8AC9338102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FAFB03A-A2CA-B44F-4194-485BDAB8A62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D72ADE8E-BF92-9EF9-0A81-AF469A55AE4C}"/>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51E158B-57DB-52F2-1E47-75AA9CE05B83}"/>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1189E1D1-E7AD-8756-CC50-BD3AC90EDD9B}"/>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A7DEC64C-D737-EB5D-181C-63AB072C7E18}"/>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FB7A5B39-D3A1-E195-5A60-B74A40D1274A}"/>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BD859D9C-ADF3-B880-53BE-CA131BF5E962}"/>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660EA1A2-EEA3-A5F7-6863-C551A3773FFB}"/>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39928BA2-E4E4-92B2-CC28-2ECB32FCA1D0}"/>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1B3CD5C7-5B6D-9F7A-E9E4-F5998DF9E547}"/>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1E3304F-AAC8-5847-87EF-15B24D4CFFE9}"/>
              </a:ext>
            </a:extLst>
          </p:cNvPr>
          <p:cNvGrpSpPr/>
          <p:nvPr/>
        </p:nvGrpSpPr>
        <p:grpSpPr>
          <a:xfrm>
            <a:off x="2411509"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8FDDF034-9B8D-82FF-ECD9-E0DC41E13379}"/>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9A16599-5A6E-C337-125D-914A25C8AF7B}"/>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43030FE-F839-0922-B261-240D11094FE6}"/>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979BB44-26FE-5F0C-0811-5207479CC784}"/>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8DCAA05-C744-C569-D652-08699DDC6843}"/>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F8F2EB0-CAA7-18A2-2934-439D45EC79AC}"/>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A7CA98D7-176D-95EF-291A-CA9D739FEEE8}"/>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EE24D9AD-8863-4808-AADF-5FECB44AF869}"/>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CAB7E956-9C1A-A166-467D-978729223A9B}"/>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3AE7179A-1081-ACA9-4F32-02828365F1DF}"/>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42FCABB4-09E9-73B9-5E91-3906233D9F67}"/>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D5B218BE-7271-F3FC-4F45-AEB8607A9B43}"/>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86178F27-43AD-55F0-906F-5EA01BE92A69}"/>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4C2EBAEC-C345-2F16-CE96-6735793E75C5}"/>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A337682C-AFA0-86CF-8C62-9324C3321E60}"/>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C7B05A13-A582-E3F5-68C7-246B74AE904E}"/>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2DB5543E-BC74-DBD1-9266-CD1236DA3F09}"/>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AC06A61C-8A1B-F228-4DEF-D02D9E19639D}"/>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E6965AFC-ADD7-88A9-E336-F130ED1D1810}"/>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grpSp>
      <p:grpSp>
        <p:nvGrpSpPr>
          <p:cNvPr id="13" name="Group 12">
            <a:extLst>
              <a:ext uri="{FF2B5EF4-FFF2-40B4-BE49-F238E27FC236}">
                <a16:creationId xmlns:a16="http://schemas.microsoft.com/office/drawing/2014/main" id="{184F4DE1-0D58-4E40-4ADF-0CBBAEC192BC}"/>
              </a:ext>
            </a:extLst>
          </p:cNvPr>
          <p:cNvGrpSpPr/>
          <p:nvPr/>
        </p:nvGrpSpPr>
        <p:grpSpPr>
          <a:xfrm>
            <a:off x="3118834" y="1360294"/>
            <a:ext cx="2801619" cy="5049358"/>
            <a:chOff x="3171008" y="1372226"/>
            <a:chExt cx="2801619" cy="5049358"/>
          </a:xfrm>
        </p:grpSpPr>
        <p:sp>
          <p:nvSpPr>
            <p:cNvPr id="101" name="TextBox 100">
              <a:extLst>
                <a:ext uri="{FF2B5EF4-FFF2-40B4-BE49-F238E27FC236}">
                  <a16:creationId xmlns:a16="http://schemas.microsoft.com/office/drawing/2014/main" id="{C94E9C69-D9A1-6224-91C0-E630D43503E2}"/>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226F6A2C-F475-2FB8-B4BB-B8705157CC9B}"/>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114D6F2C-2AAB-59BC-3C72-8B0461DCF367}"/>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12E1BE8B-8967-2EFA-FA4B-7D3FABBFE1CB}"/>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D27DCFAF-2A52-F7D1-1D20-CCBA89D33367}"/>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73BB78C5-9677-9920-A0EF-FA3A353FFFEB}"/>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A7FF083E-A698-C0F3-0B49-E93B47A1FA9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85350FFE-B186-4973-57F2-4C264B1A20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B88309A3-9650-56D6-BAA3-5E8DC18900BB}"/>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2303E7F6-AC4F-2058-A874-D4B052B7A401}"/>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8B35573B-A9E5-27E0-1B89-1B31E858BEC5}"/>
              </a:ext>
            </a:extLst>
          </p:cNvPr>
          <p:cNvSpPr/>
          <p:nvPr/>
        </p:nvSpPr>
        <p:spPr>
          <a:xfrm>
            <a:off x="7951864"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8EED8A3D-8538-F6D9-86C5-0505109FBCB8}"/>
              </a:ext>
            </a:extLst>
          </p:cNvPr>
          <p:cNvSpPr/>
          <p:nvPr/>
        </p:nvSpPr>
        <p:spPr>
          <a:xfrm>
            <a:off x="7407354"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CA1DA13A-03C6-46B1-0CBF-8A62B2BA3B96}"/>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FB5C4C7F-11DC-9F1E-B8FD-25B068F3156F}"/>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89FC9DB3-C2D1-2FFD-9C85-5F61FDD49644}"/>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D5364020-23AA-193C-2DEE-99BFBBEF1D11}"/>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DC50E8E1-ADF9-445C-ED0B-5FA1B6F9074D}"/>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8416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F10128-38B6-29F6-19F8-9B72BC5CB46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9D3FABD-C9CE-7A8B-B6CB-92030D229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C129B8A1-C83F-5F09-FC0A-F06FC7D1F0C8}"/>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A3FCB0E3-75E0-8ACD-B086-2EFE3F28F3C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CBA22669-9A14-0A02-2558-CAB058F4AD0B}"/>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ED7C30AC-3FE0-9B0A-65FE-5C25FD83975A}"/>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A89F2912-1B64-BDEF-BD04-E2AA7D18DFBF}"/>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601F0357-FACD-B8E8-03D0-A2EC841607B6}"/>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8828F92D-DD7C-3EEC-3890-7CFB2F93FC61}"/>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E854739E-D750-5D9E-C2A9-2BA4233FCE05}"/>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A38D4257-335B-F5D4-2989-A82960921EE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11372661-5B09-D047-035B-F51E86576B26}"/>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0436775-32FA-4121-A5C2-9876D57A653C}"/>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E1BAB421-FF22-302D-128A-B3E8BEAE507A}"/>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2D7BEF8-71A3-CD59-D86D-89170F6D7572}"/>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23D5D5B-0D08-4808-930C-73325214457E}"/>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8431790-7160-A1D0-F04A-72F77E01969F}"/>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6CF05CA-7CF9-7043-608E-5B4E76FDCF7E}"/>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6EF3EA8-9C04-E8EA-948A-EDD4CF7B9BE6}"/>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D9BE2478-4138-E0E4-CABF-AEED1DB7DD8E}"/>
              </a:ext>
            </a:extLst>
          </p:cNvPr>
          <p:cNvGrpSpPr/>
          <p:nvPr/>
        </p:nvGrpSpPr>
        <p:grpSpPr>
          <a:xfrm>
            <a:off x="3171008" y="8156484"/>
            <a:ext cx="2801619" cy="5049358"/>
            <a:chOff x="3171008" y="1372226"/>
            <a:chExt cx="2801619" cy="5049358"/>
          </a:xfrm>
        </p:grpSpPr>
        <p:sp>
          <p:nvSpPr>
            <p:cNvPr id="101" name="TextBox 100">
              <a:extLst>
                <a:ext uri="{FF2B5EF4-FFF2-40B4-BE49-F238E27FC236}">
                  <a16:creationId xmlns:a16="http://schemas.microsoft.com/office/drawing/2014/main" id="{13AED0F0-0353-C841-0341-83095F3F5220}"/>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BF983F03-3136-ED78-0D2E-839F13294386}"/>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EE2D0A1B-6266-CD98-27F2-4858CC4659AF}"/>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77A23A89-F319-B8B0-1B1B-F10A9C5DF696}"/>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D8A5A4EF-8B45-B94F-2C05-21F3AD4B5BD7}"/>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F5910158-7F6B-DF88-A8AA-D5B9B261E585}"/>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709C4458-F4AE-710C-6E6C-0283E1F5B07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176"/>
            <a:ext cx="2488888" cy="1625273"/>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F00A7BDE-ACD2-874D-14E3-62815BFAF67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591307" y="8040055"/>
            <a:ext cx="3105386"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D8E1B611-F139-E2F0-CCA7-5759CD381103}"/>
              </a:ext>
            </a:extLst>
          </p:cNvPr>
          <p:cNvSpPr/>
          <p:nvPr/>
        </p:nvSpPr>
        <p:spPr>
          <a:xfrm>
            <a:off x="12579662"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A75FFEF2-ACC5-B79A-A0C6-D99FB555D763}"/>
              </a:ext>
            </a:extLst>
          </p:cNvPr>
          <p:cNvSpPr/>
          <p:nvPr/>
        </p:nvSpPr>
        <p:spPr>
          <a:xfrm>
            <a:off x="6240380" y="9832236"/>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934656A1-8877-49A7-2B4E-CB6521C6E6D1}"/>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1E152BBD-D2CF-8D68-AD10-5E4D3FCEF3C5}"/>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A2F6B7CD-C53D-AF23-4E4C-10FF8F33D056}"/>
              </a:ext>
            </a:extLst>
          </p:cNvPr>
          <p:cNvSpPr/>
          <p:nvPr/>
        </p:nvSpPr>
        <p:spPr>
          <a:xfrm>
            <a:off x="8830961" y="836415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A38DDDDD-5A2F-C1CB-EA52-68E95186829A}"/>
              </a:ext>
            </a:extLst>
          </p:cNvPr>
          <p:cNvSpPr/>
          <p:nvPr/>
        </p:nvSpPr>
        <p:spPr>
          <a:xfrm>
            <a:off x="9312121"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FD3C2611-C2DB-EF58-C2F4-803E084F0C06}"/>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1D8AB369-7368-6E6D-FDEB-11696B1856DF}"/>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18BE5867-98F0-BC8C-AC6D-45BB83E2AA68}"/>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6649003-FDEA-256E-058A-8273D93BAB0F}"/>
              </a:ext>
            </a:extLst>
          </p:cNvPr>
          <p:cNvGrpSpPr/>
          <p:nvPr/>
        </p:nvGrpSpPr>
        <p:grpSpPr>
          <a:xfrm>
            <a:off x="-4032609" y="1230331"/>
            <a:ext cx="1970636" cy="5332610"/>
            <a:chOff x="273095" y="1230331"/>
            <a:chExt cx="1970636" cy="5332610"/>
          </a:xfrm>
        </p:grpSpPr>
        <p:sp>
          <p:nvSpPr>
            <p:cNvPr id="17" name="Rectangle: Rounded Corners 16">
              <a:extLst>
                <a:ext uri="{FF2B5EF4-FFF2-40B4-BE49-F238E27FC236}">
                  <a16:creationId xmlns:a16="http://schemas.microsoft.com/office/drawing/2014/main" id="{7C149B21-DB73-B698-07A6-6568F6F78ED6}"/>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5D7E6587-F99C-2D5F-D1E9-D4D071F046FC}"/>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9" name="Rectangle: Rounded Corners 18">
              <a:extLst>
                <a:ext uri="{FF2B5EF4-FFF2-40B4-BE49-F238E27FC236}">
                  <a16:creationId xmlns:a16="http://schemas.microsoft.com/office/drawing/2014/main" id="{30B8FD41-D1AB-ED3C-E414-8EBAC1C3E8D7}"/>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0" name="Rectangle: Rounded Corners 19">
              <a:extLst>
                <a:ext uri="{FF2B5EF4-FFF2-40B4-BE49-F238E27FC236}">
                  <a16:creationId xmlns:a16="http://schemas.microsoft.com/office/drawing/2014/main" id="{24417B1D-C01C-2D82-99E6-E99A48319EF9}"/>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1" name="Rectangle: Rounded Corners 20">
              <a:extLst>
                <a:ext uri="{FF2B5EF4-FFF2-40B4-BE49-F238E27FC236}">
                  <a16:creationId xmlns:a16="http://schemas.microsoft.com/office/drawing/2014/main" id="{76A84AFD-65D6-BADB-2E59-C5C793BB9175}"/>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2" name="Rectangle: Rounded Corners 21">
              <a:extLst>
                <a:ext uri="{FF2B5EF4-FFF2-40B4-BE49-F238E27FC236}">
                  <a16:creationId xmlns:a16="http://schemas.microsoft.com/office/drawing/2014/main" id="{6F38391A-0FF9-ACDF-DBAD-839D14D5A802}"/>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3" name="TextBox 22">
              <a:extLst>
                <a:ext uri="{FF2B5EF4-FFF2-40B4-BE49-F238E27FC236}">
                  <a16:creationId xmlns:a16="http://schemas.microsoft.com/office/drawing/2014/main" id="{03C2B76F-0C13-E0F3-AAB2-16CDB8DD2BC2}"/>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24" name="TextBox 23">
              <a:extLst>
                <a:ext uri="{FF2B5EF4-FFF2-40B4-BE49-F238E27FC236}">
                  <a16:creationId xmlns:a16="http://schemas.microsoft.com/office/drawing/2014/main" id="{67DAE272-9297-6FF4-9E1D-15427084AA73}"/>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25" name="TextBox 24">
              <a:extLst>
                <a:ext uri="{FF2B5EF4-FFF2-40B4-BE49-F238E27FC236}">
                  <a16:creationId xmlns:a16="http://schemas.microsoft.com/office/drawing/2014/main" id="{39C182C2-4DA9-EEC2-3AE7-4F977666DC0D}"/>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26" name="TextBox 25">
              <a:extLst>
                <a:ext uri="{FF2B5EF4-FFF2-40B4-BE49-F238E27FC236}">
                  <a16:creationId xmlns:a16="http://schemas.microsoft.com/office/drawing/2014/main" id="{A04A3934-F258-5E0F-8FA3-E4622D5FD432}"/>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27" name="TextBox 26">
              <a:extLst>
                <a:ext uri="{FF2B5EF4-FFF2-40B4-BE49-F238E27FC236}">
                  <a16:creationId xmlns:a16="http://schemas.microsoft.com/office/drawing/2014/main" id="{9F399EE4-CD14-1746-EA77-25CE0CBB7674}"/>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28" name="TextBox 27">
              <a:extLst>
                <a:ext uri="{FF2B5EF4-FFF2-40B4-BE49-F238E27FC236}">
                  <a16:creationId xmlns:a16="http://schemas.microsoft.com/office/drawing/2014/main" id="{9A58F0B0-025E-219C-93AE-940DFC4EB5A0}"/>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835414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F3D847-D5E9-0975-31D6-3150FCB75BE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ACD4294-05E7-D64B-A0C2-743F9B907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932C8A30-8CAE-BE73-FD7D-EF4FBF8EF373}"/>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D3DBDB36-4C8F-DFDE-6CA6-54B3867C7DB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62F96787-B14D-DFB6-ACFA-69C8C433EEAF}"/>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9374438A-1A0B-D81F-1479-F8AA30B2D5FB}"/>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39AD29D-9E72-9E18-9F07-EBE950FE13AB}"/>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02863114-E94F-75A5-3834-E3E5734D9314}"/>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2A5D8481-6150-56A5-EF27-05C5F6F92F44}"/>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F2612EBE-2A62-3F08-72E9-FFF279B96F5E}"/>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E6DF2F66-8791-EFA2-DF3F-D94656ECAC1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BDC6B8FE-53EB-6BF9-EC13-6540E30BED34}"/>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775FF59A-7D1A-8242-D8C9-FF441FA77C1C}"/>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1B5388D2-F6B4-14C3-A6A5-57690A93678E}"/>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C008EBD-933E-83E0-A19F-45D0D12B2924}"/>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B9E42DF-6D72-3BD3-E2D8-37A548A22B40}"/>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0340142-ED7E-4F70-7EC7-4CB869E6645F}"/>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815CE2-F376-2AD6-A55C-D11CA8728211}"/>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A6AD754-C56F-1CBF-876D-2D4538650AAB}"/>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D4575D2B-532A-E4AE-6270-5D9DE15B5CD2}"/>
              </a:ext>
            </a:extLst>
          </p:cNvPr>
          <p:cNvGrpSpPr/>
          <p:nvPr/>
        </p:nvGrpSpPr>
        <p:grpSpPr>
          <a:xfrm>
            <a:off x="305322" y="1230331"/>
            <a:ext cx="1970636" cy="5332610"/>
            <a:chOff x="273095" y="1230331"/>
            <a:chExt cx="1970636" cy="5332610"/>
          </a:xfrm>
        </p:grpSpPr>
        <p:sp>
          <p:nvSpPr>
            <p:cNvPr id="49" name="Rectangle: Rounded Corners 48">
              <a:extLst>
                <a:ext uri="{FF2B5EF4-FFF2-40B4-BE49-F238E27FC236}">
                  <a16:creationId xmlns:a16="http://schemas.microsoft.com/office/drawing/2014/main" id="{F6D1F76F-1F21-A387-EB3F-0197121FA4A7}"/>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0D2C5798-8F39-9A55-7AAB-1E27CBC8E21C}"/>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AC78AA6D-AAEC-D5FE-7F30-565D04F1ED1F}"/>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5DEB4B28-69A9-B831-EE2E-841DE989D860}"/>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AD9E324B-47F9-5B44-C30D-D8672B8FAF8F}"/>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7D740CB9-0566-073E-1660-6E09891F0F0B}"/>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11B8A331-39D6-3C26-2AA0-DC5E9DB7628C}"/>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74" name="TextBox 73">
              <a:extLst>
                <a:ext uri="{FF2B5EF4-FFF2-40B4-BE49-F238E27FC236}">
                  <a16:creationId xmlns:a16="http://schemas.microsoft.com/office/drawing/2014/main" id="{01C4282C-ABBD-2B92-49B1-73928B460FC7}"/>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76" name="TextBox 75">
              <a:extLst>
                <a:ext uri="{FF2B5EF4-FFF2-40B4-BE49-F238E27FC236}">
                  <a16:creationId xmlns:a16="http://schemas.microsoft.com/office/drawing/2014/main" id="{33B69ABB-304C-0C94-A854-141E08E0C7B7}"/>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78" name="TextBox 77">
              <a:extLst>
                <a:ext uri="{FF2B5EF4-FFF2-40B4-BE49-F238E27FC236}">
                  <a16:creationId xmlns:a16="http://schemas.microsoft.com/office/drawing/2014/main" id="{5134AC0D-D731-DB93-2F3E-BB06992A19CD}"/>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80" name="TextBox 79">
              <a:extLst>
                <a:ext uri="{FF2B5EF4-FFF2-40B4-BE49-F238E27FC236}">
                  <a16:creationId xmlns:a16="http://schemas.microsoft.com/office/drawing/2014/main" id="{D83314F7-0F4F-9266-81F9-BF71976E99E7}"/>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82" name="TextBox 81">
              <a:extLst>
                <a:ext uri="{FF2B5EF4-FFF2-40B4-BE49-F238E27FC236}">
                  <a16:creationId xmlns:a16="http://schemas.microsoft.com/office/drawing/2014/main" id="{B0A07A26-2607-67A5-967C-48CCFB14709D}"/>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grpSp>
        <p:nvGrpSpPr>
          <p:cNvPr id="13" name="Group 12">
            <a:extLst>
              <a:ext uri="{FF2B5EF4-FFF2-40B4-BE49-F238E27FC236}">
                <a16:creationId xmlns:a16="http://schemas.microsoft.com/office/drawing/2014/main" id="{5FBCF915-DFC3-0F1E-14B5-3F0AFC82E25D}"/>
              </a:ext>
            </a:extLst>
          </p:cNvPr>
          <p:cNvGrpSpPr/>
          <p:nvPr/>
        </p:nvGrpSpPr>
        <p:grpSpPr>
          <a:xfrm>
            <a:off x="3171008" y="8156484"/>
            <a:ext cx="2801619" cy="5049358"/>
            <a:chOff x="3171008" y="1372226"/>
            <a:chExt cx="2801619" cy="5049358"/>
          </a:xfrm>
        </p:grpSpPr>
        <p:sp>
          <p:nvSpPr>
            <p:cNvPr id="101" name="TextBox 100">
              <a:extLst>
                <a:ext uri="{FF2B5EF4-FFF2-40B4-BE49-F238E27FC236}">
                  <a16:creationId xmlns:a16="http://schemas.microsoft.com/office/drawing/2014/main" id="{52541D48-762E-5BF3-B87F-A47EB0C670A7}"/>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EAC77278-F7EA-C6BE-EDFF-6BCBD0E9D745}"/>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6FB52BD3-87F1-3D83-F2BA-B7D654AC1312}"/>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285D864F-CDB4-EE7D-CC88-41A75E50C65C}"/>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A0C376E8-64C1-A6F3-0882-5501DEA410E5}"/>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4C1488B6-945A-022C-B27A-F63AE4C71C64}"/>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0AA187E7-E0B5-9136-5893-E690E53204B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176"/>
            <a:ext cx="2488888" cy="1625273"/>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487417B2-78F0-AF65-1A81-1E3AC7A74183}"/>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591307" y="8040055"/>
            <a:ext cx="3105386"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73D40E7A-46E6-3A14-EFB4-A4E20414345D}"/>
              </a:ext>
            </a:extLst>
          </p:cNvPr>
          <p:cNvSpPr/>
          <p:nvPr/>
        </p:nvSpPr>
        <p:spPr>
          <a:xfrm>
            <a:off x="12579662"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42945413-5270-7381-FE4A-86D57691700B}"/>
              </a:ext>
            </a:extLst>
          </p:cNvPr>
          <p:cNvSpPr/>
          <p:nvPr/>
        </p:nvSpPr>
        <p:spPr>
          <a:xfrm>
            <a:off x="6240380" y="9832236"/>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AFBA6651-D101-31CE-4E0D-923070E3D0E9}"/>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7B66B616-9863-034E-A4EC-236663CD49C1}"/>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5ABCD2EF-D4F1-D98D-950B-DABD9B371A83}"/>
              </a:ext>
            </a:extLst>
          </p:cNvPr>
          <p:cNvSpPr/>
          <p:nvPr/>
        </p:nvSpPr>
        <p:spPr>
          <a:xfrm>
            <a:off x="8830961" y="836415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E7085641-5B09-5618-FFFA-A555E7E3FCFE}"/>
              </a:ext>
            </a:extLst>
          </p:cNvPr>
          <p:cNvSpPr/>
          <p:nvPr/>
        </p:nvSpPr>
        <p:spPr>
          <a:xfrm>
            <a:off x="9312121"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23A6076C-DBE7-3E6C-BD13-D4D7C054EB46}"/>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DA04CD76-9C70-E2F9-4AFC-2855FF540044}"/>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BCC090DC-D80C-CF66-AF5F-4796F6DC1BF1}"/>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632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9BA16B-4B32-C30F-BCBF-CD4D3008DB5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4CC9F67-3E3E-ECB5-65D3-4BDBD276D5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B961C782-9AE5-C2E1-ABF3-895E0E5DA59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B3EDB212-CC22-0F73-B421-5B2E63D43D4B}"/>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55B64704-7EC2-6B79-2AF3-8208B1594DD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A438B427-6E80-3EE4-FA5F-7D5891F472AA}"/>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E2D11598-C057-3A60-1459-99F2A2771CC0}"/>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19A1964C-66EF-6EAC-93EE-C06C39C55F35}"/>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2307D678-8C2C-6558-1350-B25E8805CEA5}"/>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86A5162D-F6B2-CEA6-43AF-24703EC8E2F3}"/>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rPr>
              <a:t>Key Insights &amp; Conclusions</a:t>
            </a:r>
          </a:p>
        </p:txBody>
      </p:sp>
      <p:sp>
        <p:nvSpPr>
          <p:cNvPr id="10" name="TextBox 9">
            <a:extLst>
              <a:ext uri="{FF2B5EF4-FFF2-40B4-BE49-F238E27FC236}">
                <a16:creationId xmlns:a16="http://schemas.microsoft.com/office/drawing/2014/main" id="{E2A34932-D1C4-001F-A109-4C7D8D3634CF}"/>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E6AF00">
                    <a:alpha val="10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3F41091D-7E44-5C33-36E4-EB52E5E9194C}"/>
              </a:ext>
            </a:extLst>
          </p:cNvPr>
          <p:cNvCxnSpPr/>
          <p:nvPr/>
        </p:nvCxnSpPr>
        <p:spPr>
          <a:xfrm>
            <a:off x="6096000"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B74F9BC-E23F-643E-5005-B8359DC3BB60}"/>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FDA89D7-730D-DAB4-8A00-4E65A702119D}"/>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9D864013-D092-608C-0289-66BCC833DD1E}"/>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71CAE2E-8E42-D93C-48A8-E4FA5ABBC2B3}"/>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F250A43-97CD-7AEC-93EF-4F28D153053B}"/>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F731552-BBA3-8339-466D-55FEA2E11B13}"/>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0C3B6183-59C7-CA51-B240-AFD8900B5ADB}"/>
              </a:ext>
            </a:extLst>
          </p:cNvPr>
          <p:cNvSpPr/>
          <p:nvPr/>
        </p:nvSpPr>
        <p:spPr>
          <a:xfrm>
            <a:off x="272801"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E331BA26-6F0C-19CE-3D2D-15EA92BFB21E}"/>
              </a:ext>
            </a:extLst>
          </p:cNvPr>
          <p:cNvSpPr/>
          <p:nvPr/>
        </p:nvSpPr>
        <p:spPr>
          <a:xfrm>
            <a:off x="272801"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C3DAC4E6-134C-7863-87D7-8078F05E5733}"/>
              </a:ext>
            </a:extLst>
          </p:cNvPr>
          <p:cNvSpPr/>
          <p:nvPr/>
        </p:nvSpPr>
        <p:spPr>
          <a:xfrm>
            <a:off x="272801"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00968BF1-7A33-6F5E-C464-282B7199D649}"/>
              </a:ext>
            </a:extLst>
          </p:cNvPr>
          <p:cNvSpPr/>
          <p:nvPr/>
        </p:nvSpPr>
        <p:spPr>
          <a:xfrm>
            <a:off x="272801"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55CFA942-62DF-3B77-F571-7C39D7EA6965}"/>
              </a:ext>
            </a:extLst>
          </p:cNvPr>
          <p:cNvSpPr/>
          <p:nvPr/>
        </p:nvSpPr>
        <p:spPr>
          <a:xfrm>
            <a:off x="272801"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953A9FA8-B332-CB76-DE93-23C3BA282612}"/>
              </a:ext>
            </a:extLst>
          </p:cNvPr>
          <p:cNvSpPr/>
          <p:nvPr/>
        </p:nvSpPr>
        <p:spPr>
          <a:xfrm>
            <a:off x="272801"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781AC20F-D904-60D2-59DC-042EA7F4CD22}"/>
              </a:ext>
            </a:extLst>
          </p:cNvPr>
          <p:cNvSpPr txBox="1"/>
          <p:nvPr/>
        </p:nvSpPr>
        <p:spPr>
          <a:xfrm>
            <a:off x="586607"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E3821418-B645-02BA-713E-D787BF5E2532}"/>
              </a:ext>
            </a:extLst>
          </p:cNvPr>
          <p:cNvSpPr txBox="1"/>
          <p:nvPr/>
        </p:nvSpPr>
        <p:spPr>
          <a:xfrm>
            <a:off x="586607"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B8B7BC65-1231-CD0B-ADBA-04D9E7EDC2CD}"/>
              </a:ext>
            </a:extLst>
          </p:cNvPr>
          <p:cNvSpPr txBox="1"/>
          <p:nvPr/>
        </p:nvSpPr>
        <p:spPr>
          <a:xfrm>
            <a:off x="586607"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095AC208-9E77-F16C-8524-BF6089FF1E90}"/>
              </a:ext>
            </a:extLst>
          </p:cNvPr>
          <p:cNvSpPr txBox="1"/>
          <p:nvPr/>
        </p:nvSpPr>
        <p:spPr>
          <a:xfrm>
            <a:off x="586607"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D7B4ADC9-A272-627A-5617-6E208CA56AFD}"/>
              </a:ext>
            </a:extLst>
          </p:cNvPr>
          <p:cNvSpPr txBox="1"/>
          <p:nvPr/>
        </p:nvSpPr>
        <p:spPr>
          <a:xfrm>
            <a:off x="586607"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B6DC6ADB-A78E-3064-63AA-D07103FB5718}"/>
              </a:ext>
            </a:extLst>
          </p:cNvPr>
          <p:cNvSpPr txBox="1"/>
          <p:nvPr/>
        </p:nvSpPr>
        <p:spPr>
          <a:xfrm>
            <a:off x="586607"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sp>
        <p:nvSpPr>
          <p:cNvPr id="101" name="TextBox 100">
            <a:extLst>
              <a:ext uri="{FF2B5EF4-FFF2-40B4-BE49-F238E27FC236}">
                <a16:creationId xmlns:a16="http://schemas.microsoft.com/office/drawing/2014/main" id="{391D882C-A01C-19D9-9C47-A3025F914BC5}"/>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522773EF-73A3-C3B9-51AB-3F11678BE24F}"/>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6FD94034-C37B-5F25-EBE9-E16DA25919CF}"/>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F4FB9499-5EDF-BF1F-A9BD-4FF8C219D6DB}"/>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F4B19B6F-A8C6-1B77-A934-3E5B8AC939BB}"/>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2293C0DF-2EC4-1E47-4F5F-759424613C9E}"/>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pic>
        <p:nvPicPr>
          <p:cNvPr id="113" name="Picture 112">
            <a:extLst>
              <a:ext uri="{FF2B5EF4-FFF2-40B4-BE49-F238E27FC236}">
                <a16:creationId xmlns:a16="http://schemas.microsoft.com/office/drawing/2014/main" id="{D46DCD0D-631E-D532-B2E0-2328C85FE2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AB053A64-00F7-4D28-B8EA-2624C96739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3775451"/>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4D67DB07-A332-01B9-D359-681FA979BC88}"/>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D33CA03B-D188-C2F9-0D87-AE89FD16B0FE}"/>
              </a:ext>
            </a:extLst>
          </p:cNvPr>
          <p:cNvSpPr/>
          <p:nvPr/>
        </p:nvSpPr>
        <p:spPr>
          <a:xfrm>
            <a:off x="6240380" y="5567632"/>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B0492920-C32E-2AED-D003-0B0F05A77E43}"/>
              </a:ext>
            </a:extLst>
          </p:cNvPr>
          <p:cNvSpPr/>
          <p:nvPr/>
        </p:nvSpPr>
        <p:spPr>
          <a:xfrm>
            <a:off x="791527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2FFDA4AD-C3E1-ADC4-6999-20982C3C04C1}"/>
              </a:ext>
            </a:extLst>
          </p:cNvPr>
          <p:cNvSpPr/>
          <p:nvPr/>
        </p:nvSpPr>
        <p:spPr>
          <a:xfrm>
            <a:off x="7357305"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649A122C-B5D8-8A34-E7F1-FA75425A5BB1}"/>
              </a:ext>
            </a:extLst>
          </p:cNvPr>
          <p:cNvSpPr/>
          <p:nvPr/>
        </p:nvSpPr>
        <p:spPr>
          <a:xfrm>
            <a:off x="8830961" y="409954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2A01DD17-71C0-9E45-7C66-6A23B5EE4B91}"/>
              </a:ext>
            </a:extLst>
          </p:cNvPr>
          <p:cNvSpPr/>
          <p:nvPr/>
        </p:nvSpPr>
        <p:spPr>
          <a:xfrm>
            <a:off x="9312121" y="4024194"/>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E60574ED-EAAD-755E-4EC3-0DA8A775E1DF}"/>
              </a:ext>
            </a:extLst>
          </p:cNvPr>
          <p:cNvCxnSpPr>
            <a:cxnSpLocks/>
          </p:cNvCxnSpPr>
          <p:nvPr/>
        </p:nvCxnSpPr>
        <p:spPr>
          <a:xfrm flipV="1">
            <a:off x="8739188" y="407945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FC62A25C-B04B-796B-8D34-909FAA7AE4CA}"/>
              </a:ext>
            </a:extLst>
          </p:cNvPr>
          <p:cNvCxnSpPr>
            <a:cxnSpLocks/>
          </p:cNvCxnSpPr>
          <p:nvPr/>
        </p:nvCxnSpPr>
        <p:spPr>
          <a:xfrm flipV="1">
            <a:off x="9596438" y="39839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8EC9906A-FB84-1CFA-0B84-18D357CC4B35}"/>
              </a:ext>
            </a:extLst>
          </p:cNvPr>
          <p:cNvCxnSpPr>
            <a:cxnSpLocks/>
          </p:cNvCxnSpPr>
          <p:nvPr/>
        </p:nvCxnSpPr>
        <p:spPr>
          <a:xfrm>
            <a:off x="9172574" y="4375229"/>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1766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BBD70B-04FD-D3A4-D7CA-FD15758AC37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376EEA-8F66-F5C0-10EE-8B8A421D8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BFFDC95-39DE-27EE-3035-DE3F628E3DDB}"/>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A2F43D0-6795-1528-911B-0509F29E902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663BDDF1-B054-EC11-D65F-481CEDCB2D96}"/>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1CD66145-18C9-D026-6636-4443A288A63D}"/>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7906B568-2035-A38B-FF7B-1200CB7EE1D7}"/>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43F4308-F54C-9C0F-4DA3-D884BD6E7B21}"/>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E490830-810E-B9CC-E8A5-C893B4F8A1D1}"/>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A9667222-5B2F-857D-69AA-0A74544E95AF}"/>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668A9FA0-17BB-A2EC-337B-29B98FA17054}"/>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0857EF03-4F98-A694-235F-A7CC33BEC7C9}"/>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D1AD4CAD-5C98-60E3-C6E1-886F2126C865}"/>
              </a:ext>
            </a:extLst>
          </p:cNvPr>
          <p:cNvGrpSpPr/>
          <p:nvPr/>
        </p:nvGrpSpPr>
        <p:grpSpPr>
          <a:xfrm>
            <a:off x="2411509" y="1604426"/>
            <a:ext cx="707325" cy="4566893"/>
            <a:chOff x="2411509" y="1604426"/>
            <a:chExt cx="707325" cy="4566893"/>
          </a:xfrm>
        </p:grpSpPr>
        <p:cxnSp>
          <p:nvCxnSpPr>
            <p:cNvPr id="42" name="Straight Arrow Connector 41">
              <a:extLst>
                <a:ext uri="{FF2B5EF4-FFF2-40B4-BE49-F238E27FC236}">
                  <a16:creationId xmlns:a16="http://schemas.microsoft.com/office/drawing/2014/main" id="{3C1116C3-AEBB-6F59-7F16-722C45E9E477}"/>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4D27BF89-8F8D-46B0-8C3B-456BF024A426}"/>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22C2DCB-F78E-0211-D360-38E61E31C1A2}"/>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342B5B2-568E-83B0-7E6C-10FD25117FEF}"/>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853C3A5-9177-2755-31B8-C2FC9F35548E}"/>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8D76413-0B3D-201D-9959-361462058044}"/>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75D57412-1DF8-8857-B69B-C9FD948F1233}"/>
              </a:ext>
            </a:extLst>
          </p:cNvPr>
          <p:cNvGrpSpPr/>
          <p:nvPr/>
        </p:nvGrpSpPr>
        <p:grpSpPr>
          <a:xfrm>
            <a:off x="3118834" y="1372994"/>
            <a:ext cx="2801619" cy="5221323"/>
            <a:chOff x="3171008" y="1384926"/>
            <a:chExt cx="2801619" cy="5221323"/>
          </a:xfrm>
        </p:grpSpPr>
        <p:sp>
          <p:nvSpPr>
            <p:cNvPr id="101" name="TextBox 100">
              <a:extLst>
                <a:ext uri="{FF2B5EF4-FFF2-40B4-BE49-F238E27FC236}">
                  <a16:creationId xmlns:a16="http://schemas.microsoft.com/office/drawing/2014/main" id="{D51C6032-20AB-B2E8-C765-7E3405F1E1C0}"/>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103" name="TextBox 102">
              <a:extLst>
                <a:ext uri="{FF2B5EF4-FFF2-40B4-BE49-F238E27FC236}">
                  <a16:creationId xmlns:a16="http://schemas.microsoft.com/office/drawing/2014/main" id="{C56EA21B-095B-1746-008D-FD5687186C63}"/>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5F51C5A5-14A5-B939-65DF-59630442C26A}"/>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107" name="TextBox 106">
              <a:extLst>
                <a:ext uri="{FF2B5EF4-FFF2-40B4-BE49-F238E27FC236}">
                  <a16:creationId xmlns:a16="http://schemas.microsoft.com/office/drawing/2014/main" id="{69D79901-1DB1-1F49-26FA-DFD8FE167FA6}"/>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73F6B9DE-B6C9-A406-DDD1-7F1470FAD64D}"/>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17D42AE4-51E8-E1F4-247B-7D44478BF649}"/>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C9CA33F9-34B5-CB13-0393-542686C20F3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176"/>
            <a:ext cx="2488888" cy="1625273"/>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F555F943-6514-08EA-B404-EE933FB1A43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591307" y="8040055"/>
            <a:ext cx="3105386"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ED4EE062-6742-43FF-7CDA-B2D515D1DF0B}"/>
              </a:ext>
            </a:extLst>
          </p:cNvPr>
          <p:cNvSpPr/>
          <p:nvPr/>
        </p:nvSpPr>
        <p:spPr>
          <a:xfrm>
            <a:off x="12579662"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70F69A80-0BA2-4776-8AF3-FD181F262414}"/>
              </a:ext>
            </a:extLst>
          </p:cNvPr>
          <p:cNvSpPr/>
          <p:nvPr/>
        </p:nvSpPr>
        <p:spPr>
          <a:xfrm>
            <a:off x="6240380" y="9832236"/>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BC995436-DD9D-FF5E-BF91-B58412CD12FD}"/>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A4C77B01-1B6A-AA07-0898-83671169F458}"/>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EBF80976-12BC-AC75-1ACB-8FF9F4729E9A}"/>
              </a:ext>
            </a:extLst>
          </p:cNvPr>
          <p:cNvSpPr/>
          <p:nvPr/>
        </p:nvSpPr>
        <p:spPr>
          <a:xfrm>
            <a:off x="8830961" y="836415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9371ED12-5759-9B33-4591-53AE71A50D41}"/>
              </a:ext>
            </a:extLst>
          </p:cNvPr>
          <p:cNvSpPr/>
          <p:nvPr/>
        </p:nvSpPr>
        <p:spPr>
          <a:xfrm>
            <a:off x="9312121"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5C76E03D-D4BE-9AA0-1FDF-3EA22D093ED3}"/>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83B37850-13DA-CF66-E01B-252E3FC4B48A}"/>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6A92E990-29F7-9F00-E056-7DB5ED779528}"/>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63427FC2-A7A1-43C8-92AC-D9FC6ECA1173}"/>
              </a:ext>
            </a:extLst>
          </p:cNvPr>
          <p:cNvGrpSpPr/>
          <p:nvPr/>
        </p:nvGrpSpPr>
        <p:grpSpPr>
          <a:xfrm>
            <a:off x="305322" y="1230331"/>
            <a:ext cx="1970636" cy="5332610"/>
            <a:chOff x="273095" y="1230331"/>
            <a:chExt cx="1970636" cy="5332610"/>
          </a:xfrm>
        </p:grpSpPr>
        <p:sp>
          <p:nvSpPr>
            <p:cNvPr id="17" name="Rectangle: Rounded Corners 16">
              <a:extLst>
                <a:ext uri="{FF2B5EF4-FFF2-40B4-BE49-F238E27FC236}">
                  <a16:creationId xmlns:a16="http://schemas.microsoft.com/office/drawing/2014/main" id="{1D1FBAD4-0E82-C528-8339-9E255922BACF}"/>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9E89B604-66B1-E7C9-C04C-65FCA0575AE3}"/>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9" name="Rectangle: Rounded Corners 18">
              <a:extLst>
                <a:ext uri="{FF2B5EF4-FFF2-40B4-BE49-F238E27FC236}">
                  <a16:creationId xmlns:a16="http://schemas.microsoft.com/office/drawing/2014/main" id="{D1B362F3-A98A-4B60-5FED-32DD473F0031}"/>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0" name="Rectangle: Rounded Corners 19">
              <a:extLst>
                <a:ext uri="{FF2B5EF4-FFF2-40B4-BE49-F238E27FC236}">
                  <a16:creationId xmlns:a16="http://schemas.microsoft.com/office/drawing/2014/main" id="{6F31DEF0-A33B-E705-3CFE-69AFFB43128A}"/>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1" name="Rectangle: Rounded Corners 20">
              <a:extLst>
                <a:ext uri="{FF2B5EF4-FFF2-40B4-BE49-F238E27FC236}">
                  <a16:creationId xmlns:a16="http://schemas.microsoft.com/office/drawing/2014/main" id="{3359516D-6EFB-3DE3-E086-0B53618E2549}"/>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2" name="Rectangle: Rounded Corners 21">
              <a:extLst>
                <a:ext uri="{FF2B5EF4-FFF2-40B4-BE49-F238E27FC236}">
                  <a16:creationId xmlns:a16="http://schemas.microsoft.com/office/drawing/2014/main" id="{A3E39278-6BF1-3F00-B9C5-ECE7797DE121}"/>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3" name="TextBox 22">
              <a:extLst>
                <a:ext uri="{FF2B5EF4-FFF2-40B4-BE49-F238E27FC236}">
                  <a16:creationId xmlns:a16="http://schemas.microsoft.com/office/drawing/2014/main" id="{D6407C2C-EB2C-8668-8854-75BABB7761DE}"/>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24" name="TextBox 23">
              <a:extLst>
                <a:ext uri="{FF2B5EF4-FFF2-40B4-BE49-F238E27FC236}">
                  <a16:creationId xmlns:a16="http://schemas.microsoft.com/office/drawing/2014/main" id="{CACDF9BC-ECFA-41D0-04EE-441B9F9CA80E}"/>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25" name="TextBox 24">
              <a:extLst>
                <a:ext uri="{FF2B5EF4-FFF2-40B4-BE49-F238E27FC236}">
                  <a16:creationId xmlns:a16="http://schemas.microsoft.com/office/drawing/2014/main" id="{EAB8F075-1FF7-FCC8-26E2-E8863501F21E}"/>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26" name="TextBox 25">
              <a:extLst>
                <a:ext uri="{FF2B5EF4-FFF2-40B4-BE49-F238E27FC236}">
                  <a16:creationId xmlns:a16="http://schemas.microsoft.com/office/drawing/2014/main" id="{2F19ACE8-6624-DFED-7672-780099C27527}"/>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27" name="TextBox 26">
              <a:extLst>
                <a:ext uri="{FF2B5EF4-FFF2-40B4-BE49-F238E27FC236}">
                  <a16:creationId xmlns:a16="http://schemas.microsoft.com/office/drawing/2014/main" id="{22BABE34-9108-3DA0-9C8C-CB7EDBD1BE2B}"/>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28" name="TextBox 27">
              <a:extLst>
                <a:ext uri="{FF2B5EF4-FFF2-40B4-BE49-F238E27FC236}">
                  <a16:creationId xmlns:a16="http://schemas.microsoft.com/office/drawing/2014/main" id="{F9DC8D5E-70EF-BBE5-1CF0-9E22DA21FD67}"/>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35220432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10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4F2853-7A6E-4974-0F68-D81536CAEFF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6F34CBA-A517-7636-B218-533C925E41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B960721B-FE45-A1C1-B756-B4DAB616E9CA}"/>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A5601EF-8ACD-34D9-C546-21656C759D8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16A1883A-858E-BD7B-F994-B69D6D5E40A1}"/>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87E87EC9-D551-A905-FD04-39370F720B9B}"/>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BC3B877-9332-E585-CC0F-65A605BE3ACB}"/>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350DC7C3-2ECC-5E91-E5C8-FBED4D1DE4BF}"/>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122237B-2AC7-FA6A-F39B-F2E8CFF1B2C8}"/>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D9AC4CA5-C8C3-3A73-E185-84B5254F1AA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3FF3301D-3D76-B8F3-1706-04BBC50F7270}"/>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AFF9ADCC-B0B1-35DA-DFDC-7E0E637E5B48}"/>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3EBD673C-4D98-DE1D-6C36-826151B577B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3187558" y="734680"/>
            <a:ext cx="2488888" cy="1625273"/>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3CA0DCB6-98D9-ADD7-E6A3-739F24AFEE8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4258665" y="7438413"/>
            <a:ext cx="3105386" cy="1717469"/>
          </a:xfrm>
          <a:prstGeom prst="rect">
            <a:avLst/>
          </a:prstGeom>
          <a:effectLst>
            <a:outerShdw blurRad="317500" sx="102000" sy="102000" algn="ctr" rotWithShape="0">
              <a:srgbClr val="C29524">
                <a:alpha val="50000"/>
              </a:srgbClr>
            </a:outerShdw>
          </a:effectLst>
        </p:spPr>
      </p:pic>
      <p:sp>
        <p:nvSpPr>
          <p:cNvPr id="123" name="Rectangle: Rounded Corners 122">
            <a:extLst>
              <a:ext uri="{FF2B5EF4-FFF2-40B4-BE49-F238E27FC236}">
                <a16:creationId xmlns:a16="http://schemas.microsoft.com/office/drawing/2014/main" id="{50051C13-5756-E3CA-294E-AE31DDF2FA58}"/>
              </a:ext>
            </a:extLst>
          </p:cNvPr>
          <p:cNvSpPr/>
          <p:nvPr/>
        </p:nvSpPr>
        <p:spPr>
          <a:xfrm>
            <a:off x="14062247" y="9221727"/>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0D2EB2AD-4F6F-E3F6-603E-B404C9F328BA}"/>
              </a:ext>
            </a:extLst>
          </p:cNvPr>
          <p:cNvSpPr/>
          <p:nvPr/>
        </p:nvSpPr>
        <p:spPr>
          <a:xfrm>
            <a:off x="14028823"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92C449E0-E0E0-1FE6-D2D2-D0931D96747B}"/>
              </a:ext>
            </a:extLst>
          </p:cNvPr>
          <p:cNvSpPr/>
          <p:nvPr/>
        </p:nvSpPr>
        <p:spPr>
          <a:xfrm>
            <a:off x="13484313"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2972A911-C780-A0E7-6004-A4DFFCB47C63}"/>
              </a:ext>
            </a:extLst>
          </p:cNvPr>
          <p:cNvSpPr/>
          <p:nvPr/>
        </p:nvSpPr>
        <p:spPr>
          <a:xfrm>
            <a:off x="15095760"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8EDB20E4-E5CD-2DB2-E927-FECA25D7C765}"/>
              </a:ext>
            </a:extLst>
          </p:cNvPr>
          <p:cNvSpPr/>
          <p:nvPr/>
        </p:nvSpPr>
        <p:spPr>
          <a:xfrm>
            <a:off x="15576920"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51914443-151E-9F32-77E6-61B64DA02597}"/>
              </a:ext>
            </a:extLst>
          </p:cNvPr>
          <p:cNvCxnSpPr>
            <a:cxnSpLocks/>
          </p:cNvCxnSpPr>
          <p:nvPr/>
        </p:nvCxnSpPr>
        <p:spPr>
          <a:xfrm flipV="1">
            <a:off x="15003987"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9A3B8D60-E56E-4618-6258-FEB03845D715}"/>
              </a:ext>
            </a:extLst>
          </p:cNvPr>
          <p:cNvCxnSpPr>
            <a:cxnSpLocks/>
          </p:cNvCxnSpPr>
          <p:nvPr/>
        </p:nvCxnSpPr>
        <p:spPr>
          <a:xfrm flipV="1">
            <a:off x="15861237"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63604AD8-C52B-A738-2478-A6D59AC0393C}"/>
              </a:ext>
            </a:extLst>
          </p:cNvPr>
          <p:cNvCxnSpPr>
            <a:cxnSpLocks/>
          </p:cNvCxnSpPr>
          <p:nvPr/>
        </p:nvCxnSpPr>
        <p:spPr>
          <a:xfrm>
            <a:off x="15437373"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9E4BBF02-C753-4858-AA55-6C10A8224B9F}"/>
              </a:ext>
            </a:extLst>
          </p:cNvPr>
          <p:cNvGrpSpPr/>
          <p:nvPr/>
        </p:nvGrpSpPr>
        <p:grpSpPr>
          <a:xfrm>
            <a:off x="2411509" y="1604426"/>
            <a:ext cx="707325" cy="4566893"/>
            <a:chOff x="2411509" y="1604426"/>
            <a:chExt cx="707325" cy="4566893"/>
          </a:xfrm>
        </p:grpSpPr>
        <p:cxnSp>
          <p:nvCxnSpPr>
            <p:cNvPr id="18" name="Straight Arrow Connector 17">
              <a:extLst>
                <a:ext uri="{FF2B5EF4-FFF2-40B4-BE49-F238E27FC236}">
                  <a16:creationId xmlns:a16="http://schemas.microsoft.com/office/drawing/2014/main" id="{2B8038DA-4C11-A189-EE91-13792D5CEE0D}"/>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CFEF1F7-A300-145B-90EE-5E769C660C00}"/>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A86150B-02B6-41AD-1538-2C4829BEB4F0}"/>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BF2101F-F7A7-13D0-958B-4CC5E3B44E59}"/>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90A96CC-E42C-48AB-D1FC-A9BE1DC3BBC3}"/>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3511BE6-BBCC-D502-5966-460A4B755E82}"/>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E87AA7D2-B851-8686-93A8-50F724D3A878}"/>
              </a:ext>
            </a:extLst>
          </p:cNvPr>
          <p:cNvGrpSpPr/>
          <p:nvPr/>
        </p:nvGrpSpPr>
        <p:grpSpPr>
          <a:xfrm>
            <a:off x="3118834" y="1372994"/>
            <a:ext cx="2801619" cy="5221323"/>
            <a:chOff x="3171008" y="1384926"/>
            <a:chExt cx="2801619" cy="5221323"/>
          </a:xfrm>
        </p:grpSpPr>
        <p:sp>
          <p:nvSpPr>
            <p:cNvPr id="25" name="TextBox 24">
              <a:extLst>
                <a:ext uri="{FF2B5EF4-FFF2-40B4-BE49-F238E27FC236}">
                  <a16:creationId xmlns:a16="http://schemas.microsoft.com/office/drawing/2014/main" id="{1932293D-AB98-6B34-3DD1-035F0DDB3F21}"/>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26" name="TextBox 25">
              <a:extLst>
                <a:ext uri="{FF2B5EF4-FFF2-40B4-BE49-F238E27FC236}">
                  <a16:creationId xmlns:a16="http://schemas.microsoft.com/office/drawing/2014/main" id="{FB7CFF4F-D2D9-EDA9-16EF-BB69882E060D}"/>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27" name="TextBox 26">
              <a:extLst>
                <a:ext uri="{FF2B5EF4-FFF2-40B4-BE49-F238E27FC236}">
                  <a16:creationId xmlns:a16="http://schemas.microsoft.com/office/drawing/2014/main" id="{677A0923-1E82-7E79-3AB3-86A3E6D55C12}"/>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28" name="TextBox 27">
              <a:extLst>
                <a:ext uri="{FF2B5EF4-FFF2-40B4-BE49-F238E27FC236}">
                  <a16:creationId xmlns:a16="http://schemas.microsoft.com/office/drawing/2014/main" id="{B2F8B2A0-98BB-1F4C-B825-04F4513B8398}"/>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29" name="TextBox 28">
              <a:extLst>
                <a:ext uri="{FF2B5EF4-FFF2-40B4-BE49-F238E27FC236}">
                  <a16:creationId xmlns:a16="http://schemas.microsoft.com/office/drawing/2014/main" id="{C39DCC3C-0C04-4391-9F0D-358AD0B0DE4A}"/>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0" name="TextBox 29">
              <a:extLst>
                <a:ext uri="{FF2B5EF4-FFF2-40B4-BE49-F238E27FC236}">
                  <a16:creationId xmlns:a16="http://schemas.microsoft.com/office/drawing/2014/main" id="{521BFFF7-41B8-85C0-04AE-1C2D2C42C830}"/>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1" name="Group 30">
            <a:extLst>
              <a:ext uri="{FF2B5EF4-FFF2-40B4-BE49-F238E27FC236}">
                <a16:creationId xmlns:a16="http://schemas.microsoft.com/office/drawing/2014/main" id="{78611C8F-A7A4-4C12-079A-8332908883E2}"/>
              </a:ext>
            </a:extLst>
          </p:cNvPr>
          <p:cNvGrpSpPr/>
          <p:nvPr/>
        </p:nvGrpSpPr>
        <p:grpSpPr>
          <a:xfrm>
            <a:off x="305322" y="1230331"/>
            <a:ext cx="1970636" cy="5332610"/>
            <a:chOff x="273095" y="1230331"/>
            <a:chExt cx="1970636" cy="5332610"/>
          </a:xfrm>
        </p:grpSpPr>
        <p:sp>
          <p:nvSpPr>
            <p:cNvPr id="32" name="Rectangle: Rounded Corners 31">
              <a:extLst>
                <a:ext uri="{FF2B5EF4-FFF2-40B4-BE49-F238E27FC236}">
                  <a16:creationId xmlns:a16="http://schemas.microsoft.com/office/drawing/2014/main" id="{7A91D56A-B1A7-9CA5-F106-5766BA79A361}"/>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3" name="Rectangle: Rounded Corners 32">
              <a:extLst>
                <a:ext uri="{FF2B5EF4-FFF2-40B4-BE49-F238E27FC236}">
                  <a16:creationId xmlns:a16="http://schemas.microsoft.com/office/drawing/2014/main" id="{7203284B-7FE9-60D8-EA27-EA8C2377AB8B}"/>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4" name="Rectangle: Rounded Corners 33">
              <a:extLst>
                <a:ext uri="{FF2B5EF4-FFF2-40B4-BE49-F238E27FC236}">
                  <a16:creationId xmlns:a16="http://schemas.microsoft.com/office/drawing/2014/main" id="{1D4E4FA4-553A-5513-C190-5D5C48853BC5}"/>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5" name="Rectangle: Rounded Corners 34">
              <a:extLst>
                <a:ext uri="{FF2B5EF4-FFF2-40B4-BE49-F238E27FC236}">
                  <a16:creationId xmlns:a16="http://schemas.microsoft.com/office/drawing/2014/main" id="{A70B8089-7959-EE59-012C-136AEEF567A8}"/>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6" name="Rectangle: Rounded Corners 35">
              <a:extLst>
                <a:ext uri="{FF2B5EF4-FFF2-40B4-BE49-F238E27FC236}">
                  <a16:creationId xmlns:a16="http://schemas.microsoft.com/office/drawing/2014/main" id="{1F601DCF-7D27-3131-D826-A8C8179D5FE9}"/>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7" name="Rectangle: Rounded Corners 36">
              <a:extLst>
                <a:ext uri="{FF2B5EF4-FFF2-40B4-BE49-F238E27FC236}">
                  <a16:creationId xmlns:a16="http://schemas.microsoft.com/office/drawing/2014/main" id="{0CB84B62-E676-6544-8633-707EDA85E1EC}"/>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8" name="TextBox 37">
              <a:extLst>
                <a:ext uri="{FF2B5EF4-FFF2-40B4-BE49-F238E27FC236}">
                  <a16:creationId xmlns:a16="http://schemas.microsoft.com/office/drawing/2014/main" id="{8D2E6AFD-65C6-8A08-0D56-4B1136660A3C}"/>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39" name="TextBox 38">
              <a:extLst>
                <a:ext uri="{FF2B5EF4-FFF2-40B4-BE49-F238E27FC236}">
                  <a16:creationId xmlns:a16="http://schemas.microsoft.com/office/drawing/2014/main" id="{D237D6B1-FFE8-FE06-4CB3-F5DD9DDBD6E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40" name="TextBox 39">
              <a:extLst>
                <a:ext uri="{FF2B5EF4-FFF2-40B4-BE49-F238E27FC236}">
                  <a16:creationId xmlns:a16="http://schemas.microsoft.com/office/drawing/2014/main" id="{B8097464-15D8-5D4C-2DBB-F481524B2E07}"/>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41" name="TextBox 40">
              <a:extLst>
                <a:ext uri="{FF2B5EF4-FFF2-40B4-BE49-F238E27FC236}">
                  <a16:creationId xmlns:a16="http://schemas.microsoft.com/office/drawing/2014/main" id="{C517A7EA-0703-8A37-AD15-BF9A06F04275}"/>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43" name="TextBox 42">
              <a:extLst>
                <a:ext uri="{FF2B5EF4-FFF2-40B4-BE49-F238E27FC236}">
                  <a16:creationId xmlns:a16="http://schemas.microsoft.com/office/drawing/2014/main" id="{3E0C349F-C78B-CCB6-F722-697AF9946ABC}"/>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50" name="TextBox 49">
              <a:extLst>
                <a:ext uri="{FF2B5EF4-FFF2-40B4-BE49-F238E27FC236}">
                  <a16:creationId xmlns:a16="http://schemas.microsoft.com/office/drawing/2014/main" id="{7C9AF58F-904D-9269-6D65-C94E3494A8DE}"/>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
        <p:nvSpPr>
          <p:cNvPr id="54" name="Rectangle: Rounded Corners 53">
            <a:extLst>
              <a:ext uri="{FF2B5EF4-FFF2-40B4-BE49-F238E27FC236}">
                <a16:creationId xmlns:a16="http://schemas.microsoft.com/office/drawing/2014/main" id="{06F037DF-CDAB-B2A4-3FBC-94AF4E51EAD7}"/>
              </a:ext>
            </a:extLst>
          </p:cNvPr>
          <p:cNvSpPr/>
          <p:nvPr/>
        </p:nvSpPr>
        <p:spPr>
          <a:xfrm>
            <a:off x="12878116"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340507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F5B795A-0A7E-11EA-1162-A2C43E41F5E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1F7B0EE-3F3D-286C-B658-F0A246146D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F169E0CD-1D35-4B55-7692-FE3CBAC8A48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C4037987-28C7-7839-66CC-9C94323A85EE}"/>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678B490E-C8E5-66EB-1AF4-F451BE9D1505}"/>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274A63F2-B33C-7089-D60F-BB610EA3CFF7}"/>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06FA0FE3-2C00-0DFB-9FBE-CBB5B2FDC7FE}"/>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B0C56DD-72BC-768D-4534-B4D1542FCAF5}"/>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0530E5DB-7B7E-6242-4936-CD6B31C01E37}"/>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4B0A6116-F463-36EE-7AAB-8FE1EB18D1CC}"/>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8B59914B-1889-2FBE-26AC-02A58FE3CA20}"/>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90969B32-3DD1-3F75-F7F8-34C38DAE5CC4}"/>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D2C3EBF3-E9BE-A2F6-1415-56E76344023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E3D62F4E-8ABE-51B6-943E-101CE1E8FE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57F81893-64EF-ADAE-FBF6-87D2DBC06D1A}"/>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92B558D3-7C02-DDC5-A425-7A2923A0E6BD}"/>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581B6406-23BF-FFFE-9398-F459C95C9A52}"/>
              </a:ext>
            </a:extLst>
          </p:cNvPr>
          <p:cNvSpPr/>
          <p:nvPr/>
        </p:nvSpPr>
        <p:spPr>
          <a:xfrm>
            <a:off x="12916198" y="1717675"/>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B86A4680-E913-ACC6-0A82-7C05F7BB26C6}"/>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0C9B89C9-239B-12C4-8220-71AF306E92A7}"/>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BD59A996-6BFA-029A-3831-06528B4395D2}"/>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B6BBE92B-36F3-2C6D-1524-5097CB1D9C6B}"/>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F41530D4-C0BF-A56D-4FAA-A8CA2910ABAD}"/>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39682D6E-D5E4-577E-EE4F-7ED9E33ACB72}"/>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DBF463E2-98C5-8C9F-1DDF-B84AC60EE17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335074" y="7403933"/>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3118CDE4-1B33-1BD2-FF1A-F3A05508471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58975" y="3687838"/>
            <a:ext cx="1638182" cy="1616120"/>
          </a:xfrm>
          <a:prstGeom prst="rect">
            <a:avLst/>
          </a:prstGeom>
        </p:spPr>
      </p:pic>
      <p:grpSp>
        <p:nvGrpSpPr>
          <p:cNvPr id="21" name="Group 20">
            <a:extLst>
              <a:ext uri="{FF2B5EF4-FFF2-40B4-BE49-F238E27FC236}">
                <a16:creationId xmlns:a16="http://schemas.microsoft.com/office/drawing/2014/main" id="{55BAA085-6929-4B23-41EA-5AD27E0BE3AD}"/>
              </a:ext>
            </a:extLst>
          </p:cNvPr>
          <p:cNvGrpSpPr/>
          <p:nvPr/>
        </p:nvGrpSpPr>
        <p:grpSpPr>
          <a:xfrm>
            <a:off x="2411509" y="1604426"/>
            <a:ext cx="707325" cy="4566893"/>
            <a:chOff x="2411509" y="1604426"/>
            <a:chExt cx="707325" cy="4566893"/>
          </a:xfrm>
        </p:grpSpPr>
        <p:cxnSp>
          <p:nvCxnSpPr>
            <p:cNvPr id="22" name="Straight Arrow Connector 21">
              <a:extLst>
                <a:ext uri="{FF2B5EF4-FFF2-40B4-BE49-F238E27FC236}">
                  <a16:creationId xmlns:a16="http://schemas.microsoft.com/office/drawing/2014/main" id="{6B2D1F9D-9D39-E010-87C8-D9301FE228DB}"/>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23576D6F-055A-0C38-F2C4-336E58C33A06}"/>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5C9FCD3-D1D9-A2B1-C371-F1EE3FD449DE}"/>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7E652D5-E290-A282-9822-6486B5A4B817}"/>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DBB8160-7F75-2186-BAC7-95B628F06F24}"/>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FD9B78F-C8C2-22C6-CB13-0FAA22AB586A}"/>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83443469-401A-097D-37FD-37720210432D}"/>
              </a:ext>
            </a:extLst>
          </p:cNvPr>
          <p:cNvGrpSpPr/>
          <p:nvPr/>
        </p:nvGrpSpPr>
        <p:grpSpPr>
          <a:xfrm>
            <a:off x="3118834" y="1372994"/>
            <a:ext cx="2801619" cy="5221323"/>
            <a:chOff x="3171008" y="1384926"/>
            <a:chExt cx="2801619" cy="5221323"/>
          </a:xfrm>
        </p:grpSpPr>
        <p:sp>
          <p:nvSpPr>
            <p:cNvPr id="29" name="TextBox 28">
              <a:extLst>
                <a:ext uri="{FF2B5EF4-FFF2-40B4-BE49-F238E27FC236}">
                  <a16:creationId xmlns:a16="http://schemas.microsoft.com/office/drawing/2014/main" id="{48DECEDD-762D-BC79-7AE8-FDE522524AA0}"/>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0" name="TextBox 29">
              <a:extLst>
                <a:ext uri="{FF2B5EF4-FFF2-40B4-BE49-F238E27FC236}">
                  <a16:creationId xmlns:a16="http://schemas.microsoft.com/office/drawing/2014/main" id="{15CA496A-BE18-6385-EDAE-041CDADD7704}"/>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1" name="TextBox 30">
              <a:extLst>
                <a:ext uri="{FF2B5EF4-FFF2-40B4-BE49-F238E27FC236}">
                  <a16:creationId xmlns:a16="http://schemas.microsoft.com/office/drawing/2014/main" id="{3238F65F-26D3-EC18-ED4B-7C8FAB10B349}"/>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2" name="TextBox 31">
              <a:extLst>
                <a:ext uri="{FF2B5EF4-FFF2-40B4-BE49-F238E27FC236}">
                  <a16:creationId xmlns:a16="http://schemas.microsoft.com/office/drawing/2014/main" id="{14D51AEE-C21B-01DB-584F-8F79BDDB01D6}"/>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3" name="TextBox 32">
              <a:extLst>
                <a:ext uri="{FF2B5EF4-FFF2-40B4-BE49-F238E27FC236}">
                  <a16:creationId xmlns:a16="http://schemas.microsoft.com/office/drawing/2014/main" id="{CC4C92B7-DB79-9E8D-CE3E-73FA875EFD6B}"/>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4" name="TextBox 33">
              <a:extLst>
                <a:ext uri="{FF2B5EF4-FFF2-40B4-BE49-F238E27FC236}">
                  <a16:creationId xmlns:a16="http://schemas.microsoft.com/office/drawing/2014/main" id="{5BBD43B2-D5B6-9A0E-996F-1878B319D7EB}"/>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5" name="Group 34">
            <a:extLst>
              <a:ext uri="{FF2B5EF4-FFF2-40B4-BE49-F238E27FC236}">
                <a16:creationId xmlns:a16="http://schemas.microsoft.com/office/drawing/2014/main" id="{31E16014-4290-E4FA-88FA-AB9E860B9C76}"/>
              </a:ext>
            </a:extLst>
          </p:cNvPr>
          <p:cNvGrpSpPr/>
          <p:nvPr/>
        </p:nvGrpSpPr>
        <p:grpSpPr>
          <a:xfrm>
            <a:off x="305322" y="1230331"/>
            <a:ext cx="1970636" cy="5332610"/>
            <a:chOff x="273095" y="1230331"/>
            <a:chExt cx="1970636" cy="5332610"/>
          </a:xfrm>
        </p:grpSpPr>
        <p:sp>
          <p:nvSpPr>
            <p:cNvPr id="36" name="Rectangle: Rounded Corners 35">
              <a:extLst>
                <a:ext uri="{FF2B5EF4-FFF2-40B4-BE49-F238E27FC236}">
                  <a16:creationId xmlns:a16="http://schemas.microsoft.com/office/drawing/2014/main" id="{894C90AD-D93B-6FC0-1FB8-764F58154625}"/>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7" name="Rectangle: Rounded Corners 36">
              <a:extLst>
                <a:ext uri="{FF2B5EF4-FFF2-40B4-BE49-F238E27FC236}">
                  <a16:creationId xmlns:a16="http://schemas.microsoft.com/office/drawing/2014/main" id="{538D1CDC-EB4D-BB03-3659-4621FD30E8D3}"/>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8" name="Rectangle: Rounded Corners 37">
              <a:extLst>
                <a:ext uri="{FF2B5EF4-FFF2-40B4-BE49-F238E27FC236}">
                  <a16:creationId xmlns:a16="http://schemas.microsoft.com/office/drawing/2014/main" id="{41C9C642-7A47-97B9-88F5-EA9D28C699F8}"/>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9" name="Rectangle: Rounded Corners 38">
              <a:extLst>
                <a:ext uri="{FF2B5EF4-FFF2-40B4-BE49-F238E27FC236}">
                  <a16:creationId xmlns:a16="http://schemas.microsoft.com/office/drawing/2014/main" id="{2C993674-9D3F-10E2-FD2D-A5928D07F8D9}"/>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0" name="Rectangle: Rounded Corners 39">
              <a:extLst>
                <a:ext uri="{FF2B5EF4-FFF2-40B4-BE49-F238E27FC236}">
                  <a16:creationId xmlns:a16="http://schemas.microsoft.com/office/drawing/2014/main" id="{CC7DFB4C-97D9-96F2-00F9-D0BC1730DEA2}"/>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EB194A99-DCE6-A52B-ECAE-88356DAEC49F}"/>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3" name="TextBox 42">
              <a:extLst>
                <a:ext uri="{FF2B5EF4-FFF2-40B4-BE49-F238E27FC236}">
                  <a16:creationId xmlns:a16="http://schemas.microsoft.com/office/drawing/2014/main" id="{D5D239E0-AA7F-B152-7EC2-D50A5F1F05C2}"/>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0" name="TextBox 49">
              <a:extLst>
                <a:ext uri="{FF2B5EF4-FFF2-40B4-BE49-F238E27FC236}">
                  <a16:creationId xmlns:a16="http://schemas.microsoft.com/office/drawing/2014/main" id="{AAF55BED-03E2-7447-4AFB-3171678EDA7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1" name="TextBox 50">
              <a:extLst>
                <a:ext uri="{FF2B5EF4-FFF2-40B4-BE49-F238E27FC236}">
                  <a16:creationId xmlns:a16="http://schemas.microsoft.com/office/drawing/2014/main" id="{034DDD39-0709-6B47-13EC-2659C2FDC641}"/>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2" name="TextBox 51">
              <a:extLst>
                <a:ext uri="{FF2B5EF4-FFF2-40B4-BE49-F238E27FC236}">
                  <a16:creationId xmlns:a16="http://schemas.microsoft.com/office/drawing/2014/main" id="{2ED68D79-9A90-D1A9-BE1B-6EA5FD0D28E3}"/>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53" name="TextBox 52">
              <a:extLst>
                <a:ext uri="{FF2B5EF4-FFF2-40B4-BE49-F238E27FC236}">
                  <a16:creationId xmlns:a16="http://schemas.microsoft.com/office/drawing/2014/main" id="{0C23F3A8-BB86-B5A5-DC56-9F3926D75698}"/>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54" name="TextBox 53">
              <a:extLst>
                <a:ext uri="{FF2B5EF4-FFF2-40B4-BE49-F238E27FC236}">
                  <a16:creationId xmlns:a16="http://schemas.microsoft.com/office/drawing/2014/main" id="{C09B35B0-F9B0-22CB-7757-D091AB1B30B7}"/>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2782185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5CDF6C-6F02-BF05-321F-E3E0419EFFB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7D87D94-3489-4F26-2B3B-6DB1B33693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7E939404-211A-35EB-4FCF-77A82FE9E42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EE978B82-A3B7-77E6-40C5-9A26D662C293}"/>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8787E82A-252F-0A06-D2D9-F4C583CC26C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F075093F-8E76-D6B7-CC35-A5BC34BCA4FF}"/>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9F51AB87-6B32-66FE-A01A-7B1E02301BD1}"/>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DC78829E-0468-D0DE-F881-E0992CE109BB}"/>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1FA9073-89F6-691E-E5D1-C237D7F3D8AA}"/>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0F5A120-83B5-6991-BA35-00EA48E971FA}"/>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40E93A8F-9FC7-9EB5-9CA3-674699FF542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5C0EC0DF-48C9-367D-A5A3-0EEB508910BD}"/>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B0CF93C8-00A8-5B0D-A18C-AC96CD4FCBA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3684E2A6-9A0B-BE71-FEA1-D96D86774A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96CB8DE3-F2AA-71A8-FDF3-C09F78B78DAC}"/>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CA6106BB-FA9C-A8D0-E665-2605794FCF25}"/>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4889E448-6078-C004-C3D9-D2B96ABD6697}"/>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CB6EA2BA-9185-A219-A74C-DC4B2D723537}"/>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7F7B1EB5-71C1-BFF9-583D-417ED8F07CBF}"/>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370C0C3D-FA4C-6EB9-E61E-7D2F859D98BB}"/>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FB52222F-591F-AACD-0560-5E6F73262B5F}"/>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6255CFB9-3537-83D5-10DF-BF0AB795381F}"/>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C95014D2-4E77-9952-0937-1577C0DA6854}"/>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B5EF6B96-E36E-5944-C369-2A4F90B4486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335074" y="7403933"/>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925E0CEF-38FD-4719-CFE4-B873E0BBFE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855620" y="3687838"/>
            <a:ext cx="1638182" cy="1616120"/>
          </a:xfrm>
          <a:prstGeom prst="rect">
            <a:avLst/>
          </a:prstGeom>
        </p:spPr>
      </p:pic>
      <p:grpSp>
        <p:nvGrpSpPr>
          <p:cNvPr id="21" name="Group 20">
            <a:extLst>
              <a:ext uri="{FF2B5EF4-FFF2-40B4-BE49-F238E27FC236}">
                <a16:creationId xmlns:a16="http://schemas.microsoft.com/office/drawing/2014/main" id="{578B4BF0-8CC8-6029-42C3-1E2A6D2D4529}"/>
              </a:ext>
            </a:extLst>
          </p:cNvPr>
          <p:cNvGrpSpPr/>
          <p:nvPr/>
        </p:nvGrpSpPr>
        <p:grpSpPr>
          <a:xfrm>
            <a:off x="2411509" y="1604426"/>
            <a:ext cx="707325" cy="4566893"/>
            <a:chOff x="2411509" y="1604426"/>
            <a:chExt cx="707325" cy="4566893"/>
          </a:xfrm>
        </p:grpSpPr>
        <p:cxnSp>
          <p:nvCxnSpPr>
            <p:cNvPr id="22" name="Straight Arrow Connector 21">
              <a:extLst>
                <a:ext uri="{FF2B5EF4-FFF2-40B4-BE49-F238E27FC236}">
                  <a16:creationId xmlns:a16="http://schemas.microsoft.com/office/drawing/2014/main" id="{3BCE0208-14B7-674B-8EC8-FD437C485DEC}"/>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417CE54-6D1E-66E7-8439-5BCAFCEF6130}"/>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53490D9-3153-4FBA-7FD8-9EE282F906DB}"/>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1E86AEA-ABD6-5283-A5F3-DE01E63414AF}"/>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3FBC32D-A6F5-6A16-8D1C-CB9AC226F2DB}"/>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0D83406-9C07-12E0-1E1E-A48E083485F1}"/>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83A72EED-01C5-1C9E-B895-EBAE2C6566B1}"/>
              </a:ext>
            </a:extLst>
          </p:cNvPr>
          <p:cNvGrpSpPr/>
          <p:nvPr/>
        </p:nvGrpSpPr>
        <p:grpSpPr>
          <a:xfrm>
            <a:off x="3118834" y="1372994"/>
            <a:ext cx="2801619" cy="5221323"/>
            <a:chOff x="3171008" y="1384926"/>
            <a:chExt cx="2801619" cy="5221323"/>
          </a:xfrm>
        </p:grpSpPr>
        <p:sp>
          <p:nvSpPr>
            <p:cNvPr id="29" name="TextBox 28">
              <a:extLst>
                <a:ext uri="{FF2B5EF4-FFF2-40B4-BE49-F238E27FC236}">
                  <a16:creationId xmlns:a16="http://schemas.microsoft.com/office/drawing/2014/main" id="{5CC1AF34-AA50-3F8A-C6AE-98256E4B6198}"/>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0" name="TextBox 29">
              <a:extLst>
                <a:ext uri="{FF2B5EF4-FFF2-40B4-BE49-F238E27FC236}">
                  <a16:creationId xmlns:a16="http://schemas.microsoft.com/office/drawing/2014/main" id="{35ABC137-8CF4-FC4F-C08B-5FF94C0DBC1D}"/>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1" name="TextBox 30">
              <a:extLst>
                <a:ext uri="{FF2B5EF4-FFF2-40B4-BE49-F238E27FC236}">
                  <a16:creationId xmlns:a16="http://schemas.microsoft.com/office/drawing/2014/main" id="{0258AEDF-F1FA-8A1C-846A-0DBF881D2DF3}"/>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2" name="TextBox 31">
              <a:extLst>
                <a:ext uri="{FF2B5EF4-FFF2-40B4-BE49-F238E27FC236}">
                  <a16:creationId xmlns:a16="http://schemas.microsoft.com/office/drawing/2014/main" id="{CE98A2D7-B45D-E130-6D77-6F635930045B}"/>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3" name="TextBox 32">
              <a:extLst>
                <a:ext uri="{FF2B5EF4-FFF2-40B4-BE49-F238E27FC236}">
                  <a16:creationId xmlns:a16="http://schemas.microsoft.com/office/drawing/2014/main" id="{9F39551C-696D-C140-A815-8FFE3933555B}"/>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4" name="TextBox 33">
              <a:extLst>
                <a:ext uri="{FF2B5EF4-FFF2-40B4-BE49-F238E27FC236}">
                  <a16:creationId xmlns:a16="http://schemas.microsoft.com/office/drawing/2014/main" id="{347D0376-1EE8-B513-7878-D7220081A546}"/>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5" name="Group 34">
            <a:extLst>
              <a:ext uri="{FF2B5EF4-FFF2-40B4-BE49-F238E27FC236}">
                <a16:creationId xmlns:a16="http://schemas.microsoft.com/office/drawing/2014/main" id="{43517B4F-CA8D-4028-7B28-C8AAC662DD32}"/>
              </a:ext>
            </a:extLst>
          </p:cNvPr>
          <p:cNvGrpSpPr/>
          <p:nvPr/>
        </p:nvGrpSpPr>
        <p:grpSpPr>
          <a:xfrm>
            <a:off x="305322" y="1230331"/>
            <a:ext cx="1970636" cy="5332610"/>
            <a:chOff x="273095" y="1230331"/>
            <a:chExt cx="1970636" cy="5332610"/>
          </a:xfrm>
        </p:grpSpPr>
        <p:sp>
          <p:nvSpPr>
            <p:cNvPr id="36" name="Rectangle: Rounded Corners 35">
              <a:extLst>
                <a:ext uri="{FF2B5EF4-FFF2-40B4-BE49-F238E27FC236}">
                  <a16:creationId xmlns:a16="http://schemas.microsoft.com/office/drawing/2014/main" id="{E20059CD-5CBE-A914-33A7-F40A2810BF7D}"/>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7" name="Rectangle: Rounded Corners 36">
              <a:extLst>
                <a:ext uri="{FF2B5EF4-FFF2-40B4-BE49-F238E27FC236}">
                  <a16:creationId xmlns:a16="http://schemas.microsoft.com/office/drawing/2014/main" id="{B8CF1FFC-9738-F40A-503A-CBDA1D7CB7E7}"/>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8" name="Rectangle: Rounded Corners 37">
              <a:extLst>
                <a:ext uri="{FF2B5EF4-FFF2-40B4-BE49-F238E27FC236}">
                  <a16:creationId xmlns:a16="http://schemas.microsoft.com/office/drawing/2014/main" id="{9F188642-A92B-61B0-0DA0-34E1C70BE758}"/>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9" name="Rectangle: Rounded Corners 38">
              <a:extLst>
                <a:ext uri="{FF2B5EF4-FFF2-40B4-BE49-F238E27FC236}">
                  <a16:creationId xmlns:a16="http://schemas.microsoft.com/office/drawing/2014/main" id="{CD9A2251-A8A6-2A52-7702-BD958EB2C1D6}"/>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0" name="Rectangle: Rounded Corners 39">
              <a:extLst>
                <a:ext uri="{FF2B5EF4-FFF2-40B4-BE49-F238E27FC236}">
                  <a16:creationId xmlns:a16="http://schemas.microsoft.com/office/drawing/2014/main" id="{88CCB08F-7958-2EBE-ACB6-7F5DFBE9C4DB}"/>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9EDEC895-6519-72EA-F777-AD917618E425}"/>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3" name="TextBox 42">
              <a:extLst>
                <a:ext uri="{FF2B5EF4-FFF2-40B4-BE49-F238E27FC236}">
                  <a16:creationId xmlns:a16="http://schemas.microsoft.com/office/drawing/2014/main" id="{FFA1B007-2D83-DFE5-B1E1-9C8B2A597A77}"/>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0" name="TextBox 49">
              <a:extLst>
                <a:ext uri="{FF2B5EF4-FFF2-40B4-BE49-F238E27FC236}">
                  <a16:creationId xmlns:a16="http://schemas.microsoft.com/office/drawing/2014/main" id="{BE26975A-6E20-214A-6E72-B61FC4440149}"/>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1" name="TextBox 50">
              <a:extLst>
                <a:ext uri="{FF2B5EF4-FFF2-40B4-BE49-F238E27FC236}">
                  <a16:creationId xmlns:a16="http://schemas.microsoft.com/office/drawing/2014/main" id="{7DC85779-B8E0-BC6D-AFDC-87EB96E01CC7}"/>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2" name="TextBox 51">
              <a:extLst>
                <a:ext uri="{FF2B5EF4-FFF2-40B4-BE49-F238E27FC236}">
                  <a16:creationId xmlns:a16="http://schemas.microsoft.com/office/drawing/2014/main" id="{4C6002D1-721D-3D9E-F836-568379AD64E5}"/>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53" name="TextBox 52">
              <a:extLst>
                <a:ext uri="{FF2B5EF4-FFF2-40B4-BE49-F238E27FC236}">
                  <a16:creationId xmlns:a16="http://schemas.microsoft.com/office/drawing/2014/main" id="{5771D2F0-F9DF-CB1D-3166-02A44D029989}"/>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54" name="TextBox 53">
              <a:extLst>
                <a:ext uri="{FF2B5EF4-FFF2-40B4-BE49-F238E27FC236}">
                  <a16:creationId xmlns:a16="http://schemas.microsoft.com/office/drawing/2014/main" id="{20FE5A9C-B06D-0352-3AD1-F5A5A96F73E7}"/>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34238169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BA8314-8E02-E9B6-BC7D-F2CD555EE4A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6894EF5-1172-2F43-626F-DA0AF131CA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76EE48CD-C93D-C682-D443-EFF70CDBAC42}"/>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5774B0F4-333D-2885-EE6E-B0140B85720A}"/>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795B6CA6-0275-FE98-EEF9-83FCE07E9F95}"/>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547015F9-6526-99E9-559C-0D17CD3E2BC8}"/>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CDC36BE-215B-5D60-E8FF-23868093E9A3}"/>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1E6BF4B3-4298-AAD4-67C1-10F83D455B09}"/>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55C63B9-4F3A-10DC-6409-84E0E36B44A6}"/>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9C98E8D2-106D-9F45-08D0-DCCB98E6DADF}"/>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1AC36936-73F4-F111-F68D-FDB887D80588}"/>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CBA6A23F-ED9A-747F-AC12-9C6EFAC61264}"/>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75096739-A299-611E-4408-A2BBE8C4785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D29B0A35-B6BA-53C8-2C99-FE9EAEE85C4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7822D3F2-251E-7895-E447-759AE2590538}"/>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8B7DB3D9-78D6-E9E1-BA6B-9AAE9565EDBF}"/>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056A8D1F-30F1-9523-41DE-B3A1B1698E8A}"/>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480149E8-35D0-A54D-FE31-34111F43BA5E}"/>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13078F7C-E5AF-881B-70C7-0A367DE82880}"/>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6E6AD3B1-BB20-CF2C-951E-7CDEFF96E2ED}"/>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B5644A0E-76E6-B4C7-E4E8-62E2C8A4AB2D}"/>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F5CC5065-390F-FC9D-B53D-01F072368CE0}"/>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CC545570-1B77-0CCF-457C-62E117A8B49A}"/>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05B9897D-3E8D-A971-80A3-518089EA07E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335074" y="7403933"/>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60CC7171-7A53-E595-EBF9-7DEA68394BE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18" name="Rectangle: Rounded Corners 17">
            <a:extLst>
              <a:ext uri="{FF2B5EF4-FFF2-40B4-BE49-F238E27FC236}">
                <a16:creationId xmlns:a16="http://schemas.microsoft.com/office/drawing/2014/main" id="{DBE658FA-EA95-8774-2989-F9BD650CE680}"/>
              </a:ext>
            </a:extLst>
          </p:cNvPr>
          <p:cNvSpPr/>
          <p:nvPr/>
        </p:nvSpPr>
        <p:spPr>
          <a:xfrm>
            <a:off x="6268954" y="8904060"/>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1" name="Group 20">
            <a:extLst>
              <a:ext uri="{FF2B5EF4-FFF2-40B4-BE49-F238E27FC236}">
                <a16:creationId xmlns:a16="http://schemas.microsoft.com/office/drawing/2014/main" id="{12C8E31D-1273-F717-9AAE-97E2194B1DA8}"/>
              </a:ext>
            </a:extLst>
          </p:cNvPr>
          <p:cNvGrpSpPr/>
          <p:nvPr/>
        </p:nvGrpSpPr>
        <p:grpSpPr>
          <a:xfrm>
            <a:off x="2411509" y="1604426"/>
            <a:ext cx="707325" cy="4566893"/>
            <a:chOff x="2411509" y="1604426"/>
            <a:chExt cx="707325" cy="4566893"/>
          </a:xfrm>
        </p:grpSpPr>
        <p:cxnSp>
          <p:nvCxnSpPr>
            <p:cNvPr id="22" name="Straight Arrow Connector 21">
              <a:extLst>
                <a:ext uri="{FF2B5EF4-FFF2-40B4-BE49-F238E27FC236}">
                  <a16:creationId xmlns:a16="http://schemas.microsoft.com/office/drawing/2014/main" id="{1BABFF3B-2225-5618-C2C8-A1840D2FBF68}"/>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F7BCCB0-9724-3783-A4B3-333E9ECF3443}"/>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C550083-D001-1661-2401-FC840E3B5786}"/>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D9017F0-F2EE-9FEA-0D3E-D1EF6E65238D}"/>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3AF88D36-B335-F2B8-D13C-C72873B71681}"/>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5417A7D-5B63-1FF6-B392-5174F56722B6}"/>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6878BD63-6192-6A30-3858-88E62F70DFAD}"/>
              </a:ext>
            </a:extLst>
          </p:cNvPr>
          <p:cNvGrpSpPr/>
          <p:nvPr/>
        </p:nvGrpSpPr>
        <p:grpSpPr>
          <a:xfrm>
            <a:off x="3118834" y="1372994"/>
            <a:ext cx="2801619" cy="5221323"/>
            <a:chOff x="3171008" y="1384926"/>
            <a:chExt cx="2801619" cy="5221323"/>
          </a:xfrm>
        </p:grpSpPr>
        <p:sp>
          <p:nvSpPr>
            <p:cNvPr id="29" name="TextBox 28">
              <a:extLst>
                <a:ext uri="{FF2B5EF4-FFF2-40B4-BE49-F238E27FC236}">
                  <a16:creationId xmlns:a16="http://schemas.microsoft.com/office/drawing/2014/main" id="{89B141F0-39BE-9EBF-EC1C-184A58251507}"/>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0" name="TextBox 29">
              <a:extLst>
                <a:ext uri="{FF2B5EF4-FFF2-40B4-BE49-F238E27FC236}">
                  <a16:creationId xmlns:a16="http://schemas.microsoft.com/office/drawing/2014/main" id="{F1C866E0-1841-1202-E9BF-372ED322DC2D}"/>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1" name="TextBox 30">
              <a:extLst>
                <a:ext uri="{FF2B5EF4-FFF2-40B4-BE49-F238E27FC236}">
                  <a16:creationId xmlns:a16="http://schemas.microsoft.com/office/drawing/2014/main" id="{263EC10F-6CA7-C6E4-ED4A-D66494FD29A0}"/>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2" name="TextBox 31">
              <a:extLst>
                <a:ext uri="{FF2B5EF4-FFF2-40B4-BE49-F238E27FC236}">
                  <a16:creationId xmlns:a16="http://schemas.microsoft.com/office/drawing/2014/main" id="{DD9BF50C-D8F1-59CE-E3BA-4B9F4427BCB3}"/>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3" name="TextBox 32">
              <a:extLst>
                <a:ext uri="{FF2B5EF4-FFF2-40B4-BE49-F238E27FC236}">
                  <a16:creationId xmlns:a16="http://schemas.microsoft.com/office/drawing/2014/main" id="{D225F1BA-B7E7-1FD9-5BF5-3B16346D5731}"/>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4" name="TextBox 33">
              <a:extLst>
                <a:ext uri="{FF2B5EF4-FFF2-40B4-BE49-F238E27FC236}">
                  <a16:creationId xmlns:a16="http://schemas.microsoft.com/office/drawing/2014/main" id="{E2015ED5-333C-675A-B25D-C95EC3C59141}"/>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5" name="Group 34">
            <a:extLst>
              <a:ext uri="{FF2B5EF4-FFF2-40B4-BE49-F238E27FC236}">
                <a16:creationId xmlns:a16="http://schemas.microsoft.com/office/drawing/2014/main" id="{55C4BEE2-D0A8-623E-07B0-800722DC9F68}"/>
              </a:ext>
            </a:extLst>
          </p:cNvPr>
          <p:cNvGrpSpPr/>
          <p:nvPr/>
        </p:nvGrpSpPr>
        <p:grpSpPr>
          <a:xfrm>
            <a:off x="305322" y="1230331"/>
            <a:ext cx="1970636" cy="5332610"/>
            <a:chOff x="273095" y="1230331"/>
            <a:chExt cx="1970636" cy="5332610"/>
          </a:xfrm>
        </p:grpSpPr>
        <p:sp>
          <p:nvSpPr>
            <p:cNvPr id="36" name="Rectangle: Rounded Corners 35">
              <a:extLst>
                <a:ext uri="{FF2B5EF4-FFF2-40B4-BE49-F238E27FC236}">
                  <a16:creationId xmlns:a16="http://schemas.microsoft.com/office/drawing/2014/main" id="{70C72CCB-5141-2307-AE6D-074CD335864C}"/>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7" name="Rectangle: Rounded Corners 36">
              <a:extLst>
                <a:ext uri="{FF2B5EF4-FFF2-40B4-BE49-F238E27FC236}">
                  <a16:creationId xmlns:a16="http://schemas.microsoft.com/office/drawing/2014/main" id="{D23F555E-AE82-B65F-5614-2823A4BD9DDA}"/>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8" name="Rectangle: Rounded Corners 37">
              <a:extLst>
                <a:ext uri="{FF2B5EF4-FFF2-40B4-BE49-F238E27FC236}">
                  <a16:creationId xmlns:a16="http://schemas.microsoft.com/office/drawing/2014/main" id="{D8F13804-F8C8-1755-E1F8-4B8EF51F0EEC}"/>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9" name="Rectangle: Rounded Corners 38">
              <a:extLst>
                <a:ext uri="{FF2B5EF4-FFF2-40B4-BE49-F238E27FC236}">
                  <a16:creationId xmlns:a16="http://schemas.microsoft.com/office/drawing/2014/main" id="{171578B9-F673-18A1-F1EB-B86CDA8E2143}"/>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0" name="Rectangle: Rounded Corners 39">
              <a:extLst>
                <a:ext uri="{FF2B5EF4-FFF2-40B4-BE49-F238E27FC236}">
                  <a16:creationId xmlns:a16="http://schemas.microsoft.com/office/drawing/2014/main" id="{AC36E134-EA51-E7BF-F3D8-582B408DC7DF}"/>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AF075502-82F1-B709-B1BD-FCEA8E3BDF96}"/>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3" name="TextBox 42">
              <a:extLst>
                <a:ext uri="{FF2B5EF4-FFF2-40B4-BE49-F238E27FC236}">
                  <a16:creationId xmlns:a16="http://schemas.microsoft.com/office/drawing/2014/main" id="{CA2CA6EA-CA0C-0B43-62AD-8593F059221F}"/>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0" name="TextBox 49">
              <a:extLst>
                <a:ext uri="{FF2B5EF4-FFF2-40B4-BE49-F238E27FC236}">
                  <a16:creationId xmlns:a16="http://schemas.microsoft.com/office/drawing/2014/main" id="{F6A668CA-3DDD-8FD9-DF64-F12D771A8E9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1" name="TextBox 50">
              <a:extLst>
                <a:ext uri="{FF2B5EF4-FFF2-40B4-BE49-F238E27FC236}">
                  <a16:creationId xmlns:a16="http://schemas.microsoft.com/office/drawing/2014/main" id="{2ADC5A22-8B6E-8D90-9977-265DB102C938}"/>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2" name="TextBox 51">
              <a:extLst>
                <a:ext uri="{FF2B5EF4-FFF2-40B4-BE49-F238E27FC236}">
                  <a16:creationId xmlns:a16="http://schemas.microsoft.com/office/drawing/2014/main" id="{B92309B1-3347-E667-266C-4C70C2106B4E}"/>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53" name="TextBox 52">
              <a:extLst>
                <a:ext uri="{FF2B5EF4-FFF2-40B4-BE49-F238E27FC236}">
                  <a16:creationId xmlns:a16="http://schemas.microsoft.com/office/drawing/2014/main" id="{1B624E45-4940-74E0-AC26-9BBF204BCDAF}"/>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54" name="TextBox 53">
              <a:extLst>
                <a:ext uri="{FF2B5EF4-FFF2-40B4-BE49-F238E27FC236}">
                  <a16:creationId xmlns:a16="http://schemas.microsoft.com/office/drawing/2014/main" id="{7B95ABB6-BF13-CD8E-4C83-5020C3398A6C}"/>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3672122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54133F-D723-9424-8070-734E8FA283D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44054BD-A526-38E0-1164-63CE4CF84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6DDC7F7F-D960-FCB5-6B37-122C1A1E28E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031CA41-7814-B095-147B-B85DBAFF93AD}"/>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C119255A-3346-AA27-6AED-F324FC941E88}"/>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A20365C8-33A9-7421-8155-34F6395B1237}"/>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454B67D1-44E4-5C05-D1A6-C1D5784B33F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0E4ADC7E-A438-2EFB-B243-63223459E2A1}"/>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4193D8DC-8745-48B3-EBC0-385A58197D45}"/>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4178F837-5C1D-AE8E-566C-2235C31E04BE}"/>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45741679-7125-2EA0-5FE4-70813BF1EE69}"/>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CA2E3038-C70C-B521-AC3B-9D618AE17D21}"/>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7A37AEE4-266E-D934-CB58-46890B0D281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790E2545-4B26-DC6A-1760-8BE1C21C3C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DA4D685C-9C2E-449A-2E11-5202EB967328}"/>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88C985AD-4F30-D6E5-0FDD-5E1BB624236D}"/>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CD9D8115-3C2B-E94A-2AB0-6E98D974D64C}"/>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4069FD67-850B-C6AF-9D87-F96390FFE586}"/>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CC9588EC-8711-B34E-8E66-AD84ACAE1F49}"/>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D0E5D1E2-2B1F-4CBF-8B66-4FA8276246E3}"/>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308447C1-9694-CD2D-9073-18072D1D07ED}"/>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EF896CB5-2093-FE3F-177D-91D1788BB93A}"/>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B7F26957-20F3-657F-EF0B-D60B641DF2F0}"/>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9CFE2D6-91D8-2C90-3B95-F14B2D8C7CE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3335074" y="7403933"/>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42AB1F1D-4F5B-1EAA-A2C5-53D1643FAA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2" name="Rectangle: Rounded Corners 21">
            <a:extLst>
              <a:ext uri="{FF2B5EF4-FFF2-40B4-BE49-F238E27FC236}">
                <a16:creationId xmlns:a16="http://schemas.microsoft.com/office/drawing/2014/main" id="{B1905CE0-006C-21CF-B039-FAEDE4DA6A8E}"/>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3" name="Group 22">
            <a:extLst>
              <a:ext uri="{FF2B5EF4-FFF2-40B4-BE49-F238E27FC236}">
                <a16:creationId xmlns:a16="http://schemas.microsoft.com/office/drawing/2014/main" id="{A05F2AFE-273B-F560-C059-5D6158F5531A}"/>
              </a:ext>
            </a:extLst>
          </p:cNvPr>
          <p:cNvGrpSpPr/>
          <p:nvPr/>
        </p:nvGrpSpPr>
        <p:grpSpPr>
          <a:xfrm>
            <a:off x="2411509" y="1604426"/>
            <a:ext cx="707325" cy="4566893"/>
            <a:chOff x="2411509" y="1604426"/>
            <a:chExt cx="707325" cy="4566893"/>
          </a:xfrm>
        </p:grpSpPr>
        <p:cxnSp>
          <p:nvCxnSpPr>
            <p:cNvPr id="24" name="Straight Arrow Connector 23">
              <a:extLst>
                <a:ext uri="{FF2B5EF4-FFF2-40B4-BE49-F238E27FC236}">
                  <a16:creationId xmlns:a16="http://schemas.microsoft.com/office/drawing/2014/main" id="{A7650472-0117-B7C9-3873-60B316D51688}"/>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930BB1B-01B4-3E21-0A24-9ADB649E9CBB}"/>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3870F98-6A08-530D-24E9-30E50B0563BF}"/>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2139276-6E31-9558-1091-4CE6BB7DB17C}"/>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4BB7113-EC44-089C-6F5A-1D553A9BDB83}"/>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95FA018-E595-6530-9308-D990DB4834B2}"/>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9D5287C8-91D6-E081-8C05-80628C5D5B10}"/>
              </a:ext>
            </a:extLst>
          </p:cNvPr>
          <p:cNvGrpSpPr/>
          <p:nvPr/>
        </p:nvGrpSpPr>
        <p:grpSpPr>
          <a:xfrm>
            <a:off x="3118834" y="1372994"/>
            <a:ext cx="2801619" cy="5221323"/>
            <a:chOff x="3171008" y="1384926"/>
            <a:chExt cx="2801619" cy="5221323"/>
          </a:xfrm>
        </p:grpSpPr>
        <p:sp>
          <p:nvSpPr>
            <p:cNvPr id="31" name="TextBox 30">
              <a:extLst>
                <a:ext uri="{FF2B5EF4-FFF2-40B4-BE49-F238E27FC236}">
                  <a16:creationId xmlns:a16="http://schemas.microsoft.com/office/drawing/2014/main" id="{0F91C751-A41B-6BB7-58B3-EC13568A1A1C}"/>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2" name="TextBox 31">
              <a:extLst>
                <a:ext uri="{FF2B5EF4-FFF2-40B4-BE49-F238E27FC236}">
                  <a16:creationId xmlns:a16="http://schemas.microsoft.com/office/drawing/2014/main" id="{2DD7860A-5271-7803-E832-2A10654B5B69}"/>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3" name="TextBox 32">
              <a:extLst>
                <a:ext uri="{FF2B5EF4-FFF2-40B4-BE49-F238E27FC236}">
                  <a16:creationId xmlns:a16="http://schemas.microsoft.com/office/drawing/2014/main" id="{C97F16E3-634F-A9F7-C2D3-F2A59DDA1C20}"/>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4" name="TextBox 33">
              <a:extLst>
                <a:ext uri="{FF2B5EF4-FFF2-40B4-BE49-F238E27FC236}">
                  <a16:creationId xmlns:a16="http://schemas.microsoft.com/office/drawing/2014/main" id="{30977113-148D-89F9-F658-229EFEF3682A}"/>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5" name="TextBox 34">
              <a:extLst>
                <a:ext uri="{FF2B5EF4-FFF2-40B4-BE49-F238E27FC236}">
                  <a16:creationId xmlns:a16="http://schemas.microsoft.com/office/drawing/2014/main" id="{C6C4AACE-FCCD-B882-F7B7-8FFD9F8172C3}"/>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6" name="TextBox 35">
              <a:extLst>
                <a:ext uri="{FF2B5EF4-FFF2-40B4-BE49-F238E27FC236}">
                  <a16:creationId xmlns:a16="http://schemas.microsoft.com/office/drawing/2014/main" id="{43BC4184-E9D7-00B0-FB24-4F31AD26F488}"/>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7" name="Group 36">
            <a:extLst>
              <a:ext uri="{FF2B5EF4-FFF2-40B4-BE49-F238E27FC236}">
                <a16:creationId xmlns:a16="http://schemas.microsoft.com/office/drawing/2014/main" id="{4847A356-278B-9B84-96C4-2DD08BDB7401}"/>
              </a:ext>
            </a:extLst>
          </p:cNvPr>
          <p:cNvGrpSpPr/>
          <p:nvPr/>
        </p:nvGrpSpPr>
        <p:grpSpPr>
          <a:xfrm>
            <a:off x="305322" y="1230331"/>
            <a:ext cx="1970636" cy="5332610"/>
            <a:chOff x="273095" y="1230331"/>
            <a:chExt cx="1970636" cy="5332610"/>
          </a:xfrm>
        </p:grpSpPr>
        <p:sp>
          <p:nvSpPr>
            <p:cNvPr id="38" name="Rectangle: Rounded Corners 37">
              <a:extLst>
                <a:ext uri="{FF2B5EF4-FFF2-40B4-BE49-F238E27FC236}">
                  <a16:creationId xmlns:a16="http://schemas.microsoft.com/office/drawing/2014/main" id="{D597E2BD-9024-8205-2C11-DD01BD1AC56A}"/>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9" name="Rectangle: Rounded Corners 38">
              <a:extLst>
                <a:ext uri="{FF2B5EF4-FFF2-40B4-BE49-F238E27FC236}">
                  <a16:creationId xmlns:a16="http://schemas.microsoft.com/office/drawing/2014/main" id="{938E212B-2AEC-D609-6CE0-F2D2AF37C22B}"/>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0" name="Rectangle: Rounded Corners 39">
              <a:extLst>
                <a:ext uri="{FF2B5EF4-FFF2-40B4-BE49-F238E27FC236}">
                  <a16:creationId xmlns:a16="http://schemas.microsoft.com/office/drawing/2014/main" id="{5269777A-2ABF-B729-3404-43BAB5605C12}"/>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002CA985-10AC-5B4E-05AC-EC446095D9B8}"/>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3" name="Rectangle: Rounded Corners 42">
              <a:extLst>
                <a:ext uri="{FF2B5EF4-FFF2-40B4-BE49-F238E27FC236}">
                  <a16:creationId xmlns:a16="http://schemas.microsoft.com/office/drawing/2014/main" id="{24589FCD-5A3A-3FE8-E15C-0393FA60A984}"/>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0" name="Rectangle: Rounded Corners 49">
              <a:extLst>
                <a:ext uri="{FF2B5EF4-FFF2-40B4-BE49-F238E27FC236}">
                  <a16:creationId xmlns:a16="http://schemas.microsoft.com/office/drawing/2014/main" id="{DE4141AB-14B4-D4BC-7010-3BFEC245148E}"/>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1" name="TextBox 50">
              <a:extLst>
                <a:ext uri="{FF2B5EF4-FFF2-40B4-BE49-F238E27FC236}">
                  <a16:creationId xmlns:a16="http://schemas.microsoft.com/office/drawing/2014/main" id="{678917AF-FD36-7648-9188-B38AE6586DCC}"/>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2" name="TextBox 51">
              <a:extLst>
                <a:ext uri="{FF2B5EF4-FFF2-40B4-BE49-F238E27FC236}">
                  <a16:creationId xmlns:a16="http://schemas.microsoft.com/office/drawing/2014/main" id="{663CF7DC-8274-5950-4EE4-A2C2BAD1C27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3" name="TextBox 52">
              <a:extLst>
                <a:ext uri="{FF2B5EF4-FFF2-40B4-BE49-F238E27FC236}">
                  <a16:creationId xmlns:a16="http://schemas.microsoft.com/office/drawing/2014/main" id="{F7704B3A-23B1-A8D3-9BCB-DE6F6F088299}"/>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4" name="TextBox 53">
              <a:extLst>
                <a:ext uri="{FF2B5EF4-FFF2-40B4-BE49-F238E27FC236}">
                  <a16:creationId xmlns:a16="http://schemas.microsoft.com/office/drawing/2014/main" id="{93692A88-AADE-C27E-6DC1-EF01FB5DD690}"/>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55" name="TextBox 54">
              <a:extLst>
                <a:ext uri="{FF2B5EF4-FFF2-40B4-BE49-F238E27FC236}">
                  <a16:creationId xmlns:a16="http://schemas.microsoft.com/office/drawing/2014/main" id="{E29C2BE1-287D-3DFA-69D0-B55660BF7895}"/>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56" name="TextBox 55">
              <a:extLst>
                <a:ext uri="{FF2B5EF4-FFF2-40B4-BE49-F238E27FC236}">
                  <a16:creationId xmlns:a16="http://schemas.microsoft.com/office/drawing/2014/main" id="{7A138A26-F7BD-9259-599B-D9F5D5B94775}"/>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7749341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B590F9-D06C-F4F6-500F-3CA69CC7DE7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09EBA28-B4BA-1D60-65BF-8CE55F468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7F8B0900-A36E-E883-62A2-0EC77AF0875B}"/>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760A75AB-EC4B-1E0F-3075-9A057D733FC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E63CA02D-2B13-0C19-BD4D-265172932806}"/>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EA266806-E557-57F0-931A-A1C4E6BF992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8329D0D8-0569-B7AD-8194-BAF6B35CC7D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3ADC4488-0472-D08B-D044-AC4C3A0D4B27}"/>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42BF61FB-FCA9-1819-8C54-93CD7B391BAD}"/>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16C5663E-41D1-B2F9-83D8-019831373F60}"/>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EA2062CB-CE57-8B3D-7554-7A049DEA6FF7}"/>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ED6A1DED-7CFF-BFE6-8052-3547D52D1176}"/>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06444F9C-F3D5-2772-B356-92AF5A3D2F9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95BC0748-4E32-63D0-D834-DBBA1B95C5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01A97168-3F45-FE64-AD1D-01E61DA84988}"/>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D767813C-4969-ADE5-B116-61AB89318B1E}"/>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E7A871BC-250C-5AD2-8A43-79E5379FDF6C}"/>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BE28083B-6CA1-690D-CA09-177DE13F67E7}"/>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85765FBB-BDFA-5437-DE6C-5101DD332AB3}"/>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04E5DFB2-D1BE-0B8D-3F56-627D4CC00089}"/>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00822532-85E2-94AC-FD31-4C730326E439}"/>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BC09E676-FC00-A0C7-099B-7D814B6F5E03}"/>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D2CB320A-FADF-980C-E2FD-F5ED70209EE9}"/>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9499E9F6-1249-8DB4-BC82-0E83C3ABBCA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10722BE2-33B0-D06C-50E2-07DEF5429A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5" name="Rectangle: Rounded Corners 24">
            <a:extLst>
              <a:ext uri="{FF2B5EF4-FFF2-40B4-BE49-F238E27FC236}">
                <a16:creationId xmlns:a16="http://schemas.microsoft.com/office/drawing/2014/main" id="{1203BB87-3B33-F5B9-7546-2D29B260323A}"/>
              </a:ext>
            </a:extLst>
          </p:cNvPr>
          <p:cNvSpPr/>
          <p:nvPr/>
        </p:nvSpPr>
        <p:spPr>
          <a:xfrm>
            <a:off x="14658975" y="5439395"/>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DFED9BE2-526D-231B-098A-D577766E6D40}"/>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8" name="Group 27">
            <a:extLst>
              <a:ext uri="{FF2B5EF4-FFF2-40B4-BE49-F238E27FC236}">
                <a16:creationId xmlns:a16="http://schemas.microsoft.com/office/drawing/2014/main" id="{F80F8AC3-A601-AD48-D443-EDD71556688E}"/>
              </a:ext>
            </a:extLst>
          </p:cNvPr>
          <p:cNvGrpSpPr/>
          <p:nvPr/>
        </p:nvGrpSpPr>
        <p:grpSpPr>
          <a:xfrm>
            <a:off x="2411509" y="1604426"/>
            <a:ext cx="707325" cy="4566893"/>
            <a:chOff x="2411509" y="1604426"/>
            <a:chExt cx="707325" cy="4566893"/>
          </a:xfrm>
        </p:grpSpPr>
        <p:cxnSp>
          <p:nvCxnSpPr>
            <p:cNvPr id="29" name="Straight Arrow Connector 28">
              <a:extLst>
                <a:ext uri="{FF2B5EF4-FFF2-40B4-BE49-F238E27FC236}">
                  <a16:creationId xmlns:a16="http://schemas.microsoft.com/office/drawing/2014/main" id="{4D6F7D6D-4AB8-5759-59AB-C080493B9A3F}"/>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B7D485B-63DE-9847-AECE-32675709ABC0}"/>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D9F6B32-5750-0E94-92F2-DAA831416435}"/>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46695FC-4941-C3B9-FCA9-2034B84954D3}"/>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98673A86-E07C-0245-E513-6AE9355A7B02}"/>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C7D8C70-CF6C-5AE8-2D4F-36D0484944C3}"/>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5" name="Group 34">
            <a:extLst>
              <a:ext uri="{FF2B5EF4-FFF2-40B4-BE49-F238E27FC236}">
                <a16:creationId xmlns:a16="http://schemas.microsoft.com/office/drawing/2014/main" id="{F20C48DB-D70C-898B-2288-AFEC41723B43}"/>
              </a:ext>
            </a:extLst>
          </p:cNvPr>
          <p:cNvGrpSpPr/>
          <p:nvPr/>
        </p:nvGrpSpPr>
        <p:grpSpPr>
          <a:xfrm>
            <a:off x="3118834" y="1372994"/>
            <a:ext cx="2801619" cy="5221323"/>
            <a:chOff x="3171008" y="1384926"/>
            <a:chExt cx="2801619" cy="5221323"/>
          </a:xfrm>
        </p:grpSpPr>
        <p:sp>
          <p:nvSpPr>
            <p:cNvPr id="36" name="TextBox 35">
              <a:extLst>
                <a:ext uri="{FF2B5EF4-FFF2-40B4-BE49-F238E27FC236}">
                  <a16:creationId xmlns:a16="http://schemas.microsoft.com/office/drawing/2014/main" id="{95ECBB78-5AA7-3DB4-2017-97B3D9D1BB37}"/>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7" name="TextBox 36">
              <a:extLst>
                <a:ext uri="{FF2B5EF4-FFF2-40B4-BE49-F238E27FC236}">
                  <a16:creationId xmlns:a16="http://schemas.microsoft.com/office/drawing/2014/main" id="{FB84BFA9-330D-4FD6-627E-87A1FC00870E}"/>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8" name="TextBox 37">
              <a:extLst>
                <a:ext uri="{FF2B5EF4-FFF2-40B4-BE49-F238E27FC236}">
                  <a16:creationId xmlns:a16="http://schemas.microsoft.com/office/drawing/2014/main" id="{7A5AC607-54A0-3AAF-E83D-F3DDC7C3B451}"/>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9" name="TextBox 38">
              <a:extLst>
                <a:ext uri="{FF2B5EF4-FFF2-40B4-BE49-F238E27FC236}">
                  <a16:creationId xmlns:a16="http://schemas.microsoft.com/office/drawing/2014/main" id="{ABCA5D85-8F28-51BD-CA4D-EA2DEF34683C}"/>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40" name="TextBox 39">
              <a:extLst>
                <a:ext uri="{FF2B5EF4-FFF2-40B4-BE49-F238E27FC236}">
                  <a16:creationId xmlns:a16="http://schemas.microsoft.com/office/drawing/2014/main" id="{279A7CAC-BD7C-14F4-05A2-5D1B7419B86F}"/>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41" name="TextBox 40">
              <a:extLst>
                <a:ext uri="{FF2B5EF4-FFF2-40B4-BE49-F238E27FC236}">
                  <a16:creationId xmlns:a16="http://schemas.microsoft.com/office/drawing/2014/main" id="{2FA87F3F-349B-FF59-5AFC-20C46B1A37FB}"/>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43" name="Group 42">
            <a:extLst>
              <a:ext uri="{FF2B5EF4-FFF2-40B4-BE49-F238E27FC236}">
                <a16:creationId xmlns:a16="http://schemas.microsoft.com/office/drawing/2014/main" id="{60DE91C7-DAA0-B4F9-7B2E-B762E99F0DD2}"/>
              </a:ext>
            </a:extLst>
          </p:cNvPr>
          <p:cNvGrpSpPr/>
          <p:nvPr/>
        </p:nvGrpSpPr>
        <p:grpSpPr>
          <a:xfrm>
            <a:off x="305322" y="1230331"/>
            <a:ext cx="1970636" cy="5332610"/>
            <a:chOff x="273095" y="1230331"/>
            <a:chExt cx="1970636" cy="5332610"/>
          </a:xfrm>
        </p:grpSpPr>
        <p:sp>
          <p:nvSpPr>
            <p:cNvPr id="50" name="Rectangle: Rounded Corners 49">
              <a:extLst>
                <a:ext uri="{FF2B5EF4-FFF2-40B4-BE49-F238E27FC236}">
                  <a16:creationId xmlns:a16="http://schemas.microsoft.com/office/drawing/2014/main" id="{577E7664-8080-FB68-EBBF-45351A2013A5}"/>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1" name="Rectangle: Rounded Corners 50">
              <a:extLst>
                <a:ext uri="{FF2B5EF4-FFF2-40B4-BE49-F238E27FC236}">
                  <a16:creationId xmlns:a16="http://schemas.microsoft.com/office/drawing/2014/main" id="{A6366C39-6521-8432-0D99-127F176E0B4D}"/>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2" name="Rectangle: Rounded Corners 51">
              <a:extLst>
                <a:ext uri="{FF2B5EF4-FFF2-40B4-BE49-F238E27FC236}">
                  <a16:creationId xmlns:a16="http://schemas.microsoft.com/office/drawing/2014/main" id="{58077CF4-475D-5D49-8C96-903CE5B934A6}"/>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3" name="Rectangle: Rounded Corners 52">
              <a:extLst>
                <a:ext uri="{FF2B5EF4-FFF2-40B4-BE49-F238E27FC236}">
                  <a16:creationId xmlns:a16="http://schemas.microsoft.com/office/drawing/2014/main" id="{2FD1B7F4-9539-F7D2-B094-9E3208E29D2A}"/>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4" name="Rectangle: Rounded Corners 53">
              <a:extLst>
                <a:ext uri="{FF2B5EF4-FFF2-40B4-BE49-F238E27FC236}">
                  <a16:creationId xmlns:a16="http://schemas.microsoft.com/office/drawing/2014/main" id="{02C261B6-5FF4-BA78-4CDA-DEF6CFDD4CB8}"/>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Rectangle: Rounded Corners 54">
              <a:extLst>
                <a:ext uri="{FF2B5EF4-FFF2-40B4-BE49-F238E27FC236}">
                  <a16:creationId xmlns:a16="http://schemas.microsoft.com/office/drawing/2014/main" id="{88E0FEEB-844F-A3D5-B4AB-CE09F772E3B1}"/>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6" name="TextBox 55">
              <a:extLst>
                <a:ext uri="{FF2B5EF4-FFF2-40B4-BE49-F238E27FC236}">
                  <a16:creationId xmlns:a16="http://schemas.microsoft.com/office/drawing/2014/main" id="{D612E804-2302-B069-EE23-E2E19BB000EF}"/>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7" name="TextBox 56">
              <a:extLst>
                <a:ext uri="{FF2B5EF4-FFF2-40B4-BE49-F238E27FC236}">
                  <a16:creationId xmlns:a16="http://schemas.microsoft.com/office/drawing/2014/main" id="{D5F710F1-ECFD-4E5B-1BFE-FD6DCB6D90D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8" name="TextBox 57">
              <a:extLst>
                <a:ext uri="{FF2B5EF4-FFF2-40B4-BE49-F238E27FC236}">
                  <a16:creationId xmlns:a16="http://schemas.microsoft.com/office/drawing/2014/main" id="{93320E2A-4A74-5A4B-CD4D-E92E97E57E6E}"/>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9" name="TextBox 58">
              <a:extLst>
                <a:ext uri="{FF2B5EF4-FFF2-40B4-BE49-F238E27FC236}">
                  <a16:creationId xmlns:a16="http://schemas.microsoft.com/office/drawing/2014/main" id="{31C27F38-FD49-D6E2-1E05-D686036B4CFE}"/>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60" name="TextBox 59">
              <a:extLst>
                <a:ext uri="{FF2B5EF4-FFF2-40B4-BE49-F238E27FC236}">
                  <a16:creationId xmlns:a16="http://schemas.microsoft.com/office/drawing/2014/main" id="{61E70602-6768-432F-F693-19CD6EB87605}"/>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61" name="TextBox 60">
              <a:extLst>
                <a:ext uri="{FF2B5EF4-FFF2-40B4-BE49-F238E27FC236}">
                  <a16:creationId xmlns:a16="http://schemas.microsoft.com/office/drawing/2014/main" id="{04F8E2E0-2BFB-B950-01F6-BDB6357CC398}"/>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33791021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E3A539-3E79-B9AA-1469-F8CE5D570A2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B3691BD-796D-0A96-609D-C42899E672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DD0586F3-8658-D73B-B0EB-8FAFFA228C9D}"/>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A8A29D17-30CA-3350-CAE3-2FA0AFD0ACA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684C84B2-02F5-FEBC-3324-1EF248709AE6}"/>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D6180FC6-A6E0-A522-2C3D-B58595CEC73E}"/>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A349A60-177D-D2AB-52A4-CDE82FA919D6}"/>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9F3C79C2-191F-43C1-63FB-6AB72D9FA866}"/>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E22AA7E4-162F-5EF5-636B-B066217A9542}"/>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0C27328D-F5A9-C046-9550-6986E10A1FA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00D5B44E-FF77-070D-76DA-74DEBB81A8BD}"/>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C308CFDA-C21B-E0DF-6BAF-C008C153FF37}"/>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935E64E9-8174-DFB3-BD96-0083875651B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A679F9E8-7281-5657-45BB-7230A713F3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107BDA38-8ADC-DC0C-6324-446B6E582B5F}"/>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51AA4326-55C8-69CB-BA7C-5299CEF517A2}"/>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ABF13C45-8C2A-B6C4-FE4A-CEBC34365EBC}"/>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A17B00A0-C910-B591-66EF-FCA35E0B80BE}"/>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DB7D93B4-B40D-84E5-9924-8BEAC2FE7219}"/>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DDA045EB-7915-164B-B762-AEEDFE8CE6D8}"/>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4BF1B9CB-D994-20AE-00E0-A03FDC386E70}"/>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8F85A83C-1B71-2034-EAE8-1D410A75666E}"/>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1B523026-79A3-6B94-E91E-63EA8591A940}"/>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7CE7C17-E530-6C01-B9DE-249E43FB007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DDDC6C43-BF5D-9749-FB86-D88B36CD6F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5" name="Rectangle: Rounded Corners 24">
            <a:extLst>
              <a:ext uri="{FF2B5EF4-FFF2-40B4-BE49-F238E27FC236}">
                <a16:creationId xmlns:a16="http://schemas.microsoft.com/office/drawing/2014/main" id="{BE9DBFB8-9499-2B1B-7BB5-D147F58A4ED9}"/>
              </a:ext>
            </a:extLst>
          </p:cNvPr>
          <p:cNvSpPr/>
          <p:nvPr/>
        </p:nvSpPr>
        <p:spPr>
          <a:xfrm>
            <a:off x="8148697" y="5439395"/>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2DB88EE3-9128-C382-5C5F-05EEAC47EA7A}"/>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21" name="Oval 20">
            <a:extLst>
              <a:ext uri="{FF2B5EF4-FFF2-40B4-BE49-F238E27FC236}">
                <a16:creationId xmlns:a16="http://schemas.microsoft.com/office/drawing/2014/main" id="{326B738D-4C55-D661-D5F1-03E1BDE1619A}"/>
              </a:ext>
            </a:extLst>
          </p:cNvPr>
          <p:cNvSpPr/>
          <p:nvPr/>
        </p:nvSpPr>
        <p:spPr>
          <a:xfrm>
            <a:off x="14116508" y="398098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12F5A56B-DFE4-A258-09B6-1A9C2D81F28A}"/>
              </a:ext>
            </a:extLst>
          </p:cNvPr>
          <p:cNvSpPr/>
          <p:nvPr/>
        </p:nvSpPr>
        <p:spPr>
          <a:xfrm>
            <a:off x="13874209" y="47990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Arrow Connector 22">
            <a:extLst>
              <a:ext uri="{FF2B5EF4-FFF2-40B4-BE49-F238E27FC236}">
                <a16:creationId xmlns:a16="http://schemas.microsoft.com/office/drawing/2014/main" id="{98EDF82D-FF5A-7E40-5C12-D0007F289259}"/>
              </a:ext>
            </a:extLst>
          </p:cNvPr>
          <p:cNvCxnSpPr>
            <a:cxnSpLocks/>
          </p:cNvCxnSpPr>
          <p:nvPr/>
        </p:nvCxnSpPr>
        <p:spPr>
          <a:xfrm flipV="1">
            <a:off x="14218916" y="4209697"/>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EF07752-81C5-43CE-9816-3A41216F99F5}"/>
              </a:ext>
            </a:extLst>
          </p:cNvPr>
          <p:cNvCxnSpPr>
            <a:cxnSpLocks/>
          </p:cNvCxnSpPr>
          <p:nvPr/>
        </p:nvCxnSpPr>
        <p:spPr>
          <a:xfrm>
            <a:off x="13971856" y="4529116"/>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56314149-AEBD-C30F-5DCF-C532A34969FF}"/>
              </a:ext>
            </a:extLst>
          </p:cNvPr>
          <p:cNvGrpSpPr/>
          <p:nvPr/>
        </p:nvGrpSpPr>
        <p:grpSpPr>
          <a:xfrm>
            <a:off x="2411509" y="1604426"/>
            <a:ext cx="707325" cy="4566893"/>
            <a:chOff x="2411509" y="1604426"/>
            <a:chExt cx="707325" cy="4566893"/>
          </a:xfrm>
        </p:grpSpPr>
        <p:cxnSp>
          <p:nvCxnSpPr>
            <p:cNvPr id="28" name="Straight Arrow Connector 27">
              <a:extLst>
                <a:ext uri="{FF2B5EF4-FFF2-40B4-BE49-F238E27FC236}">
                  <a16:creationId xmlns:a16="http://schemas.microsoft.com/office/drawing/2014/main" id="{B38F57E7-12C9-8895-E97D-5987C46CD8BC}"/>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019C8D1-19A3-AB6E-9667-BBCDDAAE13FD}"/>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AB7DFAA-732B-1095-A2A7-3C068C8DA42A}"/>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833C48E-7409-85F6-3C4D-21EB5504EC22}"/>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9DA5766D-A338-330D-FD2D-905EAB3C18CD}"/>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EB8ED68-5066-AD4B-55D2-1C595324784F}"/>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10318D4E-8B57-9369-11E4-DDD14DAEAF9B}"/>
              </a:ext>
            </a:extLst>
          </p:cNvPr>
          <p:cNvGrpSpPr/>
          <p:nvPr/>
        </p:nvGrpSpPr>
        <p:grpSpPr>
          <a:xfrm>
            <a:off x="3118834" y="1372994"/>
            <a:ext cx="2801619" cy="5221323"/>
            <a:chOff x="3171008" y="1384926"/>
            <a:chExt cx="2801619" cy="5221323"/>
          </a:xfrm>
        </p:grpSpPr>
        <p:sp>
          <p:nvSpPr>
            <p:cNvPr id="35" name="TextBox 34">
              <a:extLst>
                <a:ext uri="{FF2B5EF4-FFF2-40B4-BE49-F238E27FC236}">
                  <a16:creationId xmlns:a16="http://schemas.microsoft.com/office/drawing/2014/main" id="{E98F4FF3-885A-651F-9BA9-1FACDFA4D4A4}"/>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6" name="TextBox 35">
              <a:extLst>
                <a:ext uri="{FF2B5EF4-FFF2-40B4-BE49-F238E27FC236}">
                  <a16:creationId xmlns:a16="http://schemas.microsoft.com/office/drawing/2014/main" id="{AD1E7355-3551-45C0-F96C-C7AC6DAE9E27}"/>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7" name="TextBox 36">
              <a:extLst>
                <a:ext uri="{FF2B5EF4-FFF2-40B4-BE49-F238E27FC236}">
                  <a16:creationId xmlns:a16="http://schemas.microsoft.com/office/drawing/2014/main" id="{BA21E0AA-E7A6-9607-4994-A3861729A4E8}"/>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8" name="TextBox 37">
              <a:extLst>
                <a:ext uri="{FF2B5EF4-FFF2-40B4-BE49-F238E27FC236}">
                  <a16:creationId xmlns:a16="http://schemas.microsoft.com/office/drawing/2014/main" id="{78794276-B4ED-DD53-E67E-6B9F73009901}"/>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9" name="TextBox 38">
              <a:extLst>
                <a:ext uri="{FF2B5EF4-FFF2-40B4-BE49-F238E27FC236}">
                  <a16:creationId xmlns:a16="http://schemas.microsoft.com/office/drawing/2014/main" id="{0354482E-34D9-FD61-D3A1-1423242C7AA7}"/>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40" name="TextBox 39">
              <a:extLst>
                <a:ext uri="{FF2B5EF4-FFF2-40B4-BE49-F238E27FC236}">
                  <a16:creationId xmlns:a16="http://schemas.microsoft.com/office/drawing/2014/main" id="{5182ABC0-56D2-E534-E7D9-9DB2CB4CD41E}"/>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41" name="Group 40">
            <a:extLst>
              <a:ext uri="{FF2B5EF4-FFF2-40B4-BE49-F238E27FC236}">
                <a16:creationId xmlns:a16="http://schemas.microsoft.com/office/drawing/2014/main" id="{8A13CD37-13A6-C3F7-3B87-420657C3A26D}"/>
              </a:ext>
            </a:extLst>
          </p:cNvPr>
          <p:cNvGrpSpPr/>
          <p:nvPr/>
        </p:nvGrpSpPr>
        <p:grpSpPr>
          <a:xfrm>
            <a:off x="305322" y="1230331"/>
            <a:ext cx="1970636" cy="5332610"/>
            <a:chOff x="273095" y="1230331"/>
            <a:chExt cx="1970636" cy="5332610"/>
          </a:xfrm>
        </p:grpSpPr>
        <p:sp>
          <p:nvSpPr>
            <p:cNvPr id="43" name="Rectangle: Rounded Corners 42">
              <a:extLst>
                <a:ext uri="{FF2B5EF4-FFF2-40B4-BE49-F238E27FC236}">
                  <a16:creationId xmlns:a16="http://schemas.microsoft.com/office/drawing/2014/main" id="{88E18F2A-256A-B192-087E-4F21381F4DEC}"/>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0" name="Rectangle: Rounded Corners 49">
              <a:extLst>
                <a:ext uri="{FF2B5EF4-FFF2-40B4-BE49-F238E27FC236}">
                  <a16:creationId xmlns:a16="http://schemas.microsoft.com/office/drawing/2014/main" id="{A39C6EE4-41D9-45C5-3FFF-9AA5941110AA}"/>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1" name="Rectangle: Rounded Corners 50">
              <a:extLst>
                <a:ext uri="{FF2B5EF4-FFF2-40B4-BE49-F238E27FC236}">
                  <a16:creationId xmlns:a16="http://schemas.microsoft.com/office/drawing/2014/main" id="{C3FEDA76-2AF5-9A8F-F472-590769ADFC2C}"/>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2" name="Rectangle: Rounded Corners 51">
              <a:extLst>
                <a:ext uri="{FF2B5EF4-FFF2-40B4-BE49-F238E27FC236}">
                  <a16:creationId xmlns:a16="http://schemas.microsoft.com/office/drawing/2014/main" id="{8B558ADD-91A4-DEE6-5F82-5DBCC6F33DB3}"/>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3" name="Rectangle: Rounded Corners 52">
              <a:extLst>
                <a:ext uri="{FF2B5EF4-FFF2-40B4-BE49-F238E27FC236}">
                  <a16:creationId xmlns:a16="http://schemas.microsoft.com/office/drawing/2014/main" id="{6D74CE03-340E-BB1D-7399-6E833485A5FE}"/>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4" name="Rectangle: Rounded Corners 53">
              <a:extLst>
                <a:ext uri="{FF2B5EF4-FFF2-40B4-BE49-F238E27FC236}">
                  <a16:creationId xmlns:a16="http://schemas.microsoft.com/office/drawing/2014/main" id="{68E11751-0C77-6A72-22A7-55921E6C0B42}"/>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TextBox 54">
              <a:extLst>
                <a:ext uri="{FF2B5EF4-FFF2-40B4-BE49-F238E27FC236}">
                  <a16:creationId xmlns:a16="http://schemas.microsoft.com/office/drawing/2014/main" id="{BC2572E4-023E-AA11-A5B8-5127E8B06EBA}"/>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6" name="TextBox 55">
              <a:extLst>
                <a:ext uri="{FF2B5EF4-FFF2-40B4-BE49-F238E27FC236}">
                  <a16:creationId xmlns:a16="http://schemas.microsoft.com/office/drawing/2014/main" id="{3A59DE47-8AD1-8382-C47B-69AC2945FCF1}"/>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7" name="TextBox 56">
              <a:extLst>
                <a:ext uri="{FF2B5EF4-FFF2-40B4-BE49-F238E27FC236}">
                  <a16:creationId xmlns:a16="http://schemas.microsoft.com/office/drawing/2014/main" id="{F364AFD7-F852-7D41-79AE-02A2BA112B77}"/>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8" name="TextBox 57">
              <a:extLst>
                <a:ext uri="{FF2B5EF4-FFF2-40B4-BE49-F238E27FC236}">
                  <a16:creationId xmlns:a16="http://schemas.microsoft.com/office/drawing/2014/main" id="{C80BC632-EAE5-D0B4-E66A-8B3DA9EE637E}"/>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59" name="TextBox 58">
              <a:extLst>
                <a:ext uri="{FF2B5EF4-FFF2-40B4-BE49-F238E27FC236}">
                  <a16:creationId xmlns:a16="http://schemas.microsoft.com/office/drawing/2014/main" id="{A011F9B1-E14E-8BBF-67DD-4CFC91BB69E4}"/>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60" name="TextBox 59">
              <a:extLst>
                <a:ext uri="{FF2B5EF4-FFF2-40B4-BE49-F238E27FC236}">
                  <a16:creationId xmlns:a16="http://schemas.microsoft.com/office/drawing/2014/main" id="{82359151-34C0-70DA-5CEF-E42DBAF6FA3B}"/>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3595352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4211F-564E-FCC4-D5AC-A56C1893073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E63445E8-B3BA-9F45-9D0D-F853484FF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892EA274-E59B-F6E5-2857-832798C9214F}"/>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F8605033-B4E6-76C8-7699-D004AD52B153}"/>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4A1C52B1-EAF9-B398-CEB9-821B7546BAD4}"/>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D6364649-415F-DE7E-A452-B90EA8B468DC}"/>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AA5B3688-D445-FCF8-6564-9CCCAC5FF301}"/>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87346C2C-1287-BD91-42DE-26E36A3C0030}"/>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CE2A8D53-4BEA-00CB-758D-FBA73D969D1D}"/>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1B1FB06E-851E-6EEB-F7D2-213E5C0DE719}"/>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9C5DD9B8-B97E-DA08-B0E2-D359A11C8F07}"/>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59E61DDF-0EE5-8E56-6463-68B56CF11D52}"/>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70402636-4F32-8A7B-96A7-B9B94C98946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2D49BEB8-D3BF-6961-5E49-48A0F8BD6E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D75BE4BF-1676-B152-DF41-D58B2D503CE3}"/>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08D1E3B1-4525-B4E1-A0E3-0D956DB4D82B}"/>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6B13281E-FB52-7A6A-9204-C31020DBFF8E}"/>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F41EE616-26E5-F629-7554-BE10E85C41A7}"/>
              </a:ext>
            </a:extLst>
          </p:cNvPr>
          <p:cNvSpPr/>
          <p:nvPr/>
        </p:nvSpPr>
        <p:spPr>
          <a:xfrm>
            <a:off x="12497322" y="22075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F996A94A-9EC1-01F5-B08C-2A611677C758}"/>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35995205-4AD9-A2D0-F2A2-7A2DDA6A98F2}"/>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7816F9E5-6BC6-8088-A92D-06AF50B98FCE}"/>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5BF0A376-1AFC-E29E-0098-235DDCBE23FF}"/>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B98D5BDE-92AA-1CA7-BBB9-0FDFF15996BD}"/>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54601D6-3321-9548-4C44-FC8121CBA38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31FEEF2B-AAAB-FD27-4D63-7F07B72111D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5" name="Rectangle: Rounded Corners 24">
            <a:extLst>
              <a:ext uri="{FF2B5EF4-FFF2-40B4-BE49-F238E27FC236}">
                <a16:creationId xmlns:a16="http://schemas.microsoft.com/office/drawing/2014/main" id="{E949DF8C-927B-4FAA-8123-CDEF118542F6}"/>
              </a:ext>
            </a:extLst>
          </p:cNvPr>
          <p:cNvSpPr/>
          <p:nvPr/>
        </p:nvSpPr>
        <p:spPr>
          <a:xfrm>
            <a:off x="8148697" y="5439395"/>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0A30C39C-1A76-E8A6-050F-84B07C4EB914}"/>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4" name="Oval 13">
            <a:extLst>
              <a:ext uri="{FF2B5EF4-FFF2-40B4-BE49-F238E27FC236}">
                <a16:creationId xmlns:a16="http://schemas.microsoft.com/office/drawing/2014/main" id="{8A0F3356-F725-53C0-F385-9DF165A1A8B8}"/>
              </a:ext>
            </a:extLst>
          </p:cNvPr>
          <p:cNvSpPr/>
          <p:nvPr/>
        </p:nvSpPr>
        <p:spPr>
          <a:xfrm>
            <a:off x="9093208" y="398098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76F19943-FC0D-546B-DF83-C4A509A9515C}"/>
              </a:ext>
            </a:extLst>
          </p:cNvPr>
          <p:cNvSpPr/>
          <p:nvPr/>
        </p:nvSpPr>
        <p:spPr>
          <a:xfrm>
            <a:off x="8850909" y="47990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6EBBAA66-B08C-F4DA-8E2D-AB9B12DE157D}"/>
              </a:ext>
            </a:extLst>
          </p:cNvPr>
          <p:cNvCxnSpPr>
            <a:cxnSpLocks/>
          </p:cNvCxnSpPr>
          <p:nvPr/>
        </p:nvCxnSpPr>
        <p:spPr>
          <a:xfrm flipV="1">
            <a:off x="9195616" y="4209697"/>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5F8736A-A652-C708-56C5-76898942D6AD}"/>
              </a:ext>
            </a:extLst>
          </p:cNvPr>
          <p:cNvCxnSpPr>
            <a:cxnSpLocks/>
          </p:cNvCxnSpPr>
          <p:nvPr/>
        </p:nvCxnSpPr>
        <p:spPr>
          <a:xfrm>
            <a:off x="8948556" y="4529116"/>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1F6CA870-1DB9-FD3C-E54D-F004EAA87EDE}"/>
              </a:ext>
            </a:extLst>
          </p:cNvPr>
          <p:cNvGrpSpPr/>
          <p:nvPr/>
        </p:nvGrpSpPr>
        <p:grpSpPr>
          <a:xfrm>
            <a:off x="2411509" y="1604426"/>
            <a:ext cx="707325" cy="4566893"/>
            <a:chOff x="2411509" y="1604426"/>
            <a:chExt cx="707325" cy="4566893"/>
          </a:xfrm>
        </p:grpSpPr>
        <p:cxnSp>
          <p:nvCxnSpPr>
            <p:cNvPr id="24" name="Straight Arrow Connector 23">
              <a:extLst>
                <a:ext uri="{FF2B5EF4-FFF2-40B4-BE49-F238E27FC236}">
                  <a16:creationId xmlns:a16="http://schemas.microsoft.com/office/drawing/2014/main" id="{C499C2C3-ACCB-E427-B677-E5F3AAA4EBA4}"/>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94F7301-6BCD-FC7C-2CD3-F765D062BB84}"/>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01CCC718-AACE-81C4-B636-7A5879562C0A}"/>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C7B7BAE1-835E-9E02-13F2-18A6A429DBCB}"/>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363A99C-D11F-4366-A611-BC55653E7004}"/>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AB8834B-230D-6A0F-6113-50FBDDDD06F8}"/>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23C70B6-8154-A789-F93F-6F6B681BC04A}"/>
              </a:ext>
            </a:extLst>
          </p:cNvPr>
          <p:cNvGrpSpPr/>
          <p:nvPr/>
        </p:nvGrpSpPr>
        <p:grpSpPr>
          <a:xfrm>
            <a:off x="3118834" y="1372994"/>
            <a:ext cx="2801619" cy="5221323"/>
            <a:chOff x="3171008" y="1384926"/>
            <a:chExt cx="2801619" cy="5221323"/>
          </a:xfrm>
        </p:grpSpPr>
        <p:sp>
          <p:nvSpPr>
            <p:cNvPr id="33" name="TextBox 32">
              <a:extLst>
                <a:ext uri="{FF2B5EF4-FFF2-40B4-BE49-F238E27FC236}">
                  <a16:creationId xmlns:a16="http://schemas.microsoft.com/office/drawing/2014/main" id="{E9B85CA7-6BB3-9FCC-CA84-F7AD914A7FF7}"/>
                </a:ext>
              </a:extLst>
            </p:cNvPr>
            <p:cNvSpPr txBox="1"/>
            <p:nvPr/>
          </p:nvSpPr>
          <p:spPr>
            <a:xfrm>
              <a:off x="3171012" y="13849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purchase orders made by CocoaLand (Procurement)</a:t>
              </a:r>
            </a:p>
          </p:txBody>
        </p:sp>
        <p:sp>
          <p:nvSpPr>
            <p:cNvPr id="34" name="TextBox 33">
              <a:extLst>
                <a:ext uri="{FF2B5EF4-FFF2-40B4-BE49-F238E27FC236}">
                  <a16:creationId xmlns:a16="http://schemas.microsoft.com/office/drawing/2014/main" id="{F21EFCB3-2E74-036E-97D5-E9570B40B16E}"/>
                </a:ext>
              </a:extLst>
            </p:cNvPr>
            <p:cNvSpPr txBox="1"/>
            <p:nvPr/>
          </p:nvSpPr>
          <p:spPr>
            <a:xfrm>
              <a:off x="3171011" y="2298305"/>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Total Purchase Value of money spent by CocoaLand on procurement</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5" name="TextBox 34">
              <a:extLst>
                <a:ext uri="{FF2B5EF4-FFF2-40B4-BE49-F238E27FC236}">
                  <a16:creationId xmlns:a16="http://schemas.microsoft.com/office/drawing/2014/main" id="{CBB248FB-5B55-8CD1-B59E-8B6B102E488D}"/>
                </a:ext>
              </a:extLst>
            </p:cNvPr>
            <p:cNvSpPr txBox="1"/>
            <p:nvPr/>
          </p:nvSpPr>
          <p:spPr>
            <a:xfrm>
              <a:off x="3171010" y="3013531"/>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Reorder Rate % defines how many times CocoaLand repeats a certain purchase order within the period of 45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40% - 50%</a:t>
              </a:r>
            </a:p>
          </p:txBody>
        </p:sp>
        <p:sp>
          <p:nvSpPr>
            <p:cNvPr id="36" name="TextBox 35">
              <a:extLst>
                <a:ext uri="{FF2B5EF4-FFF2-40B4-BE49-F238E27FC236}">
                  <a16:creationId xmlns:a16="http://schemas.microsoft.com/office/drawing/2014/main" id="{9E43FB9A-3600-C35E-6A68-97EFE1FA5B75}"/>
                </a:ext>
              </a:extLst>
            </p:cNvPr>
            <p:cNvSpPr txBox="1"/>
            <p:nvPr/>
          </p:nvSpPr>
          <p:spPr>
            <a:xfrm>
              <a:off x="3171010" y="3933332"/>
              <a:ext cx="2801615" cy="892552"/>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Process Waste % is an overall % of waste happening during the whole procurement process, </a:t>
              </a:r>
            </a:p>
            <a:p>
              <a:pPr algn="ct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 – 12%</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7" name="TextBox 36">
              <a:extLst>
                <a:ext uri="{FF2B5EF4-FFF2-40B4-BE49-F238E27FC236}">
                  <a16:creationId xmlns:a16="http://schemas.microsoft.com/office/drawing/2014/main" id="{66BC1D1F-F485-BA2D-85FE-3BB94176F99C}"/>
                </a:ext>
              </a:extLst>
            </p:cNvPr>
            <p:cNvSpPr txBox="1"/>
            <p:nvPr/>
          </p:nvSpPr>
          <p:spPr>
            <a:xfrm>
              <a:off x="3171009" y="4964929"/>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Sigma Level is a quality indicator, defining how lean is our process,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4 - 5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8" name="TextBox 37">
              <a:extLst>
                <a:ext uri="{FF2B5EF4-FFF2-40B4-BE49-F238E27FC236}">
                  <a16:creationId xmlns:a16="http://schemas.microsoft.com/office/drawing/2014/main" id="{6A376FC8-21DB-3B6F-9A3D-C07EE32900FC}"/>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Defect Rate % per purchase order, part of our Sigma Level calculation,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0.5% - 0.7%</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9" name="Group 38">
            <a:extLst>
              <a:ext uri="{FF2B5EF4-FFF2-40B4-BE49-F238E27FC236}">
                <a16:creationId xmlns:a16="http://schemas.microsoft.com/office/drawing/2014/main" id="{472C7A79-8652-8BA1-7731-F26910379469}"/>
              </a:ext>
            </a:extLst>
          </p:cNvPr>
          <p:cNvGrpSpPr/>
          <p:nvPr/>
        </p:nvGrpSpPr>
        <p:grpSpPr>
          <a:xfrm>
            <a:off x="305322" y="1230331"/>
            <a:ext cx="1970636" cy="5332610"/>
            <a:chOff x="273095" y="1230331"/>
            <a:chExt cx="1970636" cy="5332610"/>
          </a:xfrm>
        </p:grpSpPr>
        <p:sp>
          <p:nvSpPr>
            <p:cNvPr id="40" name="Rectangle: Rounded Corners 39">
              <a:extLst>
                <a:ext uri="{FF2B5EF4-FFF2-40B4-BE49-F238E27FC236}">
                  <a16:creationId xmlns:a16="http://schemas.microsoft.com/office/drawing/2014/main" id="{3A66AD90-F92C-D842-4FE8-08F321DBBDD9}"/>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DA696648-7D61-BF86-A84E-2F4BACB2BEA8}"/>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Total Purchase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3" name="Rectangle: Rounded Corners 42">
              <a:extLst>
                <a:ext uri="{FF2B5EF4-FFF2-40B4-BE49-F238E27FC236}">
                  <a16:creationId xmlns:a16="http://schemas.microsoft.com/office/drawing/2014/main" id="{72BF2D33-EF31-01B7-74A2-976471570F37}"/>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Reorder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0" name="Rectangle: Rounded Corners 49">
              <a:extLst>
                <a:ext uri="{FF2B5EF4-FFF2-40B4-BE49-F238E27FC236}">
                  <a16:creationId xmlns:a16="http://schemas.microsoft.com/office/drawing/2014/main" id="{F096C618-2F8A-721F-A400-37D20AB3BA05}"/>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Process Waste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1" name="Rectangle: Rounded Corners 50">
              <a:extLst>
                <a:ext uri="{FF2B5EF4-FFF2-40B4-BE49-F238E27FC236}">
                  <a16:creationId xmlns:a16="http://schemas.microsoft.com/office/drawing/2014/main" id="{34F49364-0205-F935-9B68-1AC0557DD0EB}"/>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Sigma Level</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2" name="Rectangle: Rounded Corners 51">
              <a:extLst>
                <a:ext uri="{FF2B5EF4-FFF2-40B4-BE49-F238E27FC236}">
                  <a16:creationId xmlns:a16="http://schemas.microsoft.com/office/drawing/2014/main" id="{9A8C1075-2E0E-A316-66DE-A7A6C66F8CD2}"/>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Defect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3" name="TextBox 52">
              <a:extLst>
                <a:ext uri="{FF2B5EF4-FFF2-40B4-BE49-F238E27FC236}">
                  <a16:creationId xmlns:a16="http://schemas.microsoft.com/office/drawing/2014/main" id="{80C2E24C-546B-C89E-3A93-240055A75CAD}"/>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404.37K</a:t>
              </a:r>
            </a:p>
          </p:txBody>
        </p:sp>
        <p:sp>
          <p:nvSpPr>
            <p:cNvPr id="54" name="TextBox 53">
              <a:extLst>
                <a:ext uri="{FF2B5EF4-FFF2-40B4-BE49-F238E27FC236}">
                  <a16:creationId xmlns:a16="http://schemas.microsoft.com/office/drawing/2014/main" id="{375D6433-71B3-7E6C-A154-358F42D3A1C9}"/>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$704.4M</a:t>
              </a:r>
            </a:p>
          </p:txBody>
        </p:sp>
        <p:sp>
          <p:nvSpPr>
            <p:cNvPr id="55" name="TextBox 54">
              <a:extLst>
                <a:ext uri="{FF2B5EF4-FFF2-40B4-BE49-F238E27FC236}">
                  <a16:creationId xmlns:a16="http://schemas.microsoft.com/office/drawing/2014/main" id="{A564DE6E-569C-1B61-54EE-15DD56A18B60}"/>
                </a:ext>
              </a:extLst>
            </p:cNvPr>
            <p:cNvSpPr txBox="1"/>
            <p:nvPr/>
          </p:nvSpPr>
          <p:spPr>
            <a:xfrm>
              <a:off x="586901"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56.27%</a:t>
              </a:r>
            </a:p>
          </p:txBody>
        </p:sp>
        <p:sp>
          <p:nvSpPr>
            <p:cNvPr id="56" name="TextBox 55">
              <a:extLst>
                <a:ext uri="{FF2B5EF4-FFF2-40B4-BE49-F238E27FC236}">
                  <a16:creationId xmlns:a16="http://schemas.microsoft.com/office/drawing/2014/main" id="{1CEC1DFB-7FD4-4EEC-D307-D05BFA317E3E}"/>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12.49%</a:t>
              </a:r>
            </a:p>
          </p:txBody>
        </p:sp>
        <p:sp>
          <p:nvSpPr>
            <p:cNvPr id="57" name="TextBox 56">
              <a:extLst>
                <a:ext uri="{FF2B5EF4-FFF2-40B4-BE49-F238E27FC236}">
                  <a16:creationId xmlns:a16="http://schemas.microsoft.com/office/drawing/2014/main" id="{15298BE4-0416-338D-AE23-A86E0D3C2563}"/>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3.40</a:t>
              </a:r>
            </a:p>
          </p:txBody>
        </p:sp>
        <p:sp>
          <p:nvSpPr>
            <p:cNvPr id="58" name="TextBox 57">
              <a:extLst>
                <a:ext uri="{FF2B5EF4-FFF2-40B4-BE49-F238E27FC236}">
                  <a16:creationId xmlns:a16="http://schemas.microsoft.com/office/drawing/2014/main" id="{885E22B5-4EE0-1BF9-1607-D23D40F6F429}"/>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2.79%</a:t>
              </a:r>
            </a:p>
          </p:txBody>
        </p:sp>
      </p:grpSp>
    </p:spTree>
    <p:extLst>
      <p:ext uri="{BB962C8B-B14F-4D97-AF65-F5344CB8AC3E}">
        <p14:creationId xmlns:p14="http://schemas.microsoft.com/office/powerpoint/2010/main" val="601687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407AD6-86E4-8EEF-30D6-C9A180F071D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95E2747-E009-09BB-3716-A8953FCE96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8ABACC7-F132-CAA7-7AFE-11119FEFD1B3}"/>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08FEAE66-D396-B89F-98C5-0D57FCF48226}"/>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BA6DF1CA-C019-4C6F-7932-966D50BCAC6B}"/>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73D336D0-6FA5-5345-6033-D93D6E52490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AEDB95B0-CF6A-4A60-4AF3-CBCC20FF8440}"/>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47D9BCB2-E64C-AEA9-ABAB-D0A536E01DE6}"/>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17F906F-3493-ACC8-A5EF-CBAADAFF82F0}"/>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C2A76A6F-8FC6-0111-88B4-31A1C8F491A0}"/>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ea typeface="Segoe UI Black" panose="020B0A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598CF8BC-2DE9-E00A-7A33-6C9FF47980C9}"/>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B6B0C0FD-CCC4-13D1-4C64-0CC798E3F7C1}"/>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ED1F1673-EBA6-2E8D-6BFC-1FD9489960F9}"/>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4E9A9E1E-4B4D-2CB5-3678-3421563C40AD}"/>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69236762-4C59-8E8F-CCF8-725002E44400}"/>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0C78BEB-B048-C012-E114-F2CBC46F6CD0}"/>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03DF7D1-274B-8777-2BAB-3E4AF051BE5F}"/>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784026E-96A2-5ED3-1118-1D6AD42FBCC9}"/>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D2B8BD7-411F-2640-7626-A994672AB4B8}"/>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F73FFE7A-D7CD-7C66-109E-DF001BA6B23B}"/>
              </a:ext>
            </a:extLst>
          </p:cNvPr>
          <p:cNvGrpSpPr/>
          <p:nvPr/>
        </p:nvGrpSpPr>
        <p:grpSpPr>
          <a:xfrm>
            <a:off x="3171008" y="8156484"/>
            <a:ext cx="2924989" cy="5234023"/>
            <a:chOff x="3171008" y="1372226"/>
            <a:chExt cx="2924989" cy="5234023"/>
          </a:xfrm>
        </p:grpSpPr>
        <p:sp>
          <p:nvSpPr>
            <p:cNvPr id="101" name="TextBox 100">
              <a:extLst>
                <a:ext uri="{FF2B5EF4-FFF2-40B4-BE49-F238E27FC236}">
                  <a16:creationId xmlns:a16="http://schemas.microsoft.com/office/drawing/2014/main" id="{09E9C3CE-9CED-D9FC-8CC4-FB752EC82B23}"/>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103" name="TextBox 102">
              <a:extLst>
                <a:ext uri="{FF2B5EF4-FFF2-40B4-BE49-F238E27FC236}">
                  <a16:creationId xmlns:a16="http://schemas.microsoft.com/office/drawing/2014/main" id="{B74F9620-D95C-8AE5-32AD-EF84810D5072}"/>
                </a:ext>
              </a:extLst>
            </p:cNvPr>
            <p:cNvSpPr txBox="1"/>
            <p:nvPr/>
          </p:nvSpPr>
          <p:spPr>
            <a:xfrm>
              <a:off x="3171011" y="228560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7AFB0BFF-167F-E73B-AEA5-81B3C9B99EDC}"/>
                </a:ext>
              </a:extLst>
            </p:cNvPr>
            <p:cNvSpPr txBox="1"/>
            <p:nvPr/>
          </p:nvSpPr>
          <p:spPr>
            <a:xfrm>
              <a:off x="3171010" y="3178631"/>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7" name="TextBox 106">
              <a:extLst>
                <a:ext uri="{FF2B5EF4-FFF2-40B4-BE49-F238E27FC236}">
                  <a16:creationId xmlns:a16="http://schemas.microsoft.com/office/drawing/2014/main" id="{EB8598ED-356F-D002-D8B8-4B99D9B0E661}"/>
                </a:ext>
              </a:extLst>
            </p:cNvPr>
            <p:cNvSpPr txBox="1"/>
            <p:nvPr/>
          </p:nvSpPr>
          <p:spPr>
            <a:xfrm>
              <a:off x="3171010" y="4124245"/>
              <a:ext cx="2924987"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67E88E81-BD06-EC18-2A7F-028476086BC0}"/>
                </a:ext>
              </a:extLst>
            </p:cNvPr>
            <p:cNvSpPr txBox="1"/>
            <p:nvPr/>
          </p:nvSpPr>
          <p:spPr>
            <a:xfrm>
              <a:off x="3171009" y="5041129"/>
              <a:ext cx="2924988"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300CF63D-C7F5-9B86-6226-93AACC5D89AA}"/>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sp>
        <p:nvSpPr>
          <p:cNvPr id="124" name="Rectangle 123">
            <a:extLst>
              <a:ext uri="{FF2B5EF4-FFF2-40B4-BE49-F238E27FC236}">
                <a16:creationId xmlns:a16="http://schemas.microsoft.com/office/drawing/2014/main" id="{E13B7659-9674-E8BF-FDC8-54039715A5E5}"/>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A054DCB5-3677-978F-8B49-44CA9231D0C3}"/>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880A92D-BC41-4BDC-B270-9CCDB97CEDEC}"/>
              </a:ext>
            </a:extLst>
          </p:cNvPr>
          <p:cNvGrpSpPr/>
          <p:nvPr/>
        </p:nvGrpSpPr>
        <p:grpSpPr>
          <a:xfrm>
            <a:off x="-4032609" y="1230331"/>
            <a:ext cx="1970636" cy="5332610"/>
            <a:chOff x="273095" y="1230331"/>
            <a:chExt cx="1970636" cy="5332610"/>
          </a:xfrm>
        </p:grpSpPr>
        <p:sp>
          <p:nvSpPr>
            <p:cNvPr id="17" name="Rectangle: Rounded Corners 16">
              <a:extLst>
                <a:ext uri="{FF2B5EF4-FFF2-40B4-BE49-F238E27FC236}">
                  <a16:creationId xmlns:a16="http://schemas.microsoft.com/office/drawing/2014/main" id="{DAA53FF1-98D4-F381-EB5C-A1DA8B25C0CE}"/>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6742C860-4EE4-6E52-B6D2-E4BDE5D2D786}"/>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9" name="Rectangle: Rounded Corners 18">
              <a:extLst>
                <a:ext uri="{FF2B5EF4-FFF2-40B4-BE49-F238E27FC236}">
                  <a16:creationId xmlns:a16="http://schemas.microsoft.com/office/drawing/2014/main" id="{4878EA42-ECDC-46C4-F772-AED33E4C6179}"/>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0" name="Rectangle: Rounded Corners 19">
              <a:extLst>
                <a:ext uri="{FF2B5EF4-FFF2-40B4-BE49-F238E27FC236}">
                  <a16:creationId xmlns:a16="http://schemas.microsoft.com/office/drawing/2014/main" id="{48B9E7F8-EC79-B3CD-948C-3ECF14E218D9}"/>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1" name="Rectangle: Rounded Corners 20">
              <a:extLst>
                <a:ext uri="{FF2B5EF4-FFF2-40B4-BE49-F238E27FC236}">
                  <a16:creationId xmlns:a16="http://schemas.microsoft.com/office/drawing/2014/main" id="{E720A842-24B9-C630-DF45-842A13674419}"/>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2" name="Rectangle: Rounded Corners 21">
              <a:extLst>
                <a:ext uri="{FF2B5EF4-FFF2-40B4-BE49-F238E27FC236}">
                  <a16:creationId xmlns:a16="http://schemas.microsoft.com/office/drawing/2014/main" id="{2BD58C27-7685-0351-FB0D-BA673017CFC9}"/>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3" name="TextBox 22">
              <a:extLst>
                <a:ext uri="{FF2B5EF4-FFF2-40B4-BE49-F238E27FC236}">
                  <a16:creationId xmlns:a16="http://schemas.microsoft.com/office/drawing/2014/main" id="{CF1A75B7-3D94-4E0B-7681-C1E1C42CD01D}"/>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24" name="TextBox 23">
              <a:extLst>
                <a:ext uri="{FF2B5EF4-FFF2-40B4-BE49-F238E27FC236}">
                  <a16:creationId xmlns:a16="http://schemas.microsoft.com/office/drawing/2014/main" id="{F055CE9C-C5C6-6E2D-EEFF-B4E16BF51839}"/>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25" name="TextBox 24">
              <a:extLst>
                <a:ext uri="{FF2B5EF4-FFF2-40B4-BE49-F238E27FC236}">
                  <a16:creationId xmlns:a16="http://schemas.microsoft.com/office/drawing/2014/main" id="{237B1E92-E7BD-DA46-6DCF-E3D6595282B0}"/>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26" name="TextBox 25">
              <a:extLst>
                <a:ext uri="{FF2B5EF4-FFF2-40B4-BE49-F238E27FC236}">
                  <a16:creationId xmlns:a16="http://schemas.microsoft.com/office/drawing/2014/main" id="{36B38A4C-7671-6C49-184A-ABBC81F7503C}"/>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27" name="TextBox 26">
              <a:extLst>
                <a:ext uri="{FF2B5EF4-FFF2-40B4-BE49-F238E27FC236}">
                  <a16:creationId xmlns:a16="http://schemas.microsoft.com/office/drawing/2014/main" id="{5EAFC649-35A5-8A5E-9906-41C88CC59AAE}"/>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28" name="TextBox 27">
              <a:extLst>
                <a:ext uri="{FF2B5EF4-FFF2-40B4-BE49-F238E27FC236}">
                  <a16:creationId xmlns:a16="http://schemas.microsoft.com/office/drawing/2014/main" id="{2B763756-24B8-DF88-81E1-02360E033380}"/>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cxnSp>
        <p:nvCxnSpPr>
          <p:cNvPr id="141" name="Straight Arrow Connector 140">
            <a:extLst>
              <a:ext uri="{FF2B5EF4-FFF2-40B4-BE49-F238E27FC236}">
                <a16:creationId xmlns:a16="http://schemas.microsoft.com/office/drawing/2014/main" id="{222AD7F0-ABA1-3D95-7CC1-9810F7545911}"/>
              </a:ext>
            </a:extLst>
          </p:cNvPr>
          <p:cNvCxnSpPr>
            <a:cxnSpLocks/>
          </p:cNvCxnSpPr>
          <p:nvPr/>
        </p:nvCxnSpPr>
        <p:spPr>
          <a:xfrm flipV="1">
            <a:off x="7619048" y="8406903"/>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BF3DE25B-AB17-C7E0-EBBA-5350C445095A}"/>
              </a:ext>
            </a:extLst>
          </p:cNvPr>
          <p:cNvGrpSpPr/>
          <p:nvPr/>
        </p:nvGrpSpPr>
        <p:grpSpPr>
          <a:xfrm>
            <a:off x="8284413" y="1005634"/>
            <a:ext cx="9978207" cy="9952132"/>
            <a:chOff x="8284413" y="1005634"/>
            <a:chExt cx="9978207" cy="9952132"/>
          </a:xfrm>
        </p:grpSpPr>
        <p:pic>
          <p:nvPicPr>
            <p:cNvPr id="113" name="Picture 112">
              <a:extLst>
                <a:ext uri="{FF2B5EF4-FFF2-40B4-BE49-F238E27FC236}">
                  <a16:creationId xmlns:a16="http://schemas.microsoft.com/office/drawing/2014/main" id="{B28D8A32-FFEF-5FB6-8B14-3E6CC819862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E5D62112-8798-3B0D-0CE0-0B42A56DEB9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127" name="Oval 126">
              <a:extLst>
                <a:ext uri="{FF2B5EF4-FFF2-40B4-BE49-F238E27FC236}">
                  <a16:creationId xmlns:a16="http://schemas.microsoft.com/office/drawing/2014/main" id="{918C2F09-32C7-3528-D354-029DC9490632}"/>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F9058AD6-3911-370A-B215-788FE91C6038}"/>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0E18A394-D003-B0AE-4C58-E02A083DE387}"/>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17F9455A-8CDE-F391-8702-60105AE1D03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37" name="Oval 36">
              <a:extLst>
                <a:ext uri="{FF2B5EF4-FFF2-40B4-BE49-F238E27FC236}">
                  <a16:creationId xmlns:a16="http://schemas.microsoft.com/office/drawing/2014/main" id="{2267EA9E-6E29-2A2B-AD09-7342C9BF19A9}"/>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8E639F18-C457-1870-174B-9B3759403396}"/>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3" name="Straight Arrow Connector 142">
              <a:extLst>
                <a:ext uri="{FF2B5EF4-FFF2-40B4-BE49-F238E27FC236}">
                  <a16:creationId xmlns:a16="http://schemas.microsoft.com/office/drawing/2014/main" id="{EDBB9098-37BF-FF6B-4B19-178CEAD93DD8}"/>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13C4644A-2FD4-FE51-3C05-2476CC5B8989}"/>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F6AA7B1F-69B6-9B6E-E542-F4C02A4D42E3}"/>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E5D127EE-153A-273B-4C9D-39D44A433352}"/>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51" name="Rectangle: Rounded Corners 50">
              <a:extLst>
                <a:ext uri="{FF2B5EF4-FFF2-40B4-BE49-F238E27FC236}">
                  <a16:creationId xmlns:a16="http://schemas.microsoft.com/office/drawing/2014/main" id="{EB6642A6-585E-315F-0818-E21B0323D6DC}"/>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1650992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265139-7783-B64A-8125-D04BEAC6EF5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B3F5EE4-3BCC-B894-FBF0-6B5CBE347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2EC89AD-5326-07D1-F32A-814BFC58778C}"/>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FF7F879F-2DB1-CE41-26F7-74E8D5F9FD3A}"/>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5E248B7B-27CC-8CB7-40C7-A1695973FAD4}"/>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11B9B496-FC4C-500F-C84F-9C20AEB53857}"/>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C28E14B6-7106-2AE5-F72E-448E4FB49479}"/>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F9C974C2-6A24-10A0-A172-4C23C59235B3}"/>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76833086-5C85-AA2C-B642-B3B9DA8DA50B}"/>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3FB1D778-F33E-E429-F761-89D1628CF6B0}"/>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1BA431E6-E59A-0F96-F4B4-FA257771782C}"/>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14A4674C-EFC1-61C1-C61A-D28AF7EEAE22}"/>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54586670-E457-7BE6-2B13-E83F961C737F}"/>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8402B85E-2BA9-C895-07C2-172A7BF5A106}"/>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BC14E69-24E8-E2C9-D105-7C473D6E68D1}"/>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7E9DD7E-FE35-CCA2-F6B6-C8E7DBDEB630}"/>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1C6883E-AF58-CF2E-FFD4-683FCFB1EE0F}"/>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B8D4905-23AC-AAE4-8D6C-4FB08ABAA397}"/>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B185DE7-F335-D861-A39E-39B553FA166F}"/>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C5CD305F-19B6-4978-D954-DDB65FD95808}"/>
              </a:ext>
            </a:extLst>
          </p:cNvPr>
          <p:cNvGrpSpPr/>
          <p:nvPr/>
        </p:nvGrpSpPr>
        <p:grpSpPr>
          <a:xfrm>
            <a:off x="346492" y="1230331"/>
            <a:ext cx="1970636" cy="5332610"/>
            <a:chOff x="273095" y="1230331"/>
            <a:chExt cx="1970636" cy="5332610"/>
          </a:xfrm>
        </p:grpSpPr>
        <p:sp>
          <p:nvSpPr>
            <p:cNvPr id="17" name="Rectangle: Rounded Corners 16">
              <a:extLst>
                <a:ext uri="{FF2B5EF4-FFF2-40B4-BE49-F238E27FC236}">
                  <a16:creationId xmlns:a16="http://schemas.microsoft.com/office/drawing/2014/main" id="{3280A244-845E-7F30-3645-0CE2C785CCF0}"/>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412D34F5-DB10-7925-3A13-2BA09B3CBE01}"/>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9" name="Rectangle: Rounded Corners 18">
              <a:extLst>
                <a:ext uri="{FF2B5EF4-FFF2-40B4-BE49-F238E27FC236}">
                  <a16:creationId xmlns:a16="http://schemas.microsoft.com/office/drawing/2014/main" id="{5A318C3C-6C3D-97F2-DD57-282A494E696F}"/>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0" name="Rectangle: Rounded Corners 19">
              <a:extLst>
                <a:ext uri="{FF2B5EF4-FFF2-40B4-BE49-F238E27FC236}">
                  <a16:creationId xmlns:a16="http://schemas.microsoft.com/office/drawing/2014/main" id="{78C2DA33-BE75-2961-4E7F-CF2567C90470}"/>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1" name="Rectangle: Rounded Corners 20">
              <a:extLst>
                <a:ext uri="{FF2B5EF4-FFF2-40B4-BE49-F238E27FC236}">
                  <a16:creationId xmlns:a16="http://schemas.microsoft.com/office/drawing/2014/main" id="{65A5F369-7406-9DAF-CB87-3999B5029CCF}"/>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2" name="Rectangle: Rounded Corners 21">
              <a:extLst>
                <a:ext uri="{FF2B5EF4-FFF2-40B4-BE49-F238E27FC236}">
                  <a16:creationId xmlns:a16="http://schemas.microsoft.com/office/drawing/2014/main" id="{6F04507E-64D1-1BB6-71CB-8454662A3122}"/>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3" name="TextBox 22">
              <a:extLst>
                <a:ext uri="{FF2B5EF4-FFF2-40B4-BE49-F238E27FC236}">
                  <a16:creationId xmlns:a16="http://schemas.microsoft.com/office/drawing/2014/main" id="{00497F29-1EDF-67D6-7F73-6E605CFB5727}"/>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24" name="TextBox 23">
              <a:extLst>
                <a:ext uri="{FF2B5EF4-FFF2-40B4-BE49-F238E27FC236}">
                  <a16:creationId xmlns:a16="http://schemas.microsoft.com/office/drawing/2014/main" id="{7EBBA467-4A0C-0355-03ED-FA74DDF5B278}"/>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25" name="TextBox 24">
              <a:extLst>
                <a:ext uri="{FF2B5EF4-FFF2-40B4-BE49-F238E27FC236}">
                  <a16:creationId xmlns:a16="http://schemas.microsoft.com/office/drawing/2014/main" id="{F3E23222-2F51-E4FE-8975-DDBF72DCDE36}"/>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26" name="TextBox 25">
              <a:extLst>
                <a:ext uri="{FF2B5EF4-FFF2-40B4-BE49-F238E27FC236}">
                  <a16:creationId xmlns:a16="http://schemas.microsoft.com/office/drawing/2014/main" id="{6660185C-D46E-6138-59FC-38D235F21765}"/>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27" name="TextBox 26">
              <a:extLst>
                <a:ext uri="{FF2B5EF4-FFF2-40B4-BE49-F238E27FC236}">
                  <a16:creationId xmlns:a16="http://schemas.microsoft.com/office/drawing/2014/main" id="{F67DD69D-E01F-9F52-50D4-4367E2F33EC3}"/>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28" name="TextBox 27">
              <a:extLst>
                <a:ext uri="{FF2B5EF4-FFF2-40B4-BE49-F238E27FC236}">
                  <a16:creationId xmlns:a16="http://schemas.microsoft.com/office/drawing/2014/main" id="{B28233A6-FD17-9E5E-56B0-65C5BB273BAA}"/>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106" name="Group 105">
            <a:extLst>
              <a:ext uri="{FF2B5EF4-FFF2-40B4-BE49-F238E27FC236}">
                <a16:creationId xmlns:a16="http://schemas.microsoft.com/office/drawing/2014/main" id="{2DABDC89-064E-1901-4F8F-7B3D450D4180}"/>
              </a:ext>
            </a:extLst>
          </p:cNvPr>
          <p:cNvGrpSpPr/>
          <p:nvPr/>
        </p:nvGrpSpPr>
        <p:grpSpPr>
          <a:xfrm>
            <a:off x="3171008" y="8156484"/>
            <a:ext cx="2924989" cy="5234023"/>
            <a:chOff x="3171008" y="1372226"/>
            <a:chExt cx="2924989" cy="5234023"/>
          </a:xfrm>
        </p:grpSpPr>
        <p:sp>
          <p:nvSpPr>
            <p:cNvPr id="108" name="TextBox 107">
              <a:extLst>
                <a:ext uri="{FF2B5EF4-FFF2-40B4-BE49-F238E27FC236}">
                  <a16:creationId xmlns:a16="http://schemas.microsoft.com/office/drawing/2014/main" id="{D1473D94-5573-DA37-0506-8FB2F5DD3CEE}"/>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110" name="TextBox 109">
              <a:extLst>
                <a:ext uri="{FF2B5EF4-FFF2-40B4-BE49-F238E27FC236}">
                  <a16:creationId xmlns:a16="http://schemas.microsoft.com/office/drawing/2014/main" id="{56F6842C-3659-7305-B9F7-4931EB7E9C25}"/>
                </a:ext>
              </a:extLst>
            </p:cNvPr>
            <p:cNvSpPr txBox="1"/>
            <p:nvPr/>
          </p:nvSpPr>
          <p:spPr>
            <a:xfrm>
              <a:off x="3171011" y="228560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2" name="TextBox 111">
              <a:extLst>
                <a:ext uri="{FF2B5EF4-FFF2-40B4-BE49-F238E27FC236}">
                  <a16:creationId xmlns:a16="http://schemas.microsoft.com/office/drawing/2014/main" id="{966250C1-0D7D-DCD2-1110-519E586B1196}"/>
                </a:ext>
              </a:extLst>
            </p:cNvPr>
            <p:cNvSpPr txBox="1"/>
            <p:nvPr/>
          </p:nvSpPr>
          <p:spPr>
            <a:xfrm>
              <a:off x="3171010" y="3178631"/>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4" name="TextBox 113">
              <a:extLst>
                <a:ext uri="{FF2B5EF4-FFF2-40B4-BE49-F238E27FC236}">
                  <a16:creationId xmlns:a16="http://schemas.microsoft.com/office/drawing/2014/main" id="{23ED1015-5572-823B-FEF7-5F650160596F}"/>
                </a:ext>
              </a:extLst>
            </p:cNvPr>
            <p:cNvSpPr txBox="1"/>
            <p:nvPr/>
          </p:nvSpPr>
          <p:spPr>
            <a:xfrm>
              <a:off x="3171010" y="4124245"/>
              <a:ext cx="2924987"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116" name="TextBox 115">
              <a:extLst>
                <a:ext uri="{FF2B5EF4-FFF2-40B4-BE49-F238E27FC236}">
                  <a16:creationId xmlns:a16="http://schemas.microsoft.com/office/drawing/2014/main" id="{7A64C3ED-A390-B032-C696-4C19D22F8B48}"/>
                </a:ext>
              </a:extLst>
            </p:cNvPr>
            <p:cNvSpPr txBox="1"/>
            <p:nvPr/>
          </p:nvSpPr>
          <p:spPr>
            <a:xfrm>
              <a:off x="3171009" y="5041129"/>
              <a:ext cx="2924988"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7" name="TextBox 116">
              <a:extLst>
                <a:ext uri="{FF2B5EF4-FFF2-40B4-BE49-F238E27FC236}">
                  <a16:creationId xmlns:a16="http://schemas.microsoft.com/office/drawing/2014/main" id="{5E7DE3E0-F94B-737C-7AF0-074CF2E762A2}"/>
                </a:ext>
              </a:extLst>
            </p:cNvPr>
            <p:cNvSpPr txBox="1"/>
            <p:nvPr/>
          </p:nvSpPr>
          <p:spPr>
            <a:xfrm>
              <a:off x="3171008" y="5929141"/>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118" name="Group 117">
            <a:extLst>
              <a:ext uri="{FF2B5EF4-FFF2-40B4-BE49-F238E27FC236}">
                <a16:creationId xmlns:a16="http://schemas.microsoft.com/office/drawing/2014/main" id="{41AC3B1A-FCD1-4E91-F734-32B6078EFD55}"/>
              </a:ext>
            </a:extLst>
          </p:cNvPr>
          <p:cNvGrpSpPr/>
          <p:nvPr/>
        </p:nvGrpSpPr>
        <p:grpSpPr>
          <a:xfrm>
            <a:off x="8284413" y="1005634"/>
            <a:ext cx="9978207" cy="9952132"/>
            <a:chOff x="8284413" y="1005634"/>
            <a:chExt cx="9978207" cy="9952132"/>
          </a:xfrm>
        </p:grpSpPr>
        <p:pic>
          <p:nvPicPr>
            <p:cNvPr id="120" name="Picture 119">
              <a:extLst>
                <a:ext uri="{FF2B5EF4-FFF2-40B4-BE49-F238E27FC236}">
                  <a16:creationId xmlns:a16="http://schemas.microsoft.com/office/drawing/2014/main" id="{ED7B6B76-8C64-1A28-23CC-D52182E833C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121" name="Picture 120">
              <a:extLst>
                <a:ext uri="{FF2B5EF4-FFF2-40B4-BE49-F238E27FC236}">
                  <a16:creationId xmlns:a16="http://schemas.microsoft.com/office/drawing/2014/main" id="{F601C27E-4E1B-AF98-A7A2-380E3E96CE6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122" name="Oval 121">
              <a:extLst>
                <a:ext uri="{FF2B5EF4-FFF2-40B4-BE49-F238E27FC236}">
                  <a16:creationId xmlns:a16="http://schemas.microsoft.com/office/drawing/2014/main" id="{332F4BFB-891E-64C5-37C6-E56191615C17}"/>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Oval 124">
              <a:extLst>
                <a:ext uri="{FF2B5EF4-FFF2-40B4-BE49-F238E27FC236}">
                  <a16:creationId xmlns:a16="http://schemas.microsoft.com/office/drawing/2014/main" id="{06C1F641-47F3-50F1-D8C6-3B526EC06FDE}"/>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8" name="Oval 127">
              <a:extLst>
                <a:ext uri="{FF2B5EF4-FFF2-40B4-BE49-F238E27FC236}">
                  <a16:creationId xmlns:a16="http://schemas.microsoft.com/office/drawing/2014/main" id="{77BF2A73-5BE9-A1B7-BF11-ABD0046B892B}"/>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0" name="Picture 129">
              <a:extLst>
                <a:ext uri="{FF2B5EF4-FFF2-40B4-BE49-F238E27FC236}">
                  <a16:creationId xmlns:a16="http://schemas.microsoft.com/office/drawing/2014/main" id="{A4D16C74-ACB4-A628-B873-894B7B0F151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131" name="Oval 130">
              <a:extLst>
                <a:ext uri="{FF2B5EF4-FFF2-40B4-BE49-F238E27FC236}">
                  <a16:creationId xmlns:a16="http://schemas.microsoft.com/office/drawing/2014/main" id="{B8A318C4-5F40-3840-9EDC-F689A5E0AEBB}"/>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2" name="Oval 131">
              <a:extLst>
                <a:ext uri="{FF2B5EF4-FFF2-40B4-BE49-F238E27FC236}">
                  <a16:creationId xmlns:a16="http://schemas.microsoft.com/office/drawing/2014/main" id="{317BBDB1-C748-1FB4-A825-ABD83A8BAE67}"/>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3" name="Straight Arrow Connector 132">
              <a:extLst>
                <a:ext uri="{FF2B5EF4-FFF2-40B4-BE49-F238E27FC236}">
                  <a16:creationId xmlns:a16="http://schemas.microsoft.com/office/drawing/2014/main" id="{BCF50661-8C88-89B8-37FB-87DE67777A38}"/>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59B1F183-9B08-2064-B7EC-83136DB322DE}"/>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135" name="Rectangle: Rounded Corners 134">
              <a:extLst>
                <a:ext uri="{FF2B5EF4-FFF2-40B4-BE49-F238E27FC236}">
                  <a16:creationId xmlns:a16="http://schemas.microsoft.com/office/drawing/2014/main" id="{9BA4F030-754F-1108-859B-D7597CBA73BF}"/>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36" name="Rectangle: Rounded Corners 135">
              <a:extLst>
                <a:ext uri="{FF2B5EF4-FFF2-40B4-BE49-F238E27FC236}">
                  <a16:creationId xmlns:a16="http://schemas.microsoft.com/office/drawing/2014/main" id="{D53F2AD8-2397-7BB7-E6BD-89D3E9314CC3}"/>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137" name="Rectangle: Rounded Corners 136">
              <a:extLst>
                <a:ext uri="{FF2B5EF4-FFF2-40B4-BE49-F238E27FC236}">
                  <a16:creationId xmlns:a16="http://schemas.microsoft.com/office/drawing/2014/main" id="{410E094C-D441-0AF2-7A57-95F0A61BF9B5}"/>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1669731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EF2CCD-4A32-D7B4-E703-5D2437AD655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5263262-7FB7-B3D0-9954-8D856C3C8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01967CF-F419-F845-37C2-AD0774D984F0}"/>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F47B9020-AA6C-B367-59B3-819FB2933460}"/>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5AEF11D0-F8D1-716C-7233-1DD9BC15E454}"/>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DDDB1F33-B90A-1B79-0EF3-7272223BD429}"/>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54635FA0-7F08-80E2-66BF-28AA97F4EEF7}"/>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6698A659-19E6-FA05-2A22-A6F0B86979AC}"/>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4B50E28A-032C-A3F5-8AF0-5AC0D83B1B8A}"/>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57B73869-E0D3-F029-9793-A9AC80EFF37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rPr>
              <a:t>Key Insights &amp; Conclusions</a:t>
            </a:r>
          </a:p>
        </p:txBody>
      </p:sp>
      <p:sp>
        <p:nvSpPr>
          <p:cNvPr id="10" name="TextBox 9">
            <a:extLst>
              <a:ext uri="{FF2B5EF4-FFF2-40B4-BE49-F238E27FC236}">
                <a16:creationId xmlns:a16="http://schemas.microsoft.com/office/drawing/2014/main" id="{0A4AEF87-B0C5-9030-3ABA-4BB49A9D3D3A}"/>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E6AF00">
                    <a:alpha val="10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C5BB1BE3-8DFE-E3D2-EA3C-6F32453B169E}"/>
              </a:ext>
            </a:extLst>
          </p:cNvPr>
          <p:cNvCxnSpPr/>
          <p:nvPr/>
        </p:nvCxnSpPr>
        <p:spPr>
          <a:xfrm>
            <a:off x="6096000"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ACFC3DD-71C2-D4BB-6147-E928D28E904E}"/>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965C148-1758-D332-D8D4-8AA53B61CA4F}"/>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9A1F7BD-D7AE-F5FA-E8FF-24F5DBD47B03}"/>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825CDB1-17F0-4FC3-9B39-864E6D485149}"/>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EBAD537-684C-E549-36EA-2E9CF3A7B522}"/>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D15D212-4675-9C39-C51D-BC98A9E4D888}"/>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F905419C-5BAB-1CEE-E6F8-4C167C8F99B7}"/>
              </a:ext>
            </a:extLst>
          </p:cNvPr>
          <p:cNvSpPr/>
          <p:nvPr/>
        </p:nvSpPr>
        <p:spPr>
          <a:xfrm>
            <a:off x="272801"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E9997750-A38D-6EF8-448E-46C76AD823EA}"/>
              </a:ext>
            </a:extLst>
          </p:cNvPr>
          <p:cNvSpPr/>
          <p:nvPr/>
        </p:nvSpPr>
        <p:spPr>
          <a:xfrm>
            <a:off x="272801"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D0EDCF0E-A718-49A2-F020-E0C423B09018}"/>
              </a:ext>
            </a:extLst>
          </p:cNvPr>
          <p:cNvSpPr/>
          <p:nvPr/>
        </p:nvSpPr>
        <p:spPr>
          <a:xfrm>
            <a:off x="272801"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0C323F95-6E88-0E92-AA35-1504DF0A3C90}"/>
              </a:ext>
            </a:extLst>
          </p:cNvPr>
          <p:cNvSpPr/>
          <p:nvPr/>
        </p:nvSpPr>
        <p:spPr>
          <a:xfrm>
            <a:off x="272801"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5D654997-7715-B97B-C5C6-95F6DF0875AB}"/>
              </a:ext>
            </a:extLst>
          </p:cNvPr>
          <p:cNvSpPr/>
          <p:nvPr/>
        </p:nvSpPr>
        <p:spPr>
          <a:xfrm>
            <a:off x="272801"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7696D67F-A307-13AE-C03D-F714E7020128}"/>
              </a:ext>
            </a:extLst>
          </p:cNvPr>
          <p:cNvSpPr/>
          <p:nvPr/>
        </p:nvSpPr>
        <p:spPr>
          <a:xfrm>
            <a:off x="272801"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76145BBE-4DE0-557B-2179-75DE7D74016E}"/>
              </a:ext>
            </a:extLst>
          </p:cNvPr>
          <p:cNvSpPr txBox="1"/>
          <p:nvPr/>
        </p:nvSpPr>
        <p:spPr>
          <a:xfrm>
            <a:off x="586607"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A6900CB3-A638-7EBF-E819-1912C71BEBBC}"/>
              </a:ext>
            </a:extLst>
          </p:cNvPr>
          <p:cNvSpPr txBox="1"/>
          <p:nvPr/>
        </p:nvSpPr>
        <p:spPr>
          <a:xfrm>
            <a:off x="586607"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3504CE83-44DA-8666-0E61-4D55BD3AE263}"/>
              </a:ext>
            </a:extLst>
          </p:cNvPr>
          <p:cNvSpPr txBox="1"/>
          <p:nvPr/>
        </p:nvSpPr>
        <p:spPr>
          <a:xfrm>
            <a:off x="586607"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F6309BEE-635C-90B0-307C-EBB5ADBE1F81}"/>
              </a:ext>
            </a:extLst>
          </p:cNvPr>
          <p:cNvSpPr txBox="1"/>
          <p:nvPr/>
        </p:nvSpPr>
        <p:spPr>
          <a:xfrm>
            <a:off x="586607"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1BD94863-F576-502E-516F-FCAB66F15594}"/>
              </a:ext>
            </a:extLst>
          </p:cNvPr>
          <p:cNvSpPr txBox="1"/>
          <p:nvPr/>
        </p:nvSpPr>
        <p:spPr>
          <a:xfrm>
            <a:off x="586607"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DBFE2A30-B505-B36C-C3B5-61EF1F55E917}"/>
              </a:ext>
            </a:extLst>
          </p:cNvPr>
          <p:cNvSpPr txBox="1"/>
          <p:nvPr/>
        </p:nvSpPr>
        <p:spPr>
          <a:xfrm>
            <a:off x="586607"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sp>
        <p:nvSpPr>
          <p:cNvPr id="101" name="TextBox 100">
            <a:extLst>
              <a:ext uri="{FF2B5EF4-FFF2-40B4-BE49-F238E27FC236}">
                <a16:creationId xmlns:a16="http://schemas.microsoft.com/office/drawing/2014/main" id="{72E61E2A-A976-5C6F-25FB-428AC9B16F86}"/>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3D64A449-CAD1-83DA-00CC-136535F554B6}"/>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02A423F8-A7F5-C6CF-3959-C00F8C701AC1}"/>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8315AB16-AABE-D7CA-5CA1-13615CC46270}"/>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EFF3DE34-B332-8359-64E2-4DC565430B48}"/>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D6C47E1C-E51B-3F5E-C5CC-5ED0C5134A32}"/>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pic>
        <p:nvPicPr>
          <p:cNvPr id="113" name="Picture 112">
            <a:extLst>
              <a:ext uri="{FF2B5EF4-FFF2-40B4-BE49-F238E27FC236}">
                <a16:creationId xmlns:a16="http://schemas.microsoft.com/office/drawing/2014/main" id="{93F07A8F-2022-45EC-7CAE-F8EA1A2455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43022598-1155-3377-81C0-4EA48CD357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3775451"/>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F2FD3FA8-CBB8-C044-456A-F81EB165F5AA}"/>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128861C7-9AFC-6490-4F86-96BC8C0ECC38}"/>
              </a:ext>
            </a:extLst>
          </p:cNvPr>
          <p:cNvSpPr/>
          <p:nvPr/>
        </p:nvSpPr>
        <p:spPr>
          <a:xfrm>
            <a:off x="6240380" y="5567632"/>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B71869CB-CBF0-D7EC-8969-E5BF30378EE0}"/>
              </a:ext>
            </a:extLst>
          </p:cNvPr>
          <p:cNvSpPr/>
          <p:nvPr/>
        </p:nvSpPr>
        <p:spPr>
          <a:xfrm>
            <a:off x="791527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F5A94989-778B-CE2D-9680-2DF6318F5EE8}"/>
              </a:ext>
            </a:extLst>
          </p:cNvPr>
          <p:cNvSpPr/>
          <p:nvPr/>
        </p:nvSpPr>
        <p:spPr>
          <a:xfrm>
            <a:off x="7357305"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B275C403-36AA-88C4-6B99-945B2DF63A58}"/>
              </a:ext>
            </a:extLst>
          </p:cNvPr>
          <p:cNvSpPr/>
          <p:nvPr/>
        </p:nvSpPr>
        <p:spPr>
          <a:xfrm>
            <a:off x="8830961" y="409954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6B9D880B-8460-A063-FD95-F91506C0D1FB}"/>
              </a:ext>
            </a:extLst>
          </p:cNvPr>
          <p:cNvSpPr/>
          <p:nvPr/>
        </p:nvSpPr>
        <p:spPr>
          <a:xfrm>
            <a:off x="9312121" y="4024194"/>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B4B8FD6C-CAE8-CE73-32C4-FC753F5548DA}"/>
              </a:ext>
            </a:extLst>
          </p:cNvPr>
          <p:cNvCxnSpPr>
            <a:cxnSpLocks/>
          </p:cNvCxnSpPr>
          <p:nvPr/>
        </p:nvCxnSpPr>
        <p:spPr>
          <a:xfrm flipV="1">
            <a:off x="8739188" y="407945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04F2154D-9765-45D3-3D62-50605DC3ABE2}"/>
              </a:ext>
            </a:extLst>
          </p:cNvPr>
          <p:cNvCxnSpPr>
            <a:cxnSpLocks/>
          </p:cNvCxnSpPr>
          <p:nvPr/>
        </p:nvCxnSpPr>
        <p:spPr>
          <a:xfrm flipV="1">
            <a:off x="9596438" y="39839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B1168CF4-41B3-CEF8-9224-26F449364AD1}"/>
              </a:ext>
            </a:extLst>
          </p:cNvPr>
          <p:cNvCxnSpPr>
            <a:cxnSpLocks/>
          </p:cNvCxnSpPr>
          <p:nvPr/>
        </p:nvCxnSpPr>
        <p:spPr>
          <a:xfrm>
            <a:off x="9172574" y="4375229"/>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6750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4BA9EE-4862-5D31-541D-8A48698979A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6CBE956-55FB-6062-A4BB-7646565D2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2B11BA37-A5D7-92C9-CE05-0069F81D4119}"/>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B3974199-EBD8-07C9-6655-A54934FEA3BC}"/>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23A56DA8-AA23-2625-8782-A8B8E36929BB}"/>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EADE4ABD-B525-9410-CB08-D52DA4AF537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99EC271C-602A-5FA3-43B3-125D8D5EA978}"/>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91F811BD-F822-C617-BFE1-D705ADA61E0D}"/>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4E405F88-7403-59A3-DE52-84A0B921B20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62A7AA80-53FA-ED09-16C1-99B0900A38C3}"/>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6CDB9ABF-891A-128A-E802-24A519D27C73}"/>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1814482C-9796-38F3-FADB-D6D70145D2B1}"/>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29A024E-DAB1-86BC-BBD3-684AA3002BB7}"/>
              </a:ext>
            </a:extLst>
          </p:cNvPr>
          <p:cNvGrpSpPr/>
          <p:nvPr/>
        </p:nvGrpSpPr>
        <p:grpSpPr>
          <a:xfrm>
            <a:off x="2411509" y="1604426"/>
            <a:ext cx="707325" cy="4566893"/>
            <a:chOff x="2411509" y="1604426"/>
            <a:chExt cx="707325" cy="4566893"/>
          </a:xfrm>
        </p:grpSpPr>
        <p:cxnSp>
          <p:nvCxnSpPr>
            <p:cNvPr id="42" name="Straight Arrow Connector 41">
              <a:extLst>
                <a:ext uri="{FF2B5EF4-FFF2-40B4-BE49-F238E27FC236}">
                  <a16:creationId xmlns:a16="http://schemas.microsoft.com/office/drawing/2014/main" id="{EBA7B068-62B6-47C9-2E1D-101423E3E6F3}"/>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C6143A2-276E-811E-3A26-2C89D5678C23}"/>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892D533-1909-8E92-80C8-7CF08FDCAB82}"/>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0226FAF-60B6-03A1-BF86-F98FEB6D8A74}"/>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3E18F1F2-5B3F-A845-4ACC-BE98D2FC31ED}"/>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E899344-C305-6C90-7025-DA81F51BB76D}"/>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2D595AB8-92BE-D4BF-97D5-54561E024663}"/>
              </a:ext>
            </a:extLst>
          </p:cNvPr>
          <p:cNvGrpSpPr/>
          <p:nvPr/>
        </p:nvGrpSpPr>
        <p:grpSpPr>
          <a:xfrm>
            <a:off x="346492" y="1230331"/>
            <a:ext cx="1970636" cy="5332610"/>
            <a:chOff x="273095" y="1230331"/>
            <a:chExt cx="1970636" cy="5332610"/>
          </a:xfrm>
        </p:grpSpPr>
        <p:sp>
          <p:nvSpPr>
            <p:cNvPr id="29" name="Rectangle: Rounded Corners 28">
              <a:extLst>
                <a:ext uri="{FF2B5EF4-FFF2-40B4-BE49-F238E27FC236}">
                  <a16:creationId xmlns:a16="http://schemas.microsoft.com/office/drawing/2014/main" id="{D76254A8-89C4-71DA-5218-AEC448551D6F}"/>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0" name="Rectangle: Rounded Corners 29">
              <a:extLst>
                <a:ext uri="{FF2B5EF4-FFF2-40B4-BE49-F238E27FC236}">
                  <a16:creationId xmlns:a16="http://schemas.microsoft.com/office/drawing/2014/main" id="{351DFDB7-E3B8-CA15-1F75-BB157F3FC3E2}"/>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1" name="Rectangle: Rounded Corners 30">
              <a:extLst>
                <a:ext uri="{FF2B5EF4-FFF2-40B4-BE49-F238E27FC236}">
                  <a16:creationId xmlns:a16="http://schemas.microsoft.com/office/drawing/2014/main" id="{46966799-38CC-925E-91E1-8D5DD1684B2E}"/>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2" name="Rectangle: Rounded Corners 31">
              <a:extLst>
                <a:ext uri="{FF2B5EF4-FFF2-40B4-BE49-F238E27FC236}">
                  <a16:creationId xmlns:a16="http://schemas.microsoft.com/office/drawing/2014/main" id="{5BF5F829-C089-5A0F-58C0-5FCC0CBB1F53}"/>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3" name="Rectangle: Rounded Corners 32">
              <a:extLst>
                <a:ext uri="{FF2B5EF4-FFF2-40B4-BE49-F238E27FC236}">
                  <a16:creationId xmlns:a16="http://schemas.microsoft.com/office/drawing/2014/main" id="{6F08DAB4-BC71-C93F-DB84-DA3DEE1C6FC8}"/>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4" name="Rectangle: Rounded Corners 33">
              <a:extLst>
                <a:ext uri="{FF2B5EF4-FFF2-40B4-BE49-F238E27FC236}">
                  <a16:creationId xmlns:a16="http://schemas.microsoft.com/office/drawing/2014/main" id="{576675B6-C165-D35D-3CB0-DA2459CD6233}"/>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5" name="TextBox 34">
              <a:extLst>
                <a:ext uri="{FF2B5EF4-FFF2-40B4-BE49-F238E27FC236}">
                  <a16:creationId xmlns:a16="http://schemas.microsoft.com/office/drawing/2014/main" id="{025FC277-D257-7346-9D25-86EE4C61A5D5}"/>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36" name="TextBox 35">
              <a:extLst>
                <a:ext uri="{FF2B5EF4-FFF2-40B4-BE49-F238E27FC236}">
                  <a16:creationId xmlns:a16="http://schemas.microsoft.com/office/drawing/2014/main" id="{BEEC41E9-5593-B663-9F85-E2070D1D048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37" name="TextBox 36">
              <a:extLst>
                <a:ext uri="{FF2B5EF4-FFF2-40B4-BE49-F238E27FC236}">
                  <a16:creationId xmlns:a16="http://schemas.microsoft.com/office/drawing/2014/main" id="{DDA6477D-95F3-11B1-1C87-422A50926FF9}"/>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38" name="TextBox 37">
              <a:extLst>
                <a:ext uri="{FF2B5EF4-FFF2-40B4-BE49-F238E27FC236}">
                  <a16:creationId xmlns:a16="http://schemas.microsoft.com/office/drawing/2014/main" id="{94218C89-3398-1D0A-E462-4A5F804E3297}"/>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39" name="TextBox 38">
              <a:extLst>
                <a:ext uri="{FF2B5EF4-FFF2-40B4-BE49-F238E27FC236}">
                  <a16:creationId xmlns:a16="http://schemas.microsoft.com/office/drawing/2014/main" id="{88220A15-563D-D148-2879-7E035347A5EF}"/>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40" name="TextBox 39">
              <a:extLst>
                <a:ext uri="{FF2B5EF4-FFF2-40B4-BE49-F238E27FC236}">
                  <a16:creationId xmlns:a16="http://schemas.microsoft.com/office/drawing/2014/main" id="{131F119D-11DF-966F-96FF-4538F1D4BA7A}"/>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41" name="Group 40">
            <a:extLst>
              <a:ext uri="{FF2B5EF4-FFF2-40B4-BE49-F238E27FC236}">
                <a16:creationId xmlns:a16="http://schemas.microsoft.com/office/drawing/2014/main" id="{D2BC2871-E333-DEB5-665D-48B14FFC9439}"/>
              </a:ext>
            </a:extLst>
          </p:cNvPr>
          <p:cNvGrpSpPr/>
          <p:nvPr/>
        </p:nvGrpSpPr>
        <p:grpSpPr>
          <a:xfrm>
            <a:off x="3106840" y="1387508"/>
            <a:ext cx="2989156" cy="5132425"/>
            <a:chOff x="3171008" y="1386740"/>
            <a:chExt cx="2989156" cy="5132425"/>
          </a:xfrm>
        </p:grpSpPr>
        <p:sp>
          <p:nvSpPr>
            <p:cNvPr id="43" name="TextBox 42">
              <a:extLst>
                <a:ext uri="{FF2B5EF4-FFF2-40B4-BE49-F238E27FC236}">
                  <a16:creationId xmlns:a16="http://schemas.microsoft.com/office/drawing/2014/main" id="{F0176D8E-5BCA-B443-CDBF-DB2F45EF1752}"/>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49" name="TextBox 48">
              <a:extLst>
                <a:ext uri="{FF2B5EF4-FFF2-40B4-BE49-F238E27FC236}">
                  <a16:creationId xmlns:a16="http://schemas.microsoft.com/office/drawing/2014/main" id="{B4E3B9CE-F2C4-728D-8DB3-4AB21B859826}"/>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50" name="TextBox 49">
              <a:extLst>
                <a:ext uri="{FF2B5EF4-FFF2-40B4-BE49-F238E27FC236}">
                  <a16:creationId xmlns:a16="http://schemas.microsoft.com/office/drawing/2014/main" id="{9F4A0594-D83E-4DDF-2227-D6717E23DA89}"/>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52" name="TextBox 51">
              <a:extLst>
                <a:ext uri="{FF2B5EF4-FFF2-40B4-BE49-F238E27FC236}">
                  <a16:creationId xmlns:a16="http://schemas.microsoft.com/office/drawing/2014/main" id="{67B3B434-4EAC-1A73-8644-1A892EE3CFE4}"/>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53" name="TextBox 52">
              <a:extLst>
                <a:ext uri="{FF2B5EF4-FFF2-40B4-BE49-F238E27FC236}">
                  <a16:creationId xmlns:a16="http://schemas.microsoft.com/office/drawing/2014/main" id="{1D225237-8BE1-7992-08F2-F2F86104C10D}"/>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sp>
        <p:nvSpPr>
          <p:cNvPr id="57" name="TextBox 56">
            <a:extLst>
              <a:ext uri="{FF2B5EF4-FFF2-40B4-BE49-F238E27FC236}">
                <a16:creationId xmlns:a16="http://schemas.microsoft.com/office/drawing/2014/main" id="{F7F14BA6-82B2-93B0-9555-FA7789B6B6EE}"/>
              </a:ext>
            </a:extLst>
          </p:cNvPr>
          <p:cNvSpPr txBox="1"/>
          <p:nvPr/>
        </p:nvSpPr>
        <p:spPr>
          <a:xfrm>
            <a:off x="3106842" y="3849241"/>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grpSp>
        <p:nvGrpSpPr>
          <p:cNvPr id="58" name="Group 57">
            <a:extLst>
              <a:ext uri="{FF2B5EF4-FFF2-40B4-BE49-F238E27FC236}">
                <a16:creationId xmlns:a16="http://schemas.microsoft.com/office/drawing/2014/main" id="{C88118D1-A92B-E71D-47B9-39EE283B9292}"/>
              </a:ext>
            </a:extLst>
          </p:cNvPr>
          <p:cNvGrpSpPr/>
          <p:nvPr/>
        </p:nvGrpSpPr>
        <p:grpSpPr>
          <a:xfrm>
            <a:off x="8284413" y="1005634"/>
            <a:ext cx="9978207" cy="9952132"/>
            <a:chOff x="8284413" y="1005634"/>
            <a:chExt cx="9978207" cy="9952132"/>
          </a:xfrm>
        </p:grpSpPr>
        <p:pic>
          <p:nvPicPr>
            <p:cNvPr id="59" name="Picture 58">
              <a:extLst>
                <a:ext uri="{FF2B5EF4-FFF2-40B4-BE49-F238E27FC236}">
                  <a16:creationId xmlns:a16="http://schemas.microsoft.com/office/drawing/2014/main" id="{8CCF5283-F054-2FE3-8D50-09F0351DA60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60" name="Picture 59">
              <a:extLst>
                <a:ext uri="{FF2B5EF4-FFF2-40B4-BE49-F238E27FC236}">
                  <a16:creationId xmlns:a16="http://schemas.microsoft.com/office/drawing/2014/main" id="{B1831F38-DC4B-3F8C-43F4-41323B094A8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61" name="Oval 60">
              <a:extLst>
                <a:ext uri="{FF2B5EF4-FFF2-40B4-BE49-F238E27FC236}">
                  <a16:creationId xmlns:a16="http://schemas.microsoft.com/office/drawing/2014/main" id="{FD0E3B4D-78DD-DD2D-08B4-60AAF48116AA}"/>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0A08C8DF-F140-0B45-3145-46E16BD0C85D}"/>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6465E3F1-A784-0407-5F40-2CAD2162A746}"/>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4" name="Picture 63">
              <a:extLst>
                <a:ext uri="{FF2B5EF4-FFF2-40B4-BE49-F238E27FC236}">
                  <a16:creationId xmlns:a16="http://schemas.microsoft.com/office/drawing/2014/main" id="{00B8A8D0-F3D6-A730-949C-63590F8FEB7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65" name="Oval 64">
              <a:extLst>
                <a:ext uri="{FF2B5EF4-FFF2-40B4-BE49-F238E27FC236}">
                  <a16:creationId xmlns:a16="http://schemas.microsoft.com/office/drawing/2014/main" id="{A7158D8B-0D4E-F6EC-7AD9-BE3FDF09778B}"/>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Oval 65">
              <a:extLst>
                <a:ext uri="{FF2B5EF4-FFF2-40B4-BE49-F238E27FC236}">
                  <a16:creationId xmlns:a16="http://schemas.microsoft.com/office/drawing/2014/main" id="{B6817EC5-3C90-B256-0DAB-DE26993CBEAD}"/>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7" name="Straight Arrow Connector 66">
              <a:extLst>
                <a:ext uri="{FF2B5EF4-FFF2-40B4-BE49-F238E27FC236}">
                  <a16:creationId xmlns:a16="http://schemas.microsoft.com/office/drawing/2014/main" id="{9FAD7A09-15BB-08B3-A577-176C413BA3BC}"/>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584F555-BF86-2D7B-BF42-9A591A75905A}"/>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69" name="Rectangle: Rounded Corners 68">
              <a:extLst>
                <a:ext uri="{FF2B5EF4-FFF2-40B4-BE49-F238E27FC236}">
                  <a16:creationId xmlns:a16="http://schemas.microsoft.com/office/drawing/2014/main" id="{813F2838-B4FE-A2B6-E221-8E72E0A12A82}"/>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5DF24789-766E-5E7B-D67C-5B58DE81D761}"/>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71" name="Rectangle: Rounded Corners 70">
              <a:extLst>
                <a:ext uri="{FF2B5EF4-FFF2-40B4-BE49-F238E27FC236}">
                  <a16:creationId xmlns:a16="http://schemas.microsoft.com/office/drawing/2014/main" id="{4B357F7E-1BD1-EE80-F522-4BCBA04E715D}"/>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3940809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336564-A3AF-B9CB-8DE7-E859108A0B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757B9BA-F2A2-EE8E-7E92-7CFD3ABD0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DFBE9422-DB2A-3764-0E17-EF7611D022DE}"/>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B825BD1-8E4A-B801-C1D4-4BF97BAAF75D}"/>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C79101E8-6413-958C-EB98-049C3FE89014}"/>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80A2D72D-508B-A336-29EB-B8EF2D6B5E55}"/>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089C511-9E8E-3AC9-6331-D1DB79D50D0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8A2DDB47-E170-3019-809C-A2C174771B8A}"/>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C6AEAD6-BEC1-BF0A-F6BE-884FFA0F055A}"/>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888AB938-D810-5ABB-470E-936078F3382D}"/>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22B41F19-CF8B-71F3-3DB0-3E97BF8C02FC}"/>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38DBBEA7-6999-FFDA-D48F-835F4709990B}"/>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F8C627C0-0BA2-F966-8D7B-559A51AEA434}"/>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2AAE102F-90B6-DE41-63CE-91C9ABEA7C6B}"/>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D08F845-64C6-250A-418B-CAFA8253B1A4}"/>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DCA5268-8185-A079-F3C5-757F5BEEF368}"/>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2FEB421-C4A4-F443-A7B8-34C9DDBF31A3}"/>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25879B5-7E98-7496-74D1-8DCDC242236F}"/>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53F825C-0585-A84F-BFD8-64691CD81E8D}"/>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04760227-0EB4-F51F-6104-6FFDC8682A5A}"/>
              </a:ext>
            </a:extLst>
          </p:cNvPr>
          <p:cNvGrpSpPr/>
          <p:nvPr/>
        </p:nvGrpSpPr>
        <p:grpSpPr>
          <a:xfrm>
            <a:off x="346492" y="1230331"/>
            <a:ext cx="1970636" cy="5332610"/>
            <a:chOff x="273095" y="1230331"/>
            <a:chExt cx="1970636" cy="5332610"/>
          </a:xfrm>
        </p:grpSpPr>
        <p:sp>
          <p:nvSpPr>
            <p:cNvPr id="47" name="Rectangle: Rounded Corners 46">
              <a:extLst>
                <a:ext uri="{FF2B5EF4-FFF2-40B4-BE49-F238E27FC236}">
                  <a16:creationId xmlns:a16="http://schemas.microsoft.com/office/drawing/2014/main" id="{21656657-5AA5-FE62-7816-3F08F79A8F1D}"/>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465D3266-73CA-280F-FEBE-921AFCD9D6A9}"/>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F40B4A5F-531C-7524-DACC-8FC4F305408B}"/>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1" name="Rectangle: Rounded Corners 50">
              <a:extLst>
                <a:ext uri="{FF2B5EF4-FFF2-40B4-BE49-F238E27FC236}">
                  <a16:creationId xmlns:a16="http://schemas.microsoft.com/office/drawing/2014/main" id="{8834307B-91A6-825F-0AA3-9BBA2FF67C8C}"/>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2" name="Rectangle: Rounded Corners 51">
              <a:extLst>
                <a:ext uri="{FF2B5EF4-FFF2-40B4-BE49-F238E27FC236}">
                  <a16:creationId xmlns:a16="http://schemas.microsoft.com/office/drawing/2014/main" id="{F9307DF3-90F3-74B7-D84B-F89ADCB948D3}"/>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3" name="Rectangle: Rounded Corners 52">
              <a:extLst>
                <a:ext uri="{FF2B5EF4-FFF2-40B4-BE49-F238E27FC236}">
                  <a16:creationId xmlns:a16="http://schemas.microsoft.com/office/drawing/2014/main" id="{365C47CD-F21E-BAAB-2409-5FAD20C92E8E}"/>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TextBox 54">
              <a:extLst>
                <a:ext uri="{FF2B5EF4-FFF2-40B4-BE49-F238E27FC236}">
                  <a16:creationId xmlns:a16="http://schemas.microsoft.com/office/drawing/2014/main" id="{BE65B363-7597-E5F1-8C0E-3E654FEBFE23}"/>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6" name="TextBox 55">
              <a:extLst>
                <a:ext uri="{FF2B5EF4-FFF2-40B4-BE49-F238E27FC236}">
                  <a16:creationId xmlns:a16="http://schemas.microsoft.com/office/drawing/2014/main" id="{C9288E5C-B537-87AF-E7E4-99C88946731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57" name="TextBox 56">
              <a:extLst>
                <a:ext uri="{FF2B5EF4-FFF2-40B4-BE49-F238E27FC236}">
                  <a16:creationId xmlns:a16="http://schemas.microsoft.com/office/drawing/2014/main" id="{2D8BAC47-AF6E-EBF2-3E1E-1EB930ABB68C}"/>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58" name="TextBox 57">
              <a:extLst>
                <a:ext uri="{FF2B5EF4-FFF2-40B4-BE49-F238E27FC236}">
                  <a16:creationId xmlns:a16="http://schemas.microsoft.com/office/drawing/2014/main" id="{211EA88B-AA8A-9E73-0689-6B81432EEAB9}"/>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59" name="TextBox 58">
              <a:extLst>
                <a:ext uri="{FF2B5EF4-FFF2-40B4-BE49-F238E27FC236}">
                  <a16:creationId xmlns:a16="http://schemas.microsoft.com/office/drawing/2014/main" id="{4007329E-00E9-69C5-C800-EBADCB862EF7}"/>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0" name="TextBox 59">
              <a:extLst>
                <a:ext uri="{FF2B5EF4-FFF2-40B4-BE49-F238E27FC236}">
                  <a16:creationId xmlns:a16="http://schemas.microsoft.com/office/drawing/2014/main" id="{17758BBE-A46F-3965-BE0E-7AB0A257F972}"/>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1" name="Group 60">
            <a:extLst>
              <a:ext uri="{FF2B5EF4-FFF2-40B4-BE49-F238E27FC236}">
                <a16:creationId xmlns:a16="http://schemas.microsoft.com/office/drawing/2014/main" id="{5EA86577-4F81-2E6B-6946-14B462BF3C90}"/>
              </a:ext>
            </a:extLst>
          </p:cNvPr>
          <p:cNvGrpSpPr/>
          <p:nvPr/>
        </p:nvGrpSpPr>
        <p:grpSpPr>
          <a:xfrm>
            <a:off x="3106840" y="1387508"/>
            <a:ext cx="2989156" cy="5132425"/>
            <a:chOff x="3171008" y="1386740"/>
            <a:chExt cx="2989156" cy="5132425"/>
          </a:xfrm>
        </p:grpSpPr>
        <p:sp>
          <p:nvSpPr>
            <p:cNvPr id="62" name="TextBox 61">
              <a:extLst>
                <a:ext uri="{FF2B5EF4-FFF2-40B4-BE49-F238E27FC236}">
                  <a16:creationId xmlns:a16="http://schemas.microsoft.com/office/drawing/2014/main" id="{03447376-2D6C-C485-7117-C66614AEBB0C}"/>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3" name="TextBox 62">
              <a:extLst>
                <a:ext uri="{FF2B5EF4-FFF2-40B4-BE49-F238E27FC236}">
                  <a16:creationId xmlns:a16="http://schemas.microsoft.com/office/drawing/2014/main" id="{9FA219D1-E3B1-9786-2B9F-D747ED6305AD}"/>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4" name="TextBox 63">
              <a:extLst>
                <a:ext uri="{FF2B5EF4-FFF2-40B4-BE49-F238E27FC236}">
                  <a16:creationId xmlns:a16="http://schemas.microsoft.com/office/drawing/2014/main" id="{65DBD8BD-7567-9F9D-9BEB-A8BAE48468F5}"/>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5" name="TextBox 64">
              <a:extLst>
                <a:ext uri="{FF2B5EF4-FFF2-40B4-BE49-F238E27FC236}">
                  <a16:creationId xmlns:a16="http://schemas.microsoft.com/office/drawing/2014/main" id="{940AE834-10BB-93FD-5458-66B1744C140F}"/>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6" name="TextBox 65">
              <a:extLst>
                <a:ext uri="{FF2B5EF4-FFF2-40B4-BE49-F238E27FC236}">
                  <a16:creationId xmlns:a16="http://schemas.microsoft.com/office/drawing/2014/main" id="{083ECEB1-2372-AE2A-23C6-D5FF781C6765}"/>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024A3334-4FB5-5959-63F3-B2546BD48671}"/>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68" name="Group 67">
            <a:extLst>
              <a:ext uri="{FF2B5EF4-FFF2-40B4-BE49-F238E27FC236}">
                <a16:creationId xmlns:a16="http://schemas.microsoft.com/office/drawing/2014/main" id="{ACBC5F43-9CBA-041A-2AEA-2D5A8D4493BB}"/>
              </a:ext>
            </a:extLst>
          </p:cNvPr>
          <p:cNvGrpSpPr/>
          <p:nvPr/>
        </p:nvGrpSpPr>
        <p:grpSpPr>
          <a:xfrm>
            <a:off x="8284413" y="1005634"/>
            <a:ext cx="9978207" cy="9952132"/>
            <a:chOff x="8284413" y="1005634"/>
            <a:chExt cx="9978207" cy="9952132"/>
          </a:xfrm>
        </p:grpSpPr>
        <p:pic>
          <p:nvPicPr>
            <p:cNvPr id="69" name="Picture 68">
              <a:extLst>
                <a:ext uri="{FF2B5EF4-FFF2-40B4-BE49-F238E27FC236}">
                  <a16:creationId xmlns:a16="http://schemas.microsoft.com/office/drawing/2014/main" id="{89C15895-9E27-2CCE-3CC5-89F78C5FB04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70" name="Picture 69">
              <a:extLst>
                <a:ext uri="{FF2B5EF4-FFF2-40B4-BE49-F238E27FC236}">
                  <a16:creationId xmlns:a16="http://schemas.microsoft.com/office/drawing/2014/main" id="{8E213941-1200-FE1D-5352-F91A2316068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71" name="Oval 70">
              <a:extLst>
                <a:ext uri="{FF2B5EF4-FFF2-40B4-BE49-F238E27FC236}">
                  <a16:creationId xmlns:a16="http://schemas.microsoft.com/office/drawing/2014/main" id="{6EEB31DA-F66F-27B1-66C1-631FB4901D2E}"/>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Oval 71">
              <a:extLst>
                <a:ext uri="{FF2B5EF4-FFF2-40B4-BE49-F238E27FC236}">
                  <a16:creationId xmlns:a16="http://schemas.microsoft.com/office/drawing/2014/main" id="{E07A8B32-22A0-AC03-DA3D-3AC8BB8E3A0C}"/>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Oval 72">
              <a:extLst>
                <a:ext uri="{FF2B5EF4-FFF2-40B4-BE49-F238E27FC236}">
                  <a16:creationId xmlns:a16="http://schemas.microsoft.com/office/drawing/2014/main" id="{C0ECB31B-21EC-2429-517F-85848455BC1F}"/>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4" name="Picture 73">
              <a:extLst>
                <a:ext uri="{FF2B5EF4-FFF2-40B4-BE49-F238E27FC236}">
                  <a16:creationId xmlns:a16="http://schemas.microsoft.com/office/drawing/2014/main" id="{6E9ADBF9-A6DA-6ECE-CD72-2BDB54A3EA7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75" name="Oval 74">
              <a:extLst>
                <a:ext uri="{FF2B5EF4-FFF2-40B4-BE49-F238E27FC236}">
                  <a16:creationId xmlns:a16="http://schemas.microsoft.com/office/drawing/2014/main" id="{D20DAE29-6678-3E16-239F-DFC453EED0D5}"/>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54D74FDF-BCA5-4BF7-FC85-FA5888228AA8}"/>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Arrow Connector 76">
              <a:extLst>
                <a:ext uri="{FF2B5EF4-FFF2-40B4-BE49-F238E27FC236}">
                  <a16:creationId xmlns:a16="http://schemas.microsoft.com/office/drawing/2014/main" id="{B19AABFE-2366-C379-F485-950CEE7D07B2}"/>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FD82DB0-65B2-E73C-59E8-0312791CDB23}"/>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79" name="Rectangle: Rounded Corners 78">
              <a:extLst>
                <a:ext uri="{FF2B5EF4-FFF2-40B4-BE49-F238E27FC236}">
                  <a16:creationId xmlns:a16="http://schemas.microsoft.com/office/drawing/2014/main" id="{945CA71C-29A5-1CE3-F538-0F0B883E76C3}"/>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80" name="Rectangle: Rounded Corners 79">
              <a:extLst>
                <a:ext uri="{FF2B5EF4-FFF2-40B4-BE49-F238E27FC236}">
                  <a16:creationId xmlns:a16="http://schemas.microsoft.com/office/drawing/2014/main" id="{C6DC0FBD-FA8D-3B7B-2F35-D43F56565355}"/>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1" name="Rectangle: Rounded Corners 80">
              <a:extLst>
                <a:ext uri="{FF2B5EF4-FFF2-40B4-BE49-F238E27FC236}">
                  <a16:creationId xmlns:a16="http://schemas.microsoft.com/office/drawing/2014/main" id="{5BB43D42-9E6B-8FDD-6598-CC23A94DEDE6}"/>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5969275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BB7AC5-9E8E-A352-77C1-3F88E897C53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155E84A-C577-B582-D37E-75724B65E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98FCE683-F957-3B85-1015-0F568A58521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9115C717-20BC-F038-E0FA-F0AC18DDB45A}"/>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A0C4B2EE-8087-4B97-C809-F2F36739B31E}"/>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B81C3A65-169C-651E-78AC-CDB8DFABB910}"/>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E5425196-9AD3-1277-9AAE-84D31C7B422A}"/>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2A6AC4AF-4A09-B61A-9235-F9BDB07369CF}"/>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E27C92D1-2ED8-E7A3-D9E5-CDDEAFA8C30B}"/>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0A0F2B9F-C686-37BC-3B44-B977B90FF79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E9A58C76-D906-4B1C-DF95-4D14E2FAFC51}"/>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CEA380E5-D395-64FA-4E56-753712F4B888}"/>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F39D51B1-0DDA-73CE-CDF8-DA262BE0B6D7}"/>
              </a:ext>
            </a:extLst>
          </p:cNvPr>
          <p:cNvGrpSpPr/>
          <p:nvPr/>
        </p:nvGrpSpPr>
        <p:grpSpPr>
          <a:xfrm>
            <a:off x="2411509" y="1604426"/>
            <a:ext cx="707325" cy="4566893"/>
            <a:chOff x="2411509" y="1604426"/>
            <a:chExt cx="707325" cy="4566893"/>
          </a:xfrm>
        </p:grpSpPr>
        <p:cxnSp>
          <p:nvCxnSpPr>
            <p:cNvPr id="71" name="Straight Arrow Connector 70">
              <a:extLst>
                <a:ext uri="{FF2B5EF4-FFF2-40B4-BE49-F238E27FC236}">
                  <a16:creationId xmlns:a16="http://schemas.microsoft.com/office/drawing/2014/main" id="{32E57829-213E-4FFF-0E58-60FC781D7E3F}"/>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79DA795-E84E-8174-C877-8477C170F884}"/>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B5EB346E-313B-CDCA-F943-B0493E4556B9}"/>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AF22C20-8905-3FB2-04A9-67AD4F0C3B1D}"/>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F557218-436A-B744-7960-7D55FD5EB112}"/>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5A9F75BE-CB33-F876-329B-F9A2589D02EC}"/>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75D89C69-0F87-5F5B-CE68-D65886B9E8CC}"/>
              </a:ext>
            </a:extLst>
          </p:cNvPr>
          <p:cNvGrpSpPr/>
          <p:nvPr/>
        </p:nvGrpSpPr>
        <p:grpSpPr>
          <a:xfrm>
            <a:off x="346492" y="1230331"/>
            <a:ext cx="1970636" cy="5332610"/>
            <a:chOff x="273095" y="1230331"/>
            <a:chExt cx="1970636" cy="5332610"/>
          </a:xfrm>
        </p:grpSpPr>
        <p:sp>
          <p:nvSpPr>
            <p:cNvPr id="78" name="Rectangle: Rounded Corners 77">
              <a:extLst>
                <a:ext uri="{FF2B5EF4-FFF2-40B4-BE49-F238E27FC236}">
                  <a16:creationId xmlns:a16="http://schemas.microsoft.com/office/drawing/2014/main" id="{37909446-AB48-6C4B-A1ED-5E093770C94C}"/>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9" name="Rectangle: Rounded Corners 78">
              <a:extLst>
                <a:ext uri="{FF2B5EF4-FFF2-40B4-BE49-F238E27FC236}">
                  <a16:creationId xmlns:a16="http://schemas.microsoft.com/office/drawing/2014/main" id="{EA455E99-6B12-57D8-BA82-B2F0723352CC}"/>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0" name="Rectangle: Rounded Corners 79">
              <a:extLst>
                <a:ext uri="{FF2B5EF4-FFF2-40B4-BE49-F238E27FC236}">
                  <a16:creationId xmlns:a16="http://schemas.microsoft.com/office/drawing/2014/main" id="{355B2A3A-E2D0-57B7-ED26-705A3273D05D}"/>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1" name="Rectangle: Rounded Corners 80">
              <a:extLst>
                <a:ext uri="{FF2B5EF4-FFF2-40B4-BE49-F238E27FC236}">
                  <a16:creationId xmlns:a16="http://schemas.microsoft.com/office/drawing/2014/main" id="{FA4E4967-2692-C7E4-6B33-D0AD1AF644BB}"/>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2" name="Rectangle: Rounded Corners 81">
              <a:extLst>
                <a:ext uri="{FF2B5EF4-FFF2-40B4-BE49-F238E27FC236}">
                  <a16:creationId xmlns:a16="http://schemas.microsoft.com/office/drawing/2014/main" id="{66B322BC-6863-429A-3CD7-700239123F43}"/>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3" name="Rectangle: Rounded Corners 82">
              <a:extLst>
                <a:ext uri="{FF2B5EF4-FFF2-40B4-BE49-F238E27FC236}">
                  <a16:creationId xmlns:a16="http://schemas.microsoft.com/office/drawing/2014/main" id="{E06D5A3D-964B-1324-686D-56803254B40E}"/>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4" name="TextBox 83">
              <a:extLst>
                <a:ext uri="{FF2B5EF4-FFF2-40B4-BE49-F238E27FC236}">
                  <a16:creationId xmlns:a16="http://schemas.microsoft.com/office/drawing/2014/main" id="{DD3A33A1-8A4B-F2FF-7CE8-9517A00CF0A6}"/>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85" name="TextBox 84">
              <a:extLst>
                <a:ext uri="{FF2B5EF4-FFF2-40B4-BE49-F238E27FC236}">
                  <a16:creationId xmlns:a16="http://schemas.microsoft.com/office/drawing/2014/main" id="{2E9E6280-4739-0AF7-F7BF-32247B9EF055}"/>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86" name="TextBox 85">
              <a:extLst>
                <a:ext uri="{FF2B5EF4-FFF2-40B4-BE49-F238E27FC236}">
                  <a16:creationId xmlns:a16="http://schemas.microsoft.com/office/drawing/2014/main" id="{DE5E7779-4ABF-F3A2-63EA-4892415E9426}"/>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87" name="TextBox 86">
              <a:extLst>
                <a:ext uri="{FF2B5EF4-FFF2-40B4-BE49-F238E27FC236}">
                  <a16:creationId xmlns:a16="http://schemas.microsoft.com/office/drawing/2014/main" id="{62654A94-5003-3E72-04C4-2CAB9A8F2223}"/>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88" name="TextBox 87">
              <a:extLst>
                <a:ext uri="{FF2B5EF4-FFF2-40B4-BE49-F238E27FC236}">
                  <a16:creationId xmlns:a16="http://schemas.microsoft.com/office/drawing/2014/main" id="{6F71B0A3-E12A-D0AD-B7BA-6A1461EE3A2C}"/>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89" name="TextBox 88">
              <a:extLst>
                <a:ext uri="{FF2B5EF4-FFF2-40B4-BE49-F238E27FC236}">
                  <a16:creationId xmlns:a16="http://schemas.microsoft.com/office/drawing/2014/main" id="{69AEE8FA-6435-E607-030A-5D7DC2C3E8B9}"/>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90" name="Group 89">
            <a:extLst>
              <a:ext uri="{FF2B5EF4-FFF2-40B4-BE49-F238E27FC236}">
                <a16:creationId xmlns:a16="http://schemas.microsoft.com/office/drawing/2014/main" id="{81A8E599-2640-7D15-D31E-9D7DCDC929A5}"/>
              </a:ext>
            </a:extLst>
          </p:cNvPr>
          <p:cNvGrpSpPr/>
          <p:nvPr/>
        </p:nvGrpSpPr>
        <p:grpSpPr>
          <a:xfrm>
            <a:off x="3106840" y="1387508"/>
            <a:ext cx="2989156" cy="5132425"/>
            <a:chOff x="3171008" y="1386740"/>
            <a:chExt cx="2989156" cy="5132425"/>
          </a:xfrm>
        </p:grpSpPr>
        <p:sp>
          <p:nvSpPr>
            <p:cNvPr id="91" name="TextBox 90">
              <a:extLst>
                <a:ext uri="{FF2B5EF4-FFF2-40B4-BE49-F238E27FC236}">
                  <a16:creationId xmlns:a16="http://schemas.microsoft.com/office/drawing/2014/main" id="{2CA0C345-E4E8-E34A-ADD8-3888B9F248B7}"/>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92" name="TextBox 91">
              <a:extLst>
                <a:ext uri="{FF2B5EF4-FFF2-40B4-BE49-F238E27FC236}">
                  <a16:creationId xmlns:a16="http://schemas.microsoft.com/office/drawing/2014/main" id="{322344B3-9F0A-DA90-5451-14D818E43D73}"/>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93" name="TextBox 92">
              <a:extLst>
                <a:ext uri="{FF2B5EF4-FFF2-40B4-BE49-F238E27FC236}">
                  <a16:creationId xmlns:a16="http://schemas.microsoft.com/office/drawing/2014/main" id="{27E39FB5-6E5C-66AF-0C2F-FFE91D3149F6}"/>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94" name="TextBox 93">
              <a:extLst>
                <a:ext uri="{FF2B5EF4-FFF2-40B4-BE49-F238E27FC236}">
                  <a16:creationId xmlns:a16="http://schemas.microsoft.com/office/drawing/2014/main" id="{D8E824DF-4F32-456B-737B-0C8734C3208D}"/>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95" name="TextBox 94">
              <a:extLst>
                <a:ext uri="{FF2B5EF4-FFF2-40B4-BE49-F238E27FC236}">
                  <a16:creationId xmlns:a16="http://schemas.microsoft.com/office/drawing/2014/main" id="{8F6E5CFB-53E0-6348-4983-E3D6F4101267}"/>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96" name="TextBox 95">
              <a:extLst>
                <a:ext uri="{FF2B5EF4-FFF2-40B4-BE49-F238E27FC236}">
                  <a16:creationId xmlns:a16="http://schemas.microsoft.com/office/drawing/2014/main" id="{BF790024-95B8-D67C-28D3-233F5D00B737}"/>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101" name="Group 100">
            <a:extLst>
              <a:ext uri="{FF2B5EF4-FFF2-40B4-BE49-F238E27FC236}">
                <a16:creationId xmlns:a16="http://schemas.microsoft.com/office/drawing/2014/main" id="{83C11454-758A-23A7-705C-51908B14D4C9}"/>
              </a:ext>
            </a:extLst>
          </p:cNvPr>
          <p:cNvGrpSpPr/>
          <p:nvPr/>
        </p:nvGrpSpPr>
        <p:grpSpPr>
          <a:xfrm>
            <a:off x="8284413" y="1005634"/>
            <a:ext cx="9978207" cy="9952132"/>
            <a:chOff x="8284413" y="1005634"/>
            <a:chExt cx="9978207" cy="9952132"/>
          </a:xfrm>
        </p:grpSpPr>
        <p:pic>
          <p:nvPicPr>
            <p:cNvPr id="102" name="Picture 101">
              <a:extLst>
                <a:ext uri="{FF2B5EF4-FFF2-40B4-BE49-F238E27FC236}">
                  <a16:creationId xmlns:a16="http://schemas.microsoft.com/office/drawing/2014/main" id="{9B21BDC7-0D27-9667-C24C-CD556C014E9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103" name="Picture 102">
              <a:extLst>
                <a:ext uri="{FF2B5EF4-FFF2-40B4-BE49-F238E27FC236}">
                  <a16:creationId xmlns:a16="http://schemas.microsoft.com/office/drawing/2014/main" id="{EB6E1C1F-91AA-BA88-E034-E7D2B86E391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104" name="Oval 103">
              <a:extLst>
                <a:ext uri="{FF2B5EF4-FFF2-40B4-BE49-F238E27FC236}">
                  <a16:creationId xmlns:a16="http://schemas.microsoft.com/office/drawing/2014/main" id="{AE1689F8-62D0-A3D6-EBD3-4EDBEE2A0EA1}"/>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Oval 104">
              <a:extLst>
                <a:ext uri="{FF2B5EF4-FFF2-40B4-BE49-F238E27FC236}">
                  <a16:creationId xmlns:a16="http://schemas.microsoft.com/office/drawing/2014/main" id="{34A3270E-8A7D-7564-D566-5D479F65F51C}"/>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Oval 105">
              <a:extLst>
                <a:ext uri="{FF2B5EF4-FFF2-40B4-BE49-F238E27FC236}">
                  <a16:creationId xmlns:a16="http://schemas.microsoft.com/office/drawing/2014/main" id="{68EB2AD7-9774-3D2B-F412-8DCCC8B48AA8}"/>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7" name="Picture 106">
              <a:extLst>
                <a:ext uri="{FF2B5EF4-FFF2-40B4-BE49-F238E27FC236}">
                  <a16:creationId xmlns:a16="http://schemas.microsoft.com/office/drawing/2014/main" id="{D2A77F33-0CDF-AAAE-1D81-6ED38F4BD19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108" name="Oval 107">
              <a:extLst>
                <a:ext uri="{FF2B5EF4-FFF2-40B4-BE49-F238E27FC236}">
                  <a16:creationId xmlns:a16="http://schemas.microsoft.com/office/drawing/2014/main" id="{5D145FD3-1964-95FF-ABC3-5990DE9EA6D6}"/>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9B4D3EC2-BB59-659B-A11C-B4ECAA394A24}"/>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0" name="Straight Arrow Connector 109">
              <a:extLst>
                <a:ext uri="{FF2B5EF4-FFF2-40B4-BE49-F238E27FC236}">
                  <a16:creationId xmlns:a16="http://schemas.microsoft.com/office/drawing/2014/main" id="{922BC69B-D723-C1CE-FB12-3F20996949B7}"/>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582BFED1-734A-D541-4A29-7D7FA7828F86}"/>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112" name="Rectangle: Rounded Corners 111">
              <a:extLst>
                <a:ext uri="{FF2B5EF4-FFF2-40B4-BE49-F238E27FC236}">
                  <a16:creationId xmlns:a16="http://schemas.microsoft.com/office/drawing/2014/main" id="{3B2ABD52-D70A-980E-4605-474D0B5F6AAC}"/>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14" name="Rectangle: Rounded Corners 113">
              <a:extLst>
                <a:ext uri="{FF2B5EF4-FFF2-40B4-BE49-F238E27FC236}">
                  <a16:creationId xmlns:a16="http://schemas.microsoft.com/office/drawing/2014/main" id="{F1CE0800-3EC3-DB65-84DC-1EBFF289DE69}"/>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116" name="Rectangle: Rounded Corners 115">
              <a:extLst>
                <a:ext uri="{FF2B5EF4-FFF2-40B4-BE49-F238E27FC236}">
                  <a16:creationId xmlns:a16="http://schemas.microsoft.com/office/drawing/2014/main" id="{EFCF6B85-280B-5923-5CE1-251733392AF2}"/>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98524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9872CA-48CB-75C4-C640-9257501B60E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2EB29C2-0AA2-02A6-E8BB-7DCDC8E9E2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6020A60D-B87F-CF45-F45D-7BE6AECBFC3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4541C437-BCA1-69B1-D763-B1B3A08BA560}"/>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70668B0A-9BB3-7F61-F2D1-1F5AF1DBEC81}"/>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570757D7-2987-5849-5A37-6CF8CFF41D2F}"/>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8843E4A-F4D4-3672-AB3E-73D949009CFD}"/>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8241A35D-E50C-347C-33C6-7980E3FFB274}"/>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DC4F3075-76D9-A066-9B5E-4887086856EA}"/>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0BA78BC9-A491-3020-C25C-84E0353ADBB4}"/>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B593DF1A-76A9-7E94-33C7-EAC129D10409}"/>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E6EFFAFA-9A22-335E-B790-F51EDF5BC0CA}"/>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5" name="Picture 114" hidden="1">
            <a:extLst>
              <a:ext uri="{FF2B5EF4-FFF2-40B4-BE49-F238E27FC236}">
                <a16:creationId xmlns:a16="http://schemas.microsoft.com/office/drawing/2014/main" id="{D815B1A4-C551-0D7D-BEE5-FE447C3657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23" name="Rectangle: Rounded Corners 122" hidden="1">
            <a:extLst>
              <a:ext uri="{FF2B5EF4-FFF2-40B4-BE49-F238E27FC236}">
                <a16:creationId xmlns:a16="http://schemas.microsoft.com/office/drawing/2014/main" id="{774638EB-DCE3-70FE-B9D2-5B3536728E48}"/>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7" name="Oval 126" hidden="1">
            <a:extLst>
              <a:ext uri="{FF2B5EF4-FFF2-40B4-BE49-F238E27FC236}">
                <a16:creationId xmlns:a16="http://schemas.microsoft.com/office/drawing/2014/main" id="{47C344EA-0994-BF9E-E9CA-74E46018E4CD}"/>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23A8A0EF-4DF7-0E87-DEEC-3F1638F8A498}"/>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84FABB7F-A513-5560-808B-D446A6D09E41}"/>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2E832B25-7C06-C6EA-F37C-BCA8D45806B0}"/>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11E62703-8B2C-E103-2DB7-85A70F4CB0BA}"/>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BA0E6898-4BB8-1C50-312B-23437315FC15}"/>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7A40D8CD-8C36-C174-BB8F-5A2DC142A221}"/>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4B0E2DA-D612-8CB2-6913-891442CEEAA4}"/>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484627-B4E7-D2EE-39E8-F69599E2EE5E}"/>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214CD05-25D2-96B1-380E-6C29EB12EF1F}"/>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7151124-FF0F-A118-559D-A070659110C7}"/>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14D2DF7-3E22-0D4B-E24E-458A89247E04}"/>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7CB93E9B-213D-6F72-678F-E975B15BE1BF}"/>
              </a:ext>
            </a:extLst>
          </p:cNvPr>
          <p:cNvGrpSpPr/>
          <p:nvPr/>
        </p:nvGrpSpPr>
        <p:grpSpPr>
          <a:xfrm>
            <a:off x="346492" y="1230331"/>
            <a:ext cx="1970636" cy="5332610"/>
            <a:chOff x="273095" y="1230331"/>
            <a:chExt cx="1970636" cy="5332610"/>
          </a:xfrm>
        </p:grpSpPr>
        <p:sp>
          <p:nvSpPr>
            <p:cNvPr id="46" name="Rectangle: Rounded Corners 45">
              <a:extLst>
                <a:ext uri="{FF2B5EF4-FFF2-40B4-BE49-F238E27FC236}">
                  <a16:creationId xmlns:a16="http://schemas.microsoft.com/office/drawing/2014/main" id="{E143CC2F-D5B0-E443-55BD-BBE95B23AC35}"/>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2FF05681-4995-14C4-8DFB-7DF46C3EC34B}"/>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9AD971BA-5509-E18A-35F9-EE57726C1779}"/>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7463EB81-607D-6F50-3DE0-07B8A3BB04A4}"/>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Rectangle: Rounded Corners 54">
              <a:extLst>
                <a:ext uri="{FF2B5EF4-FFF2-40B4-BE49-F238E27FC236}">
                  <a16:creationId xmlns:a16="http://schemas.microsoft.com/office/drawing/2014/main" id="{BDCE3659-93B4-2029-D49E-4CC90B57CE50}"/>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6" name="Rectangle: Rounded Corners 55">
              <a:extLst>
                <a:ext uri="{FF2B5EF4-FFF2-40B4-BE49-F238E27FC236}">
                  <a16:creationId xmlns:a16="http://schemas.microsoft.com/office/drawing/2014/main" id="{35C28034-81CF-6400-6EA3-A4A84C165401}"/>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7" name="TextBox 56">
              <a:extLst>
                <a:ext uri="{FF2B5EF4-FFF2-40B4-BE49-F238E27FC236}">
                  <a16:creationId xmlns:a16="http://schemas.microsoft.com/office/drawing/2014/main" id="{1682E597-9E6F-6681-AAD7-4A6C5924BEEF}"/>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8" name="TextBox 57">
              <a:extLst>
                <a:ext uri="{FF2B5EF4-FFF2-40B4-BE49-F238E27FC236}">
                  <a16:creationId xmlns:a16="http://schemas.microsoft.com/office/drawing/2014/main" id="{2036EAD1-257E-79FF-2FF7-D5005A3F798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59" name="TextBox 58">
              <a:extLst>
                <a:ext uri="{FF2B5EF4-FFF2-40B4-BE49-F238E27FC236}">
                  <a16:creationId xmlns:a16="http://schemas.microsoft.com/office/drawing/2014/main" id="{7AC3387D-FFB5-6D48-311A-BD08ED1AE1A8}"/>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0" name="TextBox 59">
              <a:extLst>
                <a:ext uri="{FF2B5EF4-FFF2-40B4-BE49-F238E27FC236}">
                  <a16:creationId xmlns:a16="http://schemas.microsoft.com/office/drawing/2014/main" id="{EE3FCD59-1FF7-35D8-9E54-50334BF2BCBF}"/>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1" name="TextBox 60">
              <a:extLst>
                <a:ext uri="{FF2B5EF4-FFF2-40B4-BE49-F238E27FC236}">
                  <a16:creationId xmlns:a16="http://schemas.microsoft.com/office/drawing/2014/main" id="{A73072EF-13A6-5225-95DF-A30A422AE4AB}"/>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2" name="TextBox 61">
              <a:extLst>
                <a:ext uri="{FF2B5EF4-FFF2-40B4-BE49-F238E27FC236}">
                  <a16:creationId xmlns:a16="http://schemas.microsoft.com/office/drawing/2014/main" id="{3736DB7B-2F67-C597-6123-B2EDA5FF3800}"/>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3" name="Group 62">
            <a:extLst>
              <a:ext uri="{FF2B5EF4-FFF2-40B4-BE49-F238E27FC236}">
                <a16:creationId xmlns:a16="http://schemas.microsoft.com/office/drawing/2014/main" id="{663644A0-C5A7-591F-4E54-02AB2BA42392}"/>
              </a:ext>
            </a:extLst>
          </p:cNvPr>
          <p:cNvGrpSpPr/>
          <p:nvPr/>
        </p:nvGrpSpPr>
        <p:grpSpPr>
          <a:xfrm>
            <a:off x="3106840" y="1387508"/>
            <a:ext cx="2989156" cy="5132425"/>
            <a:chOff x="3171008" y="1386740"/>
            <a:chExt cx="2989156" cy="5132425"/>
          </a:xfrm>
        </p:grpSpPr>
        <p:sp>
          <p:nvSpPr>
            <p:cNvPr id="64" name="TextBox 63">
              <a:extLst>
                <a:ext uri="{FF2B5EF4-FFF2-40B4-BE49-F238E27FC236}">
                  <a16:creationId xmlns:a16="http://schemas.microsoft.com/office/drawing/2014/main" id="{7D7DC47E-5624-CA43-BC7C-3B3458EB92F9}"/>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5" name="TextBox 64">
              <a:extLst>
                <a:ext uri="{FF2B5EF4-FFF2-40B4-BE49-F238E27FC236}">
                  <a16:creationId xmlns:a16="http://schemas.microsoft.com/office/drawing/2014/main" id="{0BA07111-34AC-0DA2-70A9-66B9AD577D51}"/>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6" name="TextBox 65">
              <a:extLst>
                <a:ext uri="{FF2B5EF4-FFF2-40B4-BE49-F238E27FC236}">
                  <a16:creationId xmlns:a16="http://schemas.microsoft.com/office/drawing/2014/main" id="{837F80C0-CE4F-DD6C-989C-1A6E386E65E4}"/>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EB3282F0-7AEB-2C75-80A4-D8811531F725}"/>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724D12E7-44D1-E072-17D8-C41DB48E5851}"/>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0F98C234-A01A-7AEC-FAB9-8DF8A4FA62CA}"/>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70" name="Group 69">
            <a:extLst>
              <a:ext uri="{FF2B5EF4-FFF2-40B4-BE49-F238E27FC236}">
                <a16:creationId xmlns:a16="http://schemas.microsoft.com/office/drawing/2014/main" id="{45406FE3-ABD1-70AB-0B07-47B9D6809C92}"/>
              </a:ext>
            </a:extLst>
          </p:cNvPr>
          <p:cNvGrpSpPr/>
          <p:nvPr/>
        </p:nvGrpSpPr>
        <p:grpSpPr>
          <a:xfrm>
            <a:off x="8284413" y="1005634"/>
            <a:ext cx="9978207" cy="9952132"/>
            <a:chOff x="8284413" y="1005634"/>
            <a:chExt cx="9978207" cy="9952132"/>
          </a:xfrm>
        </p:grpSpPr>
        <p:pic>
          <p:nvPicPr>
            <p:cNvPr id="71" name="Picture 70">
              <a:extLst>
                <a:ext uri="{FF2B5EF4-FFF2-40B4-BE49-F238E27FC236}">
                  <a16:creationId xmlns:a16="http://schemas.microsoft.com/office/drawing/2014/main" id="{BDF9832C-DC3F-2CB7-37F6-625ACE10E88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72" name="Picture 71">
              <a:extLst>
                <a:ext uri="{FF2B5EF4-FFF2-40B4-BE49-F238E27FC236}">
                  <a16:creationId xmlns:a16="http://schemas.microsoft.com/office/drawing/2014/main" id="{8FDB7690-C58F-A0DE-7B50-64FACCF8FA9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73" name="Oval 72">
              <a:extLst>
                <a:ext uri="{FF2B5EF4-FFF2-40B4-BE49-F238E27FC236}">
                  <a16:creationId xmlns:a16="http://schemas.microsoft.com/office/drawing/2014/main" id="{C0437D9C-016C-1256-7BB9-AA7F81CD76D0}"/>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Oval 73">
              <a:extLst>
                <a:ext uri="{FF2B5EF4-FFF2-40B4-BE49-F238E27FC236}">
                  <a16:creationId xmlns:a16="http://schemas.microsoft.com/office/drawing/2014/main" id="{1F7DD864-0D29-1696-586C-8B264607482F}"/>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33B0DCF4-F697-6BDD-D184-9ACE564A1C14}"/>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6" name="Picture 75">
              <a:extLst>
                <a:ext uri="{FF2B5EF4-FFF2-40B4-BE49-F238E27FC236}">
                  <a16:creationId xmlns:a16="http://schemas.microsoft.com/office/drawing/2014/main" id="{67238B4B-8B4B-150F-318A-74BB6DAC2BC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77" name="Oval 76">
              <a:extLst>
                <a:ext uri="{FF2B5EF4-FFF2-40B4-BE49-F238E27FC236}">
                  <a16:creationId xmlns:a16="http://schemas.microsoft.com/office/drawing/2014/main" id="{26799456-AF42-EBF0-375A-2A44CBF650CE}"/>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Oval 77">
              <a:extLst>
                <a:ext uri="{FF2B5EF4-FFF2-40B4-BE49-F238E27FC236}">
                  <a16:creationId xmlns:a16="http://schemas.microsoft.com/office/drawing/2014/main" id="{0E08E03D-D4F0-A92E-9D19-1E00DA677696}"/>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9" name="Straight Arrow Connector 78">
              <a:extLst>
                <a:ext uri="{FF2B5EF4-FFF2-40B4-BE49-F238E27FC236}">
                  <a16:creationId xmlns:a16="http://schemas.microsoft.com/office/drawing/2014/main" id="{6CB04D8F-87EC-950F-0638-BA9D9224CD55}"/>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306DCC7-3207-9263-4450-E1CCCA852DBD}"/>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81" name="Rectangle: Rounded Corners 80">
              <a:extLst>
                <a:ext uri="{FF2B5EF4-FFF2-40B4-BE49-F238E27FC236}">
                  <a16:creationId xmlns:a16="http://schemas.microsoft.com/office/drawing/2014/main" id="{ED605DEB-B77A-0095-FFA0-6431BD80FCF8}"/>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82" name="Rectangle: Rounded Corners 81">
              <a:extLst>
                <a:ext uri="{FF2B5EF4-FFF2-40B4-BE49-F238E27FC236}">
                  <a16:creationId xmlns:a16="http://schemas.microsoft.com/office/drawing/2014/main" id="{19A545D3-DCDE-2A0B-AF09-16BE8C9EA144}"/>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3" name="Rectangle: Rounded Corners 82">
              <a:extLst>
                <a:ext uri="{FF2B5EF4-FFF2-40B4-BE49-F238E27FC236}">
                  <a16:creationId xmlns:a16="http://schemas.microsoft.com/office/drawing/2014/main" id="{47F6BA90-FFCD-370E-23A4-4785B546EE1B}"/>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1470692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8822DB-9CB0-9E86-9EA3-F3C54C021BC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84A7A4A-E80D-A4BE-4C6B-B00218E26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F9FFCFE9-4B0E-67BF-36B0-27626FF4ACF9}"/>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FF551942-4B63-81BA-4605-1261D2558D0A}"/>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1BEF88DF-F78E-F7A9-9A59-06210A29D19F}"/>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F39EE041-B362-6572-271A-CC76224ABB72}"/>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360E9CE8-7F37-EC02-E255-0FABCFDC3E7D}"/>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9EF05507-20C9-4962-B802-0A6767873230}"/>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C16BFBCE-1288-E6CF-C2A8-82DED6F502BF}"/>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CC43E3DA-16BE-A265-888C-4562F28D6A07}"/>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A42C5A7A-D4B1-BB7F-FB05-778964F2D9BF}"/>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EA370033-38E7-8F30-93F3-26A48AAEFEBA}"/>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5" name="Picture 114" hidden="1">
            <a:extLst>
              <a:ext uri="{FF2B5EF4-FFF2-40B4-BE49-F238E27FC236}">
                <a16:creationId xmlns:a16="http://schemas.microsoft.com/office/drawing/2014/main" id="{4A45C06E-4FCD-5EA5-D412-9BFBBC0834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23" name="Rectangle: Rounded Corners 122" hidden="1">
            <a:extLst>
              <a:ext uri="{FF2B5EF4-FFF2-40B4-BE49-F238E27FC236}">
                <a16:creationId xmlns:a16="http://schemas.microsoft.com/office/drawing/2014/main" id="{F08DF174-79CE-D560-6FAA-A18D5FB3C817}"/>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7" name="Oval 126" hidden="1">
            <a:extLst>
              <a:ext uri="{FF2B5EF4-FFF2-40B4-BE49-F238E27FC236}">
                <a16:creationId xmlns:a16="http://schemas.microsoft.com/office/drawing/2014/main" id="{D595683B-5DEA-52F5-3DC0-3AB240EFB6A7}"/>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B4FFA76C-878D-AD91-06FC-2A3C0140C35F}"/>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98234CDE-8D50-767D-F132-D0A0AB302CD7}"/>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34BDD8C8-91D9-BDC5-6837-7322A9C80FC0}"/>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0F60FE60-2476-6457-DCE5-671AB3E96368}"/>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7530EC24-53DA-189E-480A-9930623D4F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18" name="Rectangle: Rounded Corners 17">
            <a:extLst>
              <a:ext uri="{FF2B5EF4-FFF2-40B4-BE49-F238E27FC236}">
                <a16:creationId xmlns:a16="http://schemas.microsoft.com/office/drawing/2014/main" id="{3F34FA58-85DB-08B8-9C20-DD0DBAA2F746}"/>
              </a:ext>
            </a:extLst>
          </p:cNvPr>
          <p:cNvSpPr/>
          <p:nvPr/>
        </p:nvSpPr>
        <p:spPr>
          <a:xfrm>
            <a:off x="6268954" y="8904060"/>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5C4BB40D-338F-7526-EAF2-6B7B4EC82030}"/>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CD107267-097B-B1DB-74B0-B451E401FCF3}"/>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97E7E18-07A6-56E1-2277-DDE2C6A69191}"/>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CB81B52-4B97-D111-A680-789894B801B6}"/>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5ED8112-6954-29EC-4360-47B4A6632B8E}"/>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D9BF52C-53B1-7515-8E95-1066AD9451F0}"/>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019AFE5-872F-79A4-35D3-DD03E641DB07}"/>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BAF49461-4580-6902-CEF5-652826B7AABA}"/>
              </a:ext>
            </a:extLst>
          </p:cNvPr>
          <p:cNvGrpSpPr/>
          <p:nvPr/>
        </p:nvGrpSpPr>
        <p:grpSpPr>
          <a:xfrm>
            <a:off x="346492" y="1230331"/>
            <a:ext cx="1970636" cy="5332610"/>
            <a:chOff x="273095" y="1230331"/>
            <a:chExt cx="1970636" cy="5332610"/>
          </a:xfrm>
        </p:grpSpPr>
        <p:sp>
          <p:nvSpPr>
            <p:cNvPr id="47" name="Rectangle: Rounded Corners 46">
              <a:extLst>
                <a:ext uri="{FF2B5EF4-FFF2-40B4-BE49-F238E27FC236}">
                  <a16:creationId xmlns:a16="http://schemas.microsoft.com/office/drawing/2014/main" id="{744E70D1-3084-2D4E-B963-1E37EA5C2D5D}"/>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4D2AD2CF-8A43-8704-17BF-565897CD7B48}"/>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4683474D-3EE5-2C8C-AA4C-CD5852177436}"/>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Rectangle: Rounded Corners 54">
              <a:extLst>
                <a:ext uri="{FF2B5EF4-FFF2-40B4-BE49-F238E27FC236}">
                  <a16:creationId xmlns:a16="http://schemas.microsoft.com/office/drawing/2014/main" id="{05B118AB-599C-E482-CCCE-B9C59614A217}"/>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6" name="Rectangle: Rounded Corners 55">
              <a:extLst>
                <a:ext uri="{FF2B5EF4-FFF2-40B4-BE49-F238E27FC236}">
                  <a16:creationId xmlns:a16="http://schemas.microsoft.com/office/drawing/2014/main" id="{14F57500-E616-8F1F-7048-A184C088638A}"/>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7" name="Rectangle: Rounded Corners 56">
              <a:extLst>
                <a:ext uri="{FF2B5EF4-FFF2-40B4-BE49-F238E27FC236}">
                  <a16:creationId xmlns:a16="http://schemas.microsoft.com/office/drawing/2014/main" id="{AE368579-1E21-0E76-9963-4C8E28086B0D}"/>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8" name="TextBox 57">
              <a:extLst>
                <a:ext uri="{FF2B5EF4-FFF2-40B4-BE49-F238E27FC236}">
                  <a16:creationId xmlns:a16="http://schemas.microsoft.com/office/drawing/2014/main" id="{7C2F16EC-2DD1-8961-48A2-8B7C864E2DC4}"/>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9" name="TextBox 58">
              <a:extLst>
                <a:ext uri="{FF2B5EF4-FFF2-40B4-BE49-F238E27FC236}">
                  <a16:creationId xmlns:a16="http://schemas.microsoft.com/office/drawing/2014/main" id="{13E25C53-B420-E135-ABD9-211B9522BB4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0" name="TextBox 59">
              <a:extLst>
                <a:ext uri="{FF2B5EF4-FFF2-40B4-BE49-F238E27FC236}">
                  <a16:creationId xmlns:a16="http://schemas.microsoft.com/office/drawing/2014/main" id="{C4FACEE5-06C1-B431-5FDE-FC31E99B33B6}"/>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1" name="TextBox 60">
              <a:extLst>
                <a:ext uri="{FF2B5EF4-FFF2-40B4-BE49-F238E27FC236}">
                  <a16:creationId xmlns:a16="http://schemas.microsoft.com/office/drawing/2014/main" id="{AE5A9E0D-8B42-DA77-2D88-63D452E099CE}"/>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2" name="TextBox 61">
              <a:extLst>
                <a:ext uri="{FF2B5EF4-FFF2-40B4-BE49-F238E27FC236}">
                  <a16:creationId xmlns:a16="http://schemas.microsoft.com/office/drawing/2014/main" id="{E839F1CA-2D39-F865-B6D5-C798C1F7AA6C}"/>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3" name="TextBox 62">
              <a:extLst>
                <a:ext uri="{FF2B5EF4-FFF2-40B4-BE49-F238E27FC236}">
                  <a16:creationId xmlns:a16="http://schemas.microsoft.com/office/drawing/2014/main" id="{FBBFC234-2675-4A17-B8CF-E98FAC96EB29}"/>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4" name="Group 63">
            <a:extLst>
              <a:ext uri="{FF2B5EF4-FFF2-40B4-BE49-F238E27FC236}">
                <a16:creationId xmlns:a16="http://schemas.microsoft.com/office/drawing/2014/main" id="{74F2936B-D3CE-16CF-3865-6E5A418E7C69}"/>
              </a:ext>
            </a:extLst>
          </p:cNvPr>
          <p:cNvGrpSpPr/>
          <p:nvPr/>
        </p:nvGrpSpPr>
        <p:grpSpPr>
          <a:xfrm>
            <a:off x="3106840" y="1387508"/>
            <a:ext cx="2989156" cy="5132425"/>
            <a:chOff x="3171008" y="1386740"/>
            <a:chExt cx="2989156" cy="5132425"/>
          </a:xfrm>
        </p:grpSpPr>
        <p:sp>
          <p:nvSpPr>
            <p:cNvPr id="65" name="TextBox 64">
              <a:extLst>
                <a:ext uri="{FF2B5EF4-FFF2-40B4-BE49-F238E27FC236}">
                  <a16:creationId xmlns:a16="http://schemas.microsoft.com/office/drawing/2014/main" id="{FF9177DB-036A-5C0F-A090-1CBB6B7A33BA}"/>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6" name="TextBox 65">
              <a:extLst>
                <a:ext uri="{FF2B5EF4-FFF2-40B4-BE49-F238E27FC236}">
                  <a16:creationId xmlns:a16="http://schemas.microsoft.com/office/drawing/2014/main" id="{8ED940E9-EA9E-8271-328C-03CB0DC60310}"/>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D3944415-2C93-98B1-91AC-267DE7D3DA1E}"/>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6B90C4BC-6212-BEC6-5620-9708009190DB}"/>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05E51C8A-61AA-1D7B-F427-33CE88002289}"/>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0" name="TextBox 69">
              <a:extLst>
                <a:ext uri="{FF2B5EF4-FFF2-40B4-BE49-F238E27FC236}">
                  <a16:creationId xmlns:a16="http://schemas.microsoft.com/office/drawing/2014/main" id="{ED83B737-CFE4-239E-7F4B-945DAC462688}"/>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71" name="Group 70">
            <a:extLst>
              <a:ext uri="{FF2B5EF4-FFF2-40B4-BE49-F238E27FC236}">
                <a16:creationId xmlns:a16="http://schemas.microsoft.com/office/drawing/2014/main" id="{487420E1-8BBB-7C07-F45E-08D2BFE3B616}"/>
              </a:ext>
            </a:extLst>
          </p:cNvPr>
          <p:cNvGrpSpPr/>
          <p:nvPr/>
        </p:nvGrpSpPr>
        <p:grpSpPr>
          <a:xfrm>
            <a:off x="8284413" y="1005634"/>
            <a:ext cx="9978207" cy="9952132"/>
            <a:chOff x="8284413" y="1005634"/>
            <a:chExt cx="9978207" cy="9952132"/>
          </a:xfrm>
        </p:grpSpPr>
        <p:pic>
          <p:nvPicPr>
            <p:cNvPr id="72" name="Picture 71">
              <a:extLst>
                <a:ext uri="{FF2B5EF4-FFF2-40B4-BE49-F238E27FC236}">
                  <a16:creationId xmlns:a16="http://schemas.microsoft.com/office/drawing/2014/main" id="{602E0222-462B-D16A-ACA5-DD8CDE69FD7C}"/>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73" name="Picture 72">
              <a:extLst>
                <a:ext uri="{FF2B5EF4-FFF2-40B4-BE49-F238E27FC236}">
                  <a16:creationId xmlns:a16="http://schemas.microsoft.com/office/drawing/2014/main" id="{DAF58924-586A-5963-A588-7CA4CAFE50BF}"/>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74" name="Oval 73">
              <a:extLst>
                <a:ext uri="{FF2B5EF4-FFF2-40B4-BE49-F238E27FC236}">
                  <a16:creationId xmlns:a16="http://schemas.microsoft.com/office/drawing/2014/main" id="{085566EF-4FC8-374F-83B2-A152FD0C71DB}"/>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8DE26498-5588-662A-C20F-FE5160335339}"/>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1B1D2A0B-716C-01A5-1897-2BA3622E0817}"/>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7" name="Picture 76">
              <a:extLst>
                <a:ext uri="{FF2B5EF4-FFF2-40B4-BE49-F238E27FC236}">
                  <a16:creationId xmlns:a16="http://schemas.microsoft.com/office/drawing/2014/main" id="{169510E0-8F88-C5A6-2F30-69C632D9D8FC}"/>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78" name="Oval 77">
              <a:extLst>
                <a:ext uri="{FF2B5EF4-FFF2-40B4-BE49-F238E27FC236}">
                  <a16:creationId xmlns:a16="http://schemas.microsoft.com/office/drawing/2014/main" id="{A4A643A6-70D3-4D0F-8F41-FC6A518083B3}"/>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4F0CE494-EBE0-285B-554F-752647DDA7C5}"/>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0" name="Straight Arrow Connector 79">
              <a:extLst>
                <a:ext uri="{FF2B5EF4-FFF2-40B4-BE49-F238E27FC236}">
                  <a16:creationId xmlns:a16="http://schemas.microsoft.com/office/drawing/2014/main" id="{81DE8711-D860-B4D8-78CC-172724684819}"/>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0CDD2895-4816-075A-6ED2-E99C67F8879E}"/>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75EB3BAE-0255-5359-09AD-91AEB10CFBDC}"/>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83" name="Rectangle: Rounded Corners 82">
              <a:extLst>
                <a:ext uri="{FF2B5EF4-FFF2-40B4-BE49-F238E27FC236}">
                  <a16:creationId xmlns:a16="http://schemas.microsoft.com/office/drawing/2014/main" id="{5D4AC85B-E840-6853-8BCB-190AE54FF864}"/>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4" name="Rectangle: Rounded Corners 83">
              <a:extLst>
                <a:ext uri="{FF2B5EF4-FFF2-40B4-BE49-F238E27FC236}">
                  <a16:creationId xmlns:a16="http://schemas.microsoft.com/office/drawing/2014/main" id="{31ABECCF-57A2-2C58-971A-09361BBDE717}"/>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42018324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4BE673-FAFA-B8CF-FDD1-3789891674E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AB05C16-A55F-E6DE-62EF-F1632721E6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EA2797A6-FC29-DDDE-5EB9-141797614134}"/>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E9DB5B2-7613-8BE7-A138-03B71CCF8C9C}"/>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1F8397F8-65EE-D4CF-2FCB-B7A94986F990}"/>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B3724DB8-0957-A2C9-69D5-7CB91B3A59F1}"/>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CC6A6F6-6616-7127-93F6-12AAECABEA5D}"/>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FDDB8419-54AB-176F-DF44-EE2044FB6ACF}"/>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012FB78-2292-3718-A083-148ED9FF753B}"/>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0DBEEA35-4C54-6D17-B962-EE1C73BDA7ED}"/>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D938FB4C-BE83-B054-0AF0-00056F61E50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449555A8-9DD3-C5C1-2D2C-2DC3EBEAEDE1}"/>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5" name="Picture 114" hidden="1">
            <a:extLst>
              <a:ext uri="{FF2B5EF4-FFF2-40B4-BE49-F238E27FC236}">
                <a16:creationId xmlns:a16="http://schemas.microsoft.com/office/drawing/2014/main" id="{6413B103-A8B9-5DF6-E143-F31BE9CAA3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23" name="Rectangle: Rounded Corners 122" hidden="1">
            <a:extLst>
              <a:ext uri="{FF2B5EF4-FFF2-40B4-BE49-F238E27FC236}">
                <a16:creationId xmlns:a16="http://schemas.microsoft.com/office/drawing/2014/main" id="{A1A87B8E-2497-CC9A-D32E-6AABBAAA9BCA}"/>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7" name="Oval 126" hidden="1">
            <a:extLst>
              <a:ext uri="{FF2B5EF4-FFF2-40B4-BE49-F238E27FC236}">
                <a16:creationId xmlns:a16="http://schemas.microsoft.com/office/drawing/2014/main" id="{7A3C6203-C9AB-3E6C-B772-177D81579C7A}"/>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E6505EBD-CE5A-DEE1-5338-984E1687F260}"/>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3926D9AB-3D6E-3503-4ACC-40D8C1DD4655}"/>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40AE7AAA-A6A9-AB59-DF13-A01FB05571E5}"/>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2960B858-17C5-1E17-3387-9ED8B8AD74AD}"/>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2E8AB6A9-800A-D739-B31E-E157DBCE79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2" name="Rectangle: Rounded Corners 21">
            <a:extLst>
              <a:ext uri="{FF2B5EF4-FFF2-40B4-BE49-F238E27FC236}">
                <a16:creationId xmlns:a16="http://schemas.microsoft.com/office/drawing/2014/main" id="{1E32AA87-EB86-4C25-28F4-02CA77A4F99B}"/>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8C4A9B72-4E0D-51E6-E780-F5C959DF34E0}"/>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52B76619-1891-19F6-5EEA-DB7612313D33}"/>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6F5EE8F-EE7E-159A-E9A9-966EB383438B}"/>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6EB3283-4751-6715-41EB-081318C30498}"/>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987AF1F-3A9B-18B1-D317-2651C7C4A74F}"/>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1D9B105-5470-F9CC-6E93-E6F003D95C0F}"/>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A8D6A30-6707-904B-1673-728414132D57}"/>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BCCA7333-3E92-80B2-9AAE-EB07F6B76551}"/>
              </a:ext>
            </a:extLst>
          </p:cNvPr>
          <p:cNvGrpSpPr/>
          <p:nvPr/>
        </p:nvGrpSpPr>
        <p:grpSpPr>
          <a:xfrm>
            <a:off x="346492" y="1230331"/>
            <a:ext cx="1970636" cy="5332610"/>
            <a:chOff x="273095" y="1230331"/>
            <a:chExt cx="1970636" cy="5332610"/>
          </a:xfrm>
        </p:grpSpPr>
        <p:sp>
          <p:nvSpPr>
            <p:cNvPr id="45" name="Rectangle: Rounded Corners 44">
              <a:extLst>
                <a:ext uri="{FF2B5EF4-FFF2-40B4-BE49-F238E27FC236}">
                  <a16:creationId xmlns:a16="http://schemas.microsoft.com/office/drawing/2014/main" id="{5B49E827-A56E-0276-15A0-08D387FB229F}"/>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6" name="Rectangle: Rounded Corners 45">
              <a:extLst>
                <a:ext uri="{FF2B5EF4-FFF2-40B4-BE49-F238E27FC236}">
                  <a16:creationId xmlns:a16="http://schemas.microsoft.com/office/drawing/2014/main" id="{227774BD-80B0-C225-0B8C-F68A5637F304}"/>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E913211D-29F0-DF31-6143-06CEADCED342}"/>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730C144F-0C22-D11A-DA6A-103F035FBDC9}"/>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47B84D85-52A0-5F4B-C3B9-2E6E152D8DDB}"/>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7" name="Rectangle: Rounded Corners 56">
              <a:extLst>
                <a:ext uri="{FF2B5EF4-FFF2-40B4-BE49-F238E27FC236}">
                  <a16:creationId xmlns:a16="http://schemas.microsoft.com/office/drawing/2014/main" id="{DFB57ED0-94E0-2823-EA87-CA73D0F78AD4}"/>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8" name="TextBox 57">
              <a:extLst>
                <a:ext uri="{FF2B5EF4-FFF2-40B4-BE49-F238E27FC236}">
                  <a16:creationId xmlns:a16="http://schemas.microsoft.com/office/drawing/2014/main" id="{57DDC83C-C1A3-250B-794A-A212175E13E8}"/>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9" name="TextBox 58">
              <a:extLst>
                <a:ext uri="{FF2B5EF4-FFF2-40B4-BE49-F238E27FC236}">
                  <a16:creationId xmlns:a16="http://schemas.microsoft.com/office/drawing/2014/main" id="{07CA74E2-5441-A20D-8A62-D6DDB30F1D18}"/>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0" name="TextBox 59">
              <a:extLst>
                <a:ext uri="{FF2B5EF4-FFF2-40B4-BE49-F238E27FC236}">
                  <a16:creationId xmlns:a16="http://schemas.microsoft.com/office/drawing/2014/main" id="{C15DF413-CA5A-EFAB-D786-E6F8C062A849}"/>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1" name="TextBox 60">
              <a:extLst>
                <a:ext uri="{FF2B5EF4-FFF2-40B4-BE49-F238E27FC236}">
                  <a16:creationId xmlns:a16="http://schemas.microsoft.com/office/drawing/2014/main" id="{6C7F1065-82E1-E28F-540A-8F2C14EF881A}"/>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2" name="TextBox 61">
              <a:extLst>
                <a:ext uri="{FF2B5EF4-FFF2-40B4-BE49-F238E27FC236}">
                  <a16:creationId xmlns:a16="http://schemas.microsoft.com/office/drawing/2014/main" id="{1D72468B-F614-1D58-E68A-FE198B6AC7E5}"/>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3" name="TextBox 62">
              <a:extLst>
                <a:ext uri="{FF2B5EF4-FFF2-40B4-BE49-F238E27FC236}">
                  <a16:creationId xmlns:a16="http://schemas.microsoft.com/office/drawing/2014/main" id="{9687F053-9757-CD31-4E63-FD29143B8DDD}"/>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4" name="Group 63">
            <a:extLst>
              <a:ext uri="{FF2B5EF4-FFF2-40B4-BE49-F238E27FC236}">
                <a16:creationId xmlns:a16="http://schemas.microsoft.com/office/drawing/2014/main" id="{57653A05-30F9-363C-BD81-ACFA51C4B24A}"/>
              </a:ext>
            </a:extLst>
          </p:cNvPr>
          <p:cNvGrpSpPr/>
          <p:nvPr/>
        </p:nvGrpSpPr>
        <p:grpSpPr>
          <a:xfrm>
            <a:off x="3106840" y="1387508"/>
            <a:ext cx="2989156" cy="5132425"/>
            <a:chOff x="3171008" y="1386740"/>
            <a:chExt cx="2989156" cy="5132425"/>
          </a:xfrm>
        </p:grpSpPr>
        <p:sp>
          <p:nvSpPr>
            <p:cNvPr id="65" name="TextBox 64">
              <a:extLst>
                <a:ext uri="{FF2B5EF4-FFF2-40B4-BE49-F238E27FC236}">
                  <a16:creationId xmlns:a16="http://schemas.microsoft.com/office/drawing/2014/main" id="{02170B89-3939-19CC-ABE0-8D395E3ED4EE}"/>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6" name="TextBox 65">
              <a:extLst>
                <a:ext uri="{FF2B5EF4-FFF2-40B4-BE49-F238E27FC236}">
                  <a16:creationId xmlns:a16="http://schemas.microsoft.com/office/drawing/2014/main" id="{F05852EA-0BD5-5DD7-1595-C58BAE9B4735}"/>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9AD221AD-B246-FC7A-15CE-6787D7D62937}"/>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F400ED36-70E8-72D0-1C14-EF30F6B115E2}"/>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A2952309-060E-F957-99AF-94124303CD53}"/>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0" name="TextBox 69">
              <a:extLst>
                <a:ext uri="{FF2B5EF4-FFF2-40B4-BE49-F238E27FC236}">
                  <a16:creationId xmlns:a16="http://schemas.microsoft.com/office/drawing/2014/main" id="{66A22E5D-049D-8430-59BF-A17B498870E4}"/>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71" name="Group 70">
            <a:extLst>
              <a:ext uri="{FF2B5EF4-FFF2-40B4-BE49-F238E27FC236}">
                <a16:creationId xmlns:a16="http://schemas.microsoft.com/office/drawing/2014/main" id="{B179BCE9-2194-1754-76C4-043E4635A160}"/>
              </a:ext>
            </a:extLst>
          </p:cNvPr>
          <p:cNvGrpSpPr/>
          <p:nvPr/>
        </p:nvGrpSpPr>
        <p:grpSpPr>
          <a:xfrm>
            <a:off x="8284413" y="1005634"/>
            <a:ext cx="9978207" cy="9952132"/>
            <a:chOff x="8284413" y="1005634"/>
            <a:chExt cx="9978207" cy="9952132"/>
          </a:xfrm>
        </p:grpSpPr>
        <p:pic>
          <p:nvPicPr>
            <p:cNvPr id="72" name="Picture 71">
              <a:extLst>
                <a:ext uri="{FF2B5EF4-FFF2-40B4-BE49-F238E27FC236}">
                  <a16:creationId xmlns:a16="http://schemas.microsoft.com/office/drawing/2014/main" id="{89FEEDE7-AD6E-F23A-D2C3-820A72B1394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73" name="Picture 72">
              <a:extLst>
                <a:ext uri="{FF2B5EF4-FFF2-40B4-BE49-F238E27FC236}">
                  <a16:creationId xmlns:a16="http://schemas.microsoft.com/office/drawing/2014/main" id="{74BBC8E4-2D62-2115-95A0-310A2CEC6C52}"/>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74" name="Oval 73">
              <a:extLst>
                <a:ext uri="{FF2B5EF4-FFF2-40B4-BE49-F238E27FC236}">
                  <a16:creationId xmlns:a16="http://schemas.microsoft.com/office/drawing/2014/main" id="{0A0732EB-3F1E-8E57-B395-1273F5620BF2}"/>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709BDF46-93DD-FF4B-91F3-8667E59EDD15}"/>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D8B063FF-C02F-156A-1B74-F937CD6A220A}"/>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7" name="Picture 76">
              <a:extLst>
                <a:ext uri="{FF2B5EF4-FFF2-40B4-BE49-F238E27FC236}">
                  <a16:creationId xmlns:a16="http://schemas.microsoft.com/office/drawing/2014/main" id="{C41F4229-33CC-6C9A-8E51-CD1BEBE0E7B7}"/>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78" name="Oval 77">
              <a:extLst>
                <a:ext uri="{FF2B5EF4-FFF2-40B4-BE49-F238E27FC236}">
                  <a16:creationId xmlns:a16="http://schemas.microsoft.com/office/drawing/2014/main" id="{8F413A56-0BCE-1327-269C-5D4C9862BC69}"/>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Oval 78">
              <a:extLst>
                <a:ext uri="{FF2B5EF4-FFF2-40B4-BE49-F238E27FC236}">
                  <a16:creationId xmlns:a16="http://schemas.microsoft.com/office/drawing/2014/main" id="{D0C0B020-EF9D-6F0F-107E-0C8D7F2AA184}"/>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0" name="Straight Arrow Connector 79">
              <a:extLst>
                <a:ext uri="{FF2B5EF4-FFF2-40B4-BE49-F238E27FC236}">
                  <a16:creationId xmlns:a16="http://schemas.microsoft.com/office/drawing/2014/main" id="{828181E5-025C-CA6B-8959-B5628372CFA3}"/>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0BDC796-9AF4-CBE2-C9B0-9C0C1954937E}"/>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238CEC36-8CAE-40CA-1FF9-E09709D2F58F}"/>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83" name="Rectangle: Rounded Corners 82">
              <a:extLst>
                <a:ext uri="{FF2B5EF4-FFF2-40B4-BE49-F238E27FC236}">
                  <a16:creationId xmlns:a16="http://schemas.microsoft.com/office/drawing/2014/main" id="{8ED3B684-A167-C865-2413-159B25887DEC}"/>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4" name="Rectangle: Rounded Corners 83">
              <a:extLst>
                <a:ext uri="{FF2B5EF4-FFF2-40B4-BE49-F238E27FC236}">
                  <a16:creationId xmlns:a16="http://schemas.microsoft.com/office/drawing/2014/main" id="{3586A6B1-446A-6275-6F3E-8A27A19CE7AA}"/>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35446267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E743B2-7DAE-07A8-A8C6-C5F76F0FD49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A250B2F-6E30-8184-EFE3-3EF98BB7A9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EEB0FF18-035D-89B0-4E1F-581E4EA3937C}"/>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56D088C-70E3-B5C9-3B33-0D90C1D5BDFE}"/>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3BBA2ECC-5552-B63C-5B2C-C6D50D8891B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D5DE0E4D-EB34-B4BE-7487-45B544648825}"/>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45F41DF2-33CC-5CB0-CEA0-785C022A2890}"/>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163E1245-0CEC-01D5-F3EB-E11BE2AE0F1B}"/>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F4B9F3C4-95A5-B73C-74FA-A6F455F82BFF}"/>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ED58B393-E982-9768-39F1-9576C4A3873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F508522F-2420-558E-4720-7BB049A54ECE}"/>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CEBA9BCD-A059-3F62-228D-5406E7F15BB9}"/>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DF438818-CF50-C651-A463-723D68B0808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0A89C729-74B4-7F3F-0E58-677A5BA441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23" name="Rectangle: Rounded Corners 122" hidden="1">
            <a:extLst>
              <a:ext uri="{FF2B5EF4-FFF2-40B4-BE49-F238E27FC236}">
                <a16:creationId xmlns:a16="http://schemas.microsoft.com/office/drawing/2014/main" id="{144B0991-CCCF-9644-E579-66AB15C2C34E}"/>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7" name="Oval 126" hidden="1">
            <a:extLst>
              <a:ext uri="{FF2B5EF4-FFF2-40B4-BE49-F238E27FC236}">
                <a16:creationId xmlns:a16="http://schemas.microsoft.com/office/drawing/2014/main" id="{E07F7FEF-1645-251E-E09F-0F49EC100EF0}"/>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C932159E-C58C-30AE-90D4-5E7609A92917}"/>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B021D8AA-A51A-1860-0272-81531BD4E682}"/>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DCE1275F-B282-A342-CB11-02B51DEC2D55}"/>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2CDE1042-2E1C-CDE5-BB64-71991AB8A9AC}"/>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72AB8D2D-EAAD-4808-A617-010425CB1394}"/>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22397EDD-A531-3F8E-58F7-F71037E7A2E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5" name="Rectangle: Rounded Corners 24">
            <a:extLst>
              <a:ext uri="{FF2B5EF4-FFF2-40B4-BE49-F238E27FC236}">
                <a16:creationId xmlns:a16="http://schemas.microsoft.com/office/drawing/2014/main" id="{8D0517D6-3839-B5AA-3388-9D44B3383588}"/>
              </a:ext>
            </a:extLst>
          </p:cNvPr>
          <p:cNvSpPr/>
          <p:nvPr/>
        </p:nvSpPr>
        <p:spPr>
          <a:xfrm>
            <a:off x="14658975" y="5439395"/>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F5E23D55-EDD0-B39D-E845-52E0A53104E7}"/>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10943CD2-4A97-12EE-9F6B-56AD1BEC0C42}"/>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635F361B-EA6B-F5D2-5DC7-F43C337F0649}"/>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0A8C62B-065E-8931-AE71-2EC1344540AF}"/>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CA32D1E-CD8C-6F0C-6962-843B667E48E4}"/>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CF79E16-402C-09F5-CBE2-D3C819A6334E}"/>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9E41297-4093-EBB6-90B4-A0E7BD971DE1}"/>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C1FC70A-AD88-ADF7-67C5-DD9E679DB417}"/>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56C5945A-3659-93B2-3457-C7B116F0234D}"/>
              </a:ext>
            </a:extLst>
          </p:cNvPr>
          <p:cNvGrpSpPr/>
          <p:nvPr/>
        </p:nvGrpSpPr>
        <p:grpSpPr>
          <a:xfrm>
            <a:off x="346492" y="1230331"/>
            <a:ext cx="1970636" cy="5332610"/>
            <a:chOff x="273095" y="1230331"/>
            <a:chExt cx="1970636" cy="5332610"/>
          </a:xfrm>
        </p:grpSpPr>
        <p:sp>
          <p:nvSpPr>
            <p:cNvPr id="24" name="Rectangle: Rounded Corners 23">
              <a:extLst>
                <a:ext uri="{FF2B5EF4-FFF2-40B4-BE49-F238E27FC236}">
                  <a16:creationId xmlns:a16="http://schemas.microsoft.com/office/drawing/2014/main" id="{9049CED4-C792-DF94-9559-738F6430BC60}"/>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6" name="Rectangle: Rounded Corners 25">
              <a:extLst>
                <a:ext uri="{FF2B5EF4-FFF2-40B4-BE49-F238E27FC236}">
                  <a16:creationId xmlns:a16="http://schemas.microsoft.com/office/drawing/2014/main" id="{C6C3BA29-243D-D891-A5FB-49E14FC861DB}"/>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2" name="Rectangle: Rounded Corners 41">
              <a:extLst>
                <a:ext uri="{FF2B5EF4-FFF2-40B4-BE49-F238E27FC236}">
                  <a16:creationId xmlns:a16="http://schemas.microsoft.com/office/drawing/2014/main" id="{55A5533C-18C4-F0D3-55D1-736E499AE0C1}"/>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4" name="Rectangle: Rounded Corners 43">
              <a:extLst>
                <a:ext uri="{FF2B5EF4-FFF2-40B4-BE49-F238E27FC236}">
                  <a16:creationId xmlns:a16="http://schemas.microsoft.com/office/drawing/2014/main" id="{36B8F6BC-2CD2-3F34-AD7A-335D5DEAF6F4}"/>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5" name="Rectangle: Rounded Corners 44">
              <a:extLst>
                <a:ext uri="{FF2B5EF4-FFF2-40B4-BE49-F238E27FC236}">
                  <a16:creationId xmlns:a16="http://schemas.microsoft.com/office/drawing/2014/main" id="{EBA4949C-03B2-19DD-319F-8A939DC3406A}"/>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6" name="Rectangle: Rounded Corners 45">
              <a:extLst>
                <a:ext uri="{FF2B5EF4-FFF2-40B4-BE49-F238E27FC236}">
                  <a16:creationId xmlns:a16="http://schemas.microsoft.com/office/drawing/2014/main" id="{BB985148-2481-7501-A616-C1FE366C1BBF}"/>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TextBox 46">
              <a:extLst>
                <a:ext uri="{FF2B5EF4-FFF2-40B4-BE49-F238E27FC236}">
                  <a16:creationId xmlns:a16="http://schemas.microsoft.com/office/drawing/2014/main" id="{D743081C-6303-A7B2-5C60-37C5C9943D4D}"/>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48" name="TextBox 47">
              <a:extLst>
                <a:ext uri="{FF2B5EF4-FFF2-40B4-BE49-F238E27FC236}">
                  <a16:creationId xmlns:a16="http://schemas.microsoft.com/office/drawing/2014/main" id="{3E4F3E40-8319-75C7-E8DA-D27653D8F5E9}"/>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49" name="TextBox 48">
              <a:extLst>
                <a:ext uri="{FF2B5EF4-FFF2-40B4-BE49-F238E27FC236}">
                  <a16:creationId xmlns:a16="http://schemas.microsoft.com/office/drawing/2014/main" id="{76633F38-F44D-7662-BB79-411D3312839F}"/>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2" name="TextBox 61">
              <a:extLst>
                <a:ext uri="{FF2B5EF4-FFF2-40B4-BE49-F238E27FC236}">
                  <a16:creationId xmlns:a16="http://schemas.microsoft.com/office/drawing/2014/main" id="{85C2B066-1262-AED5-F0F7-82ECF51F67E3}"/>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3" name="TextBox 62">
              <a:extLst>
                <a:ext uri="{FF2B5EF4-FFF2-40B4-BE49-F238E27FC236}">
                  <a16:creationId xmlns:a16="http://schemas.microsoft.com/office/drawing/2014/main" id="{51D70E9A-2794-6ECA-557F-CC40602849ED}"/>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4" name="TextBox 63">
              <a:extLst>
                <a:ext uri="{FF2B5EF4-FFF2-40B4-BE49-F238E27FC236}">
                  <a16:creationId xmlns:a16="http://schemas.microsoft.com/office/drawing/2014/main" id="{73E48C3F-0EE4-03F4-B4DA-13656FA2762F}"/>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5" name="Group 64">
            <a:extLst>
              <a:ext uri="{FF2B5EF4-FFF2-40B4-BE49-F238E27FC236}">
                <a16:creationId xmlns:a16="http://schemas.microsoft.com/office/drawing/2014/main" id="{C23930A0-7F0A-8580-3DC1-9282DEA31849}"/>
              </a:ext>
            </a:extLst>
          </p:cNvPr>
          <p:cNvGrpSpPr/>
          <p:nvPr/>
        </p:nvGrpSpPr>
        <p:grpSpPr>
          <a:xfrm>
            <a:off x="3106840" y="1387508"/>
            <a:ext cx="2989156" cy="5132425"/>
            <a:chOff x="3171008" y="1386740"/>
            <a:chExt cx="2989156" cy="5132425"/>
          </a:xfrm>
        </p:grpSpPr>
        <p:sp>
          <p:nvSpPr>
            <p:cNvPr id="66" name="TextBox 65">
              <a:extLst>
                <a:ext uri="{FF2B5EF4-FFF2-40B4-BE49-F238E27FC236}">
                  <a16:creationId xmlns:a16="http://schemas.microsoft.com/office/drawing/2014/main" id="{72B36A36-708F-A9EE-6E3E-D15307CEAE70}"/>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7" name="TextBox 66">
              <a:extLst>
                <a:ext uri="{FF2B5EF4-FFF2-40B4-BE49-F238E27FC236}">
                  <a16:creationId xmlns:a16="http://schemas.microsoft.com/office/drawing/2014/main" id="{40CEA79C-95B6-6C7B-8A22-5B6CB992D4A8}"/>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E55DD3C5-A183-B359-7EB3-75FB41F5CADA}"/>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2704DD18-77F5-4D4F-BE93-85A9FED6F58B}"/>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70" name="TextBox 69">
              <a:extLst>
                <a:ext uri="{FF2B5EF4-FFF2-40B4-BE49-F238E27FC236}">
                  <a16:creationId xmlns:a16="http://schemas.microsoft.com/office/drawing/2014/main" id="{D18796AC-8CD0-4323-37C6-A85BB496BC11}"/>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1" name="TextBox 70">
              <a:extLst>
                <a:ext uri="{FF2B5EF4-FFF2-40B4-BE49-F238E27FC236}">
                  <a16:creationId xmlns:a16="http://schemas.microsoft.com/office/drawing/2014/main" id="{22B9B137-E6B4-1EEE-6A7F-BF031F904761}"/>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72" name="Group 71">
            <a:extLst>
              <a:ext uri="{FF2B5EF4-FFF2-40B4-BE49-F238E27FC236}">
                <a16:creationId xmlns:a16="http://schemas.microsoft.com/office/drawing/2014/main" id="{6498B001-E7C6-C662-4BE3-24D3F269BBC7}"/>
              </a:ext>
            </a:extLst>
          </p:cNvPr>
          <p:cNvGrpSpPr/>
          <p:nvPr/>
        </p:nvGrpSpPr>
        <p:grpSpPr>
          <a:xfrm>
            <a:off x="8284413" y="1005634"/>
            <a:ext cx="9978207" cy="9952132"/>
            <a:chOff x="8284413" y="1005634"/>
            <a:chExt cx="9978207" cy="9952132"/>
          </a:xfrm>
        </p:grpSpPr>
        <p:pic>
          <p:nvPicPr>
            <p:cNvPr id="73" name="Picture 72">
              <a:extLst>
                <a:ext uri="{FF2B5EF4-FFF2-40B4-BE49-F238E27FC236}">
                  <a16:creationId xmlns:a16="http://schemas.microsoft.com/office/drawing/2014/main" id="{EF877A87-E048-5A4D-295F-664B35ABC8F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74" name="Picture 73">
              <a:extLst>
                <a:ext uri="{FF2B5EF4-FFF2-40B4-BE49-F238E27FC236}">
                  <a16:creationId xmlns:a16="http://schemas.microsoft.com/office/drawing/2014/main" id="{40183B99-13D5-6200-0F84-96EBF6D83358}"/>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75" name="Oval 74">
              <a:extLst>
                <a:ext uri="{FF2B5EF4-FFF2-40B4-BE49-F238E27FC236}">
                  <a16:creationId xmlns:a16="http://schemas.microsoft.com/office/drawing/2014/main" id="{F1185DD3-4D1D-6382-5628-C3B7FEE3A39D}"/>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3B6FF9D3-A3D6-E217-A6B4-996A7C649B92}"/>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Oval 76">
              <a:extLst>
                <a:ext uri="{FF2B5EF4-FFF2-40B4-BE49-F238E27FC236}">
                  <a16:creationId xmlns:a16="http://schemas.microsoft.com/office/drawing/2014/main" id="{3E5DB4C8-7A5E-9B70-3817-82E0874E91D2}"/>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8" name="Picture 77">
              <a:extLst>
                <a:ext uri="{FF2B5EF4-FFF2-40B4-BE49-F238E27FC236}">
                  <a16:creationId xmlns:a16="http://schemas.microsoft.com/office/drawing/2014/main" id="{2004D4EC-C8DC-7746-F320-0CADDE6229B8}"/>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79" name="Oval 78">
              <a:extLst>
                <a:ext uri="{FF2B5EF4-FFF2-40B4-BE49-F238E27FC236}">
                  <a16:creationId xmlns:a16="http://schemas.microsoft.com/office/drawing/2014/main" id="{11576E78-E75E-4485-DF89-2334D4B80674}"/>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4BE25671-D943-0122-68F5-E040F5F8F6CE}"/>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1" name="Straight Arrow Connector 80">
              <a:extLst>
                <a:ext uri="{FF2B5EF4-FFF2-40B4-BE49-F238E27FC236}">
                  <a16:creationId xmlns:a16="http://schemas.microsoft.com/office/drawing/2014/main" id="{04B441AC-4F0A-DF93-7EA3-8FEA9F0BEA20}"/>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6B595F5A-F18C-675A-5B0C-4EB8AD44456C}"/>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83" name="Rectangle: Rounded Corners 82">
              <a:extLst>
                <a:ext uri="{FF2B5EF4-FFF2-40B4-BE49-F238E27FC236}">
                  <a16:creationId xmlns:a16="http://schemas.microsoft.com/office/drawing/2014/main" id="{6C23EC78-6025-EDBA-689B-F60AEE0B10B9}"/>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84" name="Rectangle: Rounded Corners 83">
              <a:extLst>
                <a:ext uri="{FF2B5EF4-FFF2-40B4-BE49-F238E27FC236}">
                  <a16:creationId xmlns:a16="http://schemas.microsoft.com/office/drawing/2014/main" id="{E361944C-3123-F743-9821-28123EBE5C4E}"/>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5" name="Rectangle: Rounded Corners 84">
              <a:extLst>
                <a:ext uri="{FF2B5EF4-FFF2-40B4-BE49-F238E27FC236}">
                  <a16:creationId xmlns:a16="http://schemas.microsoft.com/office/drawing/2014/main" id="{34BA51BB-03A4-0CDA-F965-A04B5BF5C265}"/>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1296293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F8BA04-AEF2-894D-3A75-41160583959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FAA59C2-D946-DDFB-27DE-B230F1E58C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00C65CAC-BF08-DB66-53F1-2155691DBB4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BAE701D-2EED-A466-15F0-AC048D0703E8}"/>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61178E8-91ED-4D46-EEDB-5F9405D1D15C}"/>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44EE35EF-7242-34A9-88E3-121E4C780A0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12769788-3FBC-E72E-6291-5C4E8B831962}"/>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5C21BAC5-7962-9126-FC44-2C23586092F0}"/>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5E2E3686-57E8-AF4E-C266-A6427D04A7CA}"/>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33CFC3B0-FDDB-AA32-3622-AA17FCD6B604}"/>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15A5A1FF-9731-67F7-B4D3-04AC97868248}"/>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7BE90AE3-29F1-83C1-9B6B-486819EC8F19}"/>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5" name="Picture 114" hidden="1">
            <a:extLst>
              <a:ext uri="{FF2B5EF4-FFF2-40B4-BE49-F238E27FC236}">
                <a16:creationId xmlns:a16="http://schemas.microsoft.com/office/drawing/2014/main" id="{560CD0F7-738F-6FF0-B2D1-8B64E00069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23" name="Rectangle: Rounded Corners 122" hidden="1">
            <a:extLst>
              <a:ext uri="{FF2B5EF4-FFF2-40B4-BE49-F238E27FC236}">
                <a16:creationId xmlns:a16="http://schemas.microsoft.com/office/drawing/2014/main" id="{53E84DF2-3A41-DEFF-56C4-012267AE5411}"/>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7" name="Oval 126" hidden="1">
            <a:extLst>
              <a:ext uri="{FF2B5EF4-FFF2-40B4-BE49-F238E27FC236}">
                <a16:creationId xmlns:a16="http://schemas.microsoft.com/office/drawing/2014/main" id="{DE444EC4-43C6-BEC1-8E1E-F16EBD62A231}"/>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95E9FB28-1956-E639-492F-7B879F4DEB52}"/>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F633BC99-F537-F1FD-2547-F532A5E43E31}"/>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E78CCB05-7AF8-55D8-84C4-FDB6F0BFD0C1}"/>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48F0BBFA-67D1-0B89-BA7C-D0D299EA41F8}"/>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EBF3615A-C245-CF48-4EF3-9076B33E6490}"/>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2E5E97B5-867F-E133-E523-0738D2BA4C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5" name="Rectangle: Rounded Corners 24">
            <a:extLst>
              <a:ext uri="{FF2B5EF4-FFF2-40B4-BE49-F238E27FC236}">
                <a16:creationId xmlns:a16="http://schemas.microsoft.com/office/drawing/2014/main" id="{6568F3FD-AF99-C26E-E371-F8980B748AEF}"/>
              </a:ext>
            </a:extLst>
          </p:cNvPr>
          <p:cNvSpPr/>
          <p:nvPr/>
        </p:nvSpPr>
        <p:spPr>
          <a:xfrm>
            <a:off x="8148697" y="5439395"/>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F52A102A-2783-B237-DCBD-C796B6F19A1A}"/>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10611E32-44CB-3BD0-8E18-7F8206644BD3}"/>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41A8683A-6057-A126-1482-D3DFD1B5D6F1}"/>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B0AB5E7-06CB-358A-D2CE-7F7BAAC4B995}"/>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9608979-AD3A-697F-E8DE-D783F68968E8}"/>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2198AE-03DF-F663-EC42-21C6DEB55C19}"/>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E9E2FB6-95E6-2379-D0AE-4CC07808908C}"/>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83CF0B3-0B62-D2CC-C365-D6632F10E79F}"/>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A703F101-9D6C-C4E5-6DAD-40A876320FE8}"/>
              </a:ext>
            </a:extLst>
          </p:cNvPr>
          <p:cNvGrpSpPr/>
          <p:nvPr/>
        </p:nvGrpSpPr>
        <p:grpSpPr>
          <a:xfrm>
            <a:off x="346492" y="1230331"/>
            <a:ext cx="1970636" cy="5332610"/>
            <a:chOff x="273095" y="1230331"/>
            <a:chExt cx="1970636" cy="5332610"/>
          </a:xfrm>
        </p:grpSpPr>
        <p:sp>
          <p:nvSpPr>
            <p:cNvPr id="46" name="Rectangle: Rounded Corners 45">
              <a:extLst>
                <a:ext uri="{FF2B5EF4-FFF2-40B4-BE49-F238E27FC236}">
                  <a16:creationId xmlns:a16="http://schemas.microsoft.com/office/drawing/2014/main" id="{2B55AC17-CF85-2B38-8E9D-4AEDDA6100A7}"/>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944E5F54-9F72-CD89-8914-CB42D80781CB}"/>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03387771-0A22-EE88-26B7-8A6FAB8F86F5}"/>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3B8136C2-EF0F-CE45-0DCB-708765BF8FC6}"/>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1" name="Rectangle: Rounded Corners 60">
              <a:extLst>
                <a:ext uri="{FF2B5EF4-FFF2-40B4-BE49-F238E27FC236}">
                  <a16:creationId xmlns:a16="http://schemas.microsoft.com/office/drawing/2014/main" id="{7C3B74A4-91BC-575A-90EF-E0F6262CD19D}"/>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Rectangle: Rounded Corners 61">
              <a:extLst>
                <a:ext uri="{FF2B5EF4-FFF2-40B4-BE49-F238E27FC236}">
                  <a16:creationId xmlns:a16="http://schemas.microsoft.com/office/drawing/2014/main" id="{2D61D8F7-BDA3-CC35-1EDD-F83C70FFDB41}"/>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3" name="TextBox 62">
              <a:extLst>
                <a:ext uri="{FF2B5EF4-FFF2-40B4-BE49-F238E27FC236}">
                  <a16:creationId xmlns:a16="http://schemas.microsoft.com/office/drawing/2014/main" id="{A6CD66AC-F4DA-4B1F-9F77-77B01126EE9F}"/>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64" name="TextBox 63">
              <a:extLst>
                <a:ext uri="{FF2B5EF4-FFF2-40B4-BE49-F238E27FC236}">
                  <a16:creationId xmlns:a16="http://schemas.microsoft.com/office/drawing/2014/main" id="{6BB835A6-4DAF-48B5-F759-62888648B6D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5" name="TextBox 64">
              <a:extLst>
                <a:ext uri="{FF2B5EF4-FFF2-40B4-BE49-F238E27FC236}">
                  <a16:creationId xmlns:a16="http://schemas.microsoft.com/office/drawing/2014/main" id="{AF20F0F6-D26A-CA79-3F77-F6D39ADF20A6}"/>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6" name="TextBox 65">
              <a:extLst>
                <a:ext uri="{FF2B5EF4-FFF2-40B4-BE49-F238E27FC236}">
                  <a16:creationId xmlns:a16="http://schemas.microsoft.com/office/drawing/2014/main" id="{643C8DE5-2555-5351-A831-517D827D2102}"/>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7" name="TextBox 66">
              <a:extLst>
                <a:ext uri="{FF2B5EF4-FFF2-40B4-BE49-F238E27FC236}">
                  <a16:creationId xmlns:a16="http://schemas.microsoft.com/office/drawing/2014/main" id="{A295C031-7B2D-75D0-8C8F-4A22DE3E5324}"/>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8" name="TextBox 67">
              <a:extLst>
                <a:ext uri="{FF2B5EF4-FFF2-40B4-BE49-F238E27FC236}">
                  <a16:creationId xmlns:a16="http://schemas.microsoft.com/office/drawing/2014/main" id="{3D7B1093-BBA6-B263-CE0E-16F5C6C353B1}"/>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9" name="Group 68">
            <a:extLst>
              <a:ext uri="{FF2B5EF4-FFF2-40B4-BE49-F238E27FC236}">
                <a16:creationId xmlns:a16="http://schemas.microsoft.com/office/drawing/2014/main" id="{62E1D5E4-A93D-73C5-7BDB-CBB5379128CC}"/>
              </a:ext>
            </a:extLst>
          </p:cNvPr>
          <p:cNvGrpSpPr/>
          <p:nvPr/>
        </p:nvGrpSpPr>
        <p:grpSpPr>
          <a:xfrm>
            <a:off x="3106840" y="1387508"/>
            <a:ext cx="2989156" cy="5132425"/>
            <a:chOff x="3171008" y="1386740"/>
            <a:chExt cx="2989156" cy="5132425"/>
          </a:xfrm>
        </p:grpSpPr>
        <p:sp>
          <p:nvSpPr>
            <p:cNvPr id="70" name="TextBox 69">
              <a:extLst>
                <a:ext uri="{FF2B5EF4-FFF2-40B4-BE49-F238E27FC236}">
                  <a16:creationId xmlns:a16="http://schemas.microsoft.com/office/drawing/2014/main" id="{AEA678BA-9919-60B1-2ABD-F5498E6FAA82}"/>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71" name="TextBox 70">
              <a:extLst>
                <a:ext uri="{FF2B5EF4-FFF2-40B4-BE49-F238E27FC236}">
                  <a16:creationId xmlns:a16="http://schemas.microsoft.com/office/drawing/2014/main" id="{E4D232E4-859D-4078-D656-877CEC7F7203}"/>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2" name="TextBox 71">
              <a:extLst>
                <a:ext uri="{FF2B5EF4-FFF2-40B4-BE49-F238E27FC236}">
                  <a16:creationId xmlns:a16="http://schemas.microsoft.com/office/drawing/2014/main" id="{B6375883-32C9-7FC4-BF43-8B6BE2529A88}"/>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3" name="TextBox 72">
              <a:extLst>
                <a:ext uri="{FF2B5EF4-FFF2-40B4-BE49-F238E27FC236}">
                  <a16:creationId xmlns:a16="http://schemas.microsoft.com/office/drawing/2014/main" id="{016A0130-09E7-A87A-6712-1770FBE0C2FE}"/>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74" name="TextBox 73">
              <a:extLst>
                <a:ext uri="{FF2B5EF4-FFF2-40B4-BE49-F238E27FC236}">
                  <a16:creationId xmlns:a16="http://schemas.microsoft.com/office/drawing/2014/main" id="{1EA3AD1C-06F4-8927-6FB9-6173A973236C}"/>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5" name="TextBox 74">
              <a:extLst>
                <a:ext uri="{FF2B5EF4-FFF2-40B4-BE49-F238E27FC236}">
                  <a16:creationId xmlns:a16="http://schemas.microsoft.com/office/drawing/2014/main" id="{0CFC2EDA-DF1D-E57E-E31E-D8B2A4E6B0C1}"/>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76" name="Group 75">
            <a:extLst>
              <a:ext uri="{FF2B5EF4-FFF2-40B4-BE49-F238E27FC236}">
                <a16:creationId xmlns:a16="http://schemas.microsoft.com/office/drawing/2014/main" id="{C957AF10-8ECB-C6CB-A577-49F3A3F49130}"/>
              </a:ext>
            </a:extLst>
          </p:cNvPr>
          <p:cNvGrpSpPr/>
          <p:nvPr/>
        </p:nvGrpSpPr>
        <p:grpSpPr>
          <a:xfrm>
            <a:off x="8284413" y="1005634"/>
            <a:ext cx="9978207" cy="9952132"/>
            <a:chOff x="8284413" y="1005634"/>
            <a:chExt cx="9978207" cy="9952132"/>
          </a:xfrm>
        </p:grpSpPr>
        <p:pic>
          <p:nvPicPr>
            <p:cNvPr id="77" name="Picture 76">
              <a:extLst>
                <a:ext uri="{FF2B5EF4-FFF2-40B4-BE49-F238E27FC236}">
                  <a16:creationId xmlns:a16="http://schemas.microsoft.com/office/drawing/2014/main" id="{B3063ADD-5387-FC23-F9CD-6E1B61D5F01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2579662" y="1005634"/>
              <a:ext cx="2488888" cy="1563398"/>
            </a:xfrm>
            <a:prstGeom prst="rect">
              <a:avLst/>
            </a:prstGeom>
            <a:effectLst>
              <a:outerShdw blurRad="317500" sx="102000" sy="102000" algn="ctr" rotWithShape="0">
                <a:srgbClr val="C29524">
                  <a:alpha val="50000"/>
                </a:srgbClr>
              </a:outerShdw>
            </a:effectLst>
          </p:spPr>
        </p:pic>
        <p:pic>
          <p:nvPicPr>
            <p:cNvPr id="78" name="Picture 77">
              <a:extLst>
                <a:ext uri="{FF2B5EF4-FFF2-40B4-BE49-F238E27FC236}">
                  <a16:creationId xmlns:a16="http://schemas.microsoft.com/office/drawing/2014/main" id="{D7A7B8FC-ACA6-9342-FD6A-5971D5126BD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573512" y="8040055"/>
              <a:ext cx="1140975" cy="1717469"/>
            </a:xfrm>
            <a:prstGeom prst="rect">
              <a:avLst/>
            </a:prstGeom>
            <a:effectLst>
              <a:outerShdw blurRad="317500" sx="102000" sy="102000" algn="ctr" rotWithShape="0">
                <a:srgbClr val="C29524">
                  <a:alpha val="50000"/>
                </a:srgbClr>
              </a:outerShdw>
            </a:effectLst>
          </p:spPr>
        </p:pic>
        <p:sp>
          <p:nvSpPr>
            <p:cNvPr id="79" name="Oval 78">
              <a:extLst>
                <a:ext uri="{FF2B5EF4-FFF2-40B4-BE49-F238E27FC236}">
                  <a16:creationId xmlns:a16="http://schemas.microsoft.com/office/drawing/2014/main" id="{8F703C9C-E89E-59F4-1E6C-29E369499CDF}"/>
                </a:ext>
              </a:extLst>
            </p:cNvPr>
            <p:cNvSpPr/>
            <p:nvPr/>
          </p:nvSpPr>
          <p:spPr>
            <a:xfrm>
              <a:off x="13702589"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B8241B33-5F73-7584-2F43-DFF144CE4BE5}"/>
                </a:ext>
              </a:extLst>
            </p:cNvPr>
            <p:cNvSpPr/>
            <p:nvPr/>
          </p:nvSpPr>
          <p:spPr>
            <a:xfrm>
              <a:off x="14117074"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D3452415-1F66-BCB1-2046-63C194347895}"/>
                </a:ext>
              </a:extLst>
            </p:cNvPr>
            <p:cNvSpPr/>
            <p:nvPr/>
          </p:nvSpPr>
          <p:spPr>
            <a:xfrm>
              <a:off x="14531559"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2" name="Picture 81">
              <a:extLst>
                <a:ext uri="{FF2B5EF4-FFF2-40B4-BE49-F238E27FC236}">
                  <a16:creationId xmlns:a16="http://schemas.microsoft.com/office/drawing/2014/main" id="{4F686F47-B434-CA7D-7CF0-E4AF23E90B7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1794365" y="8110572"/>
              <a:ext cx="3010990" cy="1563398"/>
            </a:xfrm>
            <a:prstGeom prst="rect">
              <a:avLst/>
            </a:prstGeom>
            <a:effectLst>
              <a:outerShdw blurRad="317500" sx="102000" sy="102000" algn="ctr" rotWithShape="0">
                <a:srgbClr val="C29524">
                  <a:alpha val="50000"/>
                </a:srgbClr>
              </a:outerShdw>
            </a:effectLst>
          </p:spPr>
        </p:pic>
        <p:sp>
          <p:nvSpPr>
            <p:cNvPr id="83" name="Oval 82">
              <a:extLst>
                <a:ext uri="{FF2B5EF4-FFF2-40B4-BE49-F238E27FC236}">
                  <a16:creationId xmlns:a16="http://schemas.microsoft.com/office/drawing/2014/main" id="{8F50C8B3-0D95-CE13-F850-3F51E579BE1B}"/>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041516FC-F9F9-AA85-98F0-009A58E843EC}"/>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5" name="Straight Arrow Connector 84">
              <a:extLst>
                <a:ext uri="{FF2B5EF4-FFF2-40B4-BE49-F238E27FC236}">
                  <a16:creationId xmlns:a16="http://schemas.microsoft.com/office/drawing/2014/main" id="{32F4DAC2-25B7-006A-C16B-50519963CA4B}"/>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A9474BC2-51E5-8CE2-C7CD-A532569DE15E}"/>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87" name="Rectangle: Rounded Corners 86">
              <a:extLst>
                <a:ext uri="{FF2B5EF4-FFF2-40B4-BE49-F238E27FC236}">
                  <a16:creationId xmlns:a16="http://schemas.microsoft.com/office/drawing/2014/main" id="{564A5533-08B5-B8E3-055A-FB4FE89F465D}"/>
                </a:ext>
              </a:extLst>
            </p:cNvPr>
            <p:cNvSpPr/>
            <p:nvPr/>
          </p:nvSpPr>
          <p:spPr>
            <a:xfrm>
              <a:off x="8284413"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88" name="Rectangle: Rounded Corners 87">
              <a:extLst>
                <a:ext uri="{FF2B5EF4-FFF2-40B4-BE49-F238E27FC236}">
                  <a16:creationId xmlns:a16="http://schemas.microsoft.com/office/drawing/2014/main" id="{685A2214-47B4-FD12-9160-79735F2A60F2}"/>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9" name="Rectangle: Rounded Corners 88">
              <a:extLst>
                <a:ext uri="{FF2B5EF4-FFF2-40B4-BE49-F238E27FC236}">
                  <a16:creationId xmlns:a16="http://schemas.microsoft.com/office/drawing/2014/main" id="{503FFC45-F7E0-D422-61EA-3B594F9C4236}"/>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spTree>
    <p:extLst>
      <p:ext uri="{BB962C8B-B14F-4D97-AF65-F5344CB8AC3E}">
        <p14:creationId xmlns:p14="http://schemas.microsoft.com/office/powerpoint/2010/main" val="930517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9C871-82C2-EA01-14F6-7916A62C82E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8C366941-4082-7036-2C9B-EE348425E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E09655F-076D-C865-8C38-EF209439E20B}"/>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5FCD3494-5170-4FBD-584A-42929E0DB00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3A8ADB56-87E7-F8D9-7EBC-31A11C138192}"/>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66BD423F-9019-0C4B-896D-CA64CDBE001A}"/>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FA845036-24D1-C7BC-2D1A-79333CC9E0B5}"/>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6A0D846F-BEFC-D32A-F6C6-EDB3023DECB4}"/>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4DE61625-2183-685E-2E27-0BAB21B64FB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81BB3B78-CEA0-D4AA-3DA9-17BBC72A2869}"/>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CA2F11D1-27C3-F733-6E3A-28F0537851B4}"/>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8A4651EF-3D84-ECFC-0F3C-F2E17B763271}"/>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sp>
        <p:nvSpPr>
          <p:cNvPr id="124" name="Rectangle 123">
            <a:extLst>
              <a:ext uri="{FF2B5EF4-FFF2-40B4-BE49-F238E27FC236}">
                <a16:creationId xmlns:a16="http://schemas.microsoft.com/office/drawing/2014/main" id="{1E7A38E9-5286-F9D1-98CA-2E3407440871}"/>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6F5BA19E-1658-0CB5-DF05-A72564A29540}"/>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DC9905B6-2A86-2DCA-2DA3-99932A6E9B3C}"/>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5B20E73E-3D5D-E7F1-E232-B7300A471AE0}"/>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716FD9FB-A9FF-0FB2-446B-50FC28BCEA33}"/>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0F6D4355-7E24-9E8B-02B0-2A237B244B1D}"/>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A1B68D9-DC10-AAD2-18F9-D298FE544F4B}"/>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69694506-D9E5-8107-6AF3-216D0A18FA11}"/>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A2DF2ED-E8E1-D497-4E0A-9F67A1955166}"/>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53D676E-A061-1894-1324-D3A3405092FB}"/>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F8EDAF7-21E2-D119-1FEE-9FCE7EB04203}"/>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30F9A26-80FF-CAE7-C392-37CE666E6A87}"/>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5DBF22-8930-FA65-7EB2-84F6BDE21958}"/>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FAFE8407-3539-B10A-6D1A-15429FADE02A}"/>
              </a:ext>
            </a:extLst>
          </p:cNvPr>
          <p:cNvGrpSpPr/>
          <p:nvPr/>
        </p:nvGrpSpPr>
        <p:grpSpPr>
          <a:xfrm>
            <a:off x="346492" y="1230331"/>
            <a:ext cx="1970636" cy="5332610"/>
            <a:chOff x="273095" y="1230331"/>
            <a:chExt cx="1970636" cy="5332610"/>
          </a:xfrm>
        </p:grpSpPr>
        <p:sp>
          <p:nvSpPr>
            <p:cNvPr id="48" name="Rectangle: Rounded Corners 47">
              <a:extLst>
                <a:ext uri="{FF2B5EF4-FFF2-40B4-BE49-F238E27FC236}">
                  <a16:creationId xmlns:a16="http://schemas.microsoft.com/office/drawing/2014/main" id="{AAB7CCC4-BA55-EA14-0DDD-39256FFCF9BD}"/>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B73E648A-98CB-E564-4974-31C00370FD75}"/>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9" name="Rectangle: Rounded Corners 58">
              <a:extLst>
                <a:ext uri="{FF2B5EF4-FFF2-40B4-BE49-F238E27FC236}">
                  <a16:creationId xmlns:a16="http://schemas.microsoft.com/office/drawing/2014/main" id="{DA61178C-EBFC-EDFB-BB7B-19350625D69A}"/>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0" name="Rectangle: Rounded Corners 59">
              <a:extLst>
                <a:ext uri="{FF2B5EF4-FFF2-40B4-BE49-F238E27FC236}">
                  <a16:creationId xmlns:a16="http://schemas.microsoft.com/office/drawing/2014/main" id="{1A50DA5E-D19D-D6B2-2E79-40D4739D2B9C}"/>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1" name="Rectangle: Rounded Corners 60">
              <a:extLst>
                <a:ext uri="{FF2B5EF4-FFF2-40B4-BE49-F238E27FC236}">
                  <a16:creationId xmlns:a16="http://schemas.microsoft.com/office/drawing/2014/main" id="{53520507-5D75-91CA-C04C-EEBBC5343A3A}"/>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Rectangle: Rounded Corners 61">
              <a:extLst>
                <a:ext uri="{FF2B5EF4-FFF2-40B4-BE49-F238E27FC236}">
                  <a16:creationId xmlns:a16="http://schemas.microsoft.com/office/drawing/2014/main" id="{9374E7BE-BD4C-3877-1A60-3BD40512847C}"/>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3" name="TextBox 62">
              <a:extLst>
                <a:ext uri="{FF2B5EF4-FFF2-40B4-BE49-F238E27FC236}">
                  <a16:creationId xmlns:a16="http://schemas.microsoft.com/office/drawing/2014/main" id="{4A7B91C4-6154-BE8E-AED7-26A9040E6722}"/>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64" name="TextBox 63">
              <a:extLst>
                <a:ext uri="{FF2B5EF4-FFF2-40B4-BE49-F238E27FC236}">
                  <a16:creationId xmlns:a16="http://schemas.microsoft.com/office/drawing/2014/main" id="{465DA86C-E89A-F60E-6D5D-FF278BEBBEC9}"/>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5" name="TextBox 64">
              <a:extLst>
                <a:ext uri="{FF2B5EF4-FFF2-40B4-BE49-F238E27FC236}">
                  <a16:creationId xmlns:a16="http://schemas.microsoft.com/office/drawing/2014/main" id="{7AC5F3C8-8ABA-765F-5856-3CD7E0CFBD51}"/>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6" name="TextBox 65">
              <a:extLst>
                <a:ext uri="{FF2B5EF4-FFF2-40B4-BE49-F238E27FC236}">
                  <a16:creationId xmlns:a16="http://schemas.microsoft.com/office/drawing/2014/main" id="{1B2F245B-3CB7-6A6F-EFF6-BCB20FCDB760}"/>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7" name="TextBox 66">
              <a:extLst>
                <a:ext uri="{FF2B5EF4-FFF2-40B4-BE49-F238E27FC236}">
                  <a16:creationId xmlns:a16="http://schemas.microsoft.com/office/drawing/2014/main" id="{97C91A93-9292-E325-F8FC-1AF3359231AB}"/>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8" name="TextBox 67">
              <a:extLst>
                <a:ext uri="{FF2B5EF4-FFF2-40B4-BE49-F238E27FC236}">
                  <a16:creationId xmlns:a16="http://schemas.microsoft.com/office/drawing/2014/main" id="{C0AC912D-F96E-8879-B2F7-52E5D4D3D4B6}"/>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9" name="Group 68">
            <a:extLst>
              <a:ext uri="{FF2B5EF4-FFF2-40B4-BE49-F238E27FC236}">
                <a16:creationId xmlns:a16="http://schemas.microsoft.com/office/drawing/2014/main" id="{A93EE691-473C-C051-8315-AA2479D2FB56}"/>
              </a:ext>
            </a:extLst>
          </p:cNvPr>
          <p:cNvGrpSpPr/>
          <p:nvPr/>
        </p:nvGrpSpPr>
        <p:grpSpPr>
          <a:xfrm>
            <a:off x="3106840" y="1387508"/>
            <a:ext cx="2989156" cy="5132425"/>
            <a:chOff x="3171008" y="1386740"/>
            <a:chExt cx="2989156" cy="5132425"/>
          </a:xfrm>
        </p:grpSpPr>
        <p:sp>
          <p:nvSpPr>
            <p:cNvPr id="70" name="TextBox 69">
              <a:extLst>
                <a:ext uri="{FF2B5EF4-FFF2-40B4-BE49-F238E27FC236}">
                  <a16:creationId xmlns:a16="http://schemas.microsoft.com/office/drawing/2014/main" id="{FC10C62C-75A5-6291-B535-A70617ACA413}"/>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71" name="TextBox 70">
              <a:extLst>
                <a:ext uri="{FF2B5EF4-FFF2-40B4-BE49-F238E27FC236}">
                  <a16:creationId xmlns:a16="http://schemas.microsoft.com/office/drawing/2014/main" id="{42F2ED1E-6CBF-BBF7-E7B3-C0C741F0DCFC}"/>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2" name="TextBox 71">
              <a:extLst>
                <a:ext uri="{FF2B5EF4-FFF2-40B4-BE49-F238E27FC236}">
                  <a16:creationId xmlns:a16="http://schemas.microsoft.com/office/drawing/2014/main" id="{D2521442-08AC-4619-141F-18F7DE5E7790}"/>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3" name="TextBox 72">
              <a:extLst>
                <a:ext uri="{FF2B5EF4-FFF2-40B4-BE49-F238E27FC236}">
                  <a16:creationId xmlns:a16="http://schemas.microsoft.com/office/drawing/2014/main" id="{1632E58F-7628-156A-49BA-B1934C274645}"/>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74" name="TextBox 73">
              <a:extLst>
                <a:ext uri="{FF2B5EF4-FFF2-40B4-BE49-F238E27FC236}">
                  <a16:creationId xmlns:a16="http://schemas.microsoft.com/office/drawing/2014/main" id="{25D272A1-E128-555E-A09A-CE56734959A8}"/>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5" name="TextBox 74">
              <a:extLst>
                <a:ext uri="{FF2B5EF4-FFF2-40B4-BE49-F238E27FC236}">
                  <a16:creationId xmlns:a16="http://schemas.microsoft.com/office/drawing/2014/main" id="{D39F587C-F6E6-837B-05DE-51324958942E}"/>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77" name="Picture 76">
            <a:extLst>
              <a:ext uri="{FF2B5EF4-FFF2-40B4-BE49-F238E27FC236}">
                <a16:creationId xmlns:a16="http://schemas.microsoft.com/office/drawing/2014/main" id="{747A3380-132E-808B-6494-16E0D437090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634"/>
            <a:ext cx="2488888" cy="1563398"/>
          </a:xfrm>
          <a:prstGeom prst="rect">
            <a:avLst/>
          </a:prstGeom>
          <a:effectLst>
            <a:outerShdw blurRad="317500" sx="102000" sy="102000" algn="ctr" rotWithShape="0">
              <a:srgbClr val="C29524">
                <a:alpha val="50000"/>
              </a:srgbClr>
            </a:outerShdw>
          </a:effectLst>
        </p:spPr>
      </p:pic>
      <p:pic>
        <p:nvPicPr>
          <p:cNvPr id="78" name="Picture 77">
            <a:extLst>
              <a:ext uri="{FF2B5EF4-FFF2-40B4-BE49-F238E27FC236}">
                <a16:creationId xmlns:a16="http://schemas.microsoft.com/office/drawing/2014/main" id="{49F67264-F2C6-109A-C33C-3F850221917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553463" y="3752693"/>
            <a:ext cx="1140975" cy="1717469"/>
          </a:xfrm>
          <a:prstGeom prst="rect">
            <a:avLst/>
          </a:prstGeom>
          <a:effectLst>
            <a:outerShdw blurRad="317500" sx="102000" sy="102000" algn="ctr" rotWithShape="0">
              <a:srgbClr val="C29524">
                <a:alpha val="50000"/>
              </a:srgbClr>
            </a:outerShdw>
          </a:effectLst>
        </p:spPr>
      </p:pic>
      <p:sp>
        <p:nvSpPr>
          <p:cNvPr id="79" name="Oval 78">
            <a:extLst>
              <a:ext uri="{FF2B5EF4-FFF2-40B4-BE49-F238E27FC236}">
                <a16:creationId xmlns:a16="http://schemas.microsoft.com/office/drawing/2014/main" id="{44807FFE-4B17-50F2-A08A-640B58D93E43}"/>
              </a:ext>
            </a:extLst>
          </p:cNvPr>
          <p:cNvSpPr/>
          <p:nvPr/>
        </p:nvSpPr>
        <p:spPr>
          <a:xfrm>
            <a:off x="9051057" y="130479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Oval 79">
            <a:extLst>
              <a:ext uri="{FF2B5EF4-FFF2-40B4-BE49-F238E27FC236}">
                <a16:creationId xmlns:a16="http://schemas.microsoft.com/office/drawing/2014/main" id="{5F52CF38-0A00-5F02-BD41-511EFA1F7C3C}"/>
              </a:ext>
            </a:extLst>
          </p:cNvPr>
          <p:cNvSpPr/>
          <p:nvPr/>
        </p:nvSpPr>
        <p:spPr>
          <a:xfrm>
            <a:off x="9465542" y="1283603"/>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Oval 80">
            <a:extLst>
              <a:ext uri="{FF2B5EF4-FFF2-40B4-BE49-F238E27FC236}">
                <a16:creationId xmlns:a16="http://schemas.microsoft.com/office/drawing/2014/main" id="{E851C884-16E2-A920-C5B7-6C802D79CB9D}"/>
              </a:ext>
            </a:extLst>
          </p:cNvPr>
          <p:cNvSpPr/>
          <p:nvPr/>
        </p:nvSpPr>
        <p:spPr>
          <a:xfrm>
            <a:off x="9880027" y="119985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2" name="Picture 81">
            <a:extLst>
              <a:ext uri="{FF2B5EF4-FFF2-40B4-BE49-F238E27FC236}">
                <a16:creationId xmlns:a16="http://schemas.microsoft.com/office/drawing/2014/main" id="{A8B468A8-9369-610B-E0AB-5899752DDADE}"/>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688717" y="3752693"/>
            <a:ext cx="3010990" cy="1563398"/>
          </a:xfrm>
          <a:prstGeom prst="rect">
            <a:avLst/>
          </a:prstGeom>
          <a:effectLst>
            <a:outerShdw blurRad="317500" sx="102000" sy="102000" algn="ctr" rotWithShape="0">
              <a:srgbClr val="C29524">
                <a:alpha val="50000"/>
              </a:srgbClr>
            </a:outerShdw>
          </a:effectLst>
        </p:spPr>
      </p:pic>
      <p:sp>
        <p:nvSpPr>
          <p:cNvPr id="83" name="Oval 82">
            <a:extLst>
              <a:ext uri="{FF2B5EF4-FFF2-40B4-BE49-F238E27FC236}">
                <a16:creationId xmlns:a16="http://schemas.microsoft.com/office/drawing/2014/main" id="{EEF4592B-28F1-FAC0-3BF1-89BBF9C1508D}"/>
              </a:ext>
            </a:extLst>
          </p:cNvPr>
          <p:cNvSpPr/>
          <p:nvPr/>
        </p:nvSpPr>
        <p:spPr>
          <a:xfrm>
            <a:off x="9409706" y="393793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Oval 83">
            <a:extLst>
              <a:ext uri="{FF2B5EF4-FFF2-40B4-BE49-F238E27FC236}">
                <a16:creationId xmlns:a16="http://schemas.microsoft.com/office/drawing/2014/main" id="{66DF5D4C-6A95-24AB-27C9-BD2D04CDFE46}"/>
              </a:ext>
            </a:extLst>
          </p:cNvPr>
          <p:cNvSpPr/>
          <p:nvPr/>
        </p:nvSpPr>
        <p:spPr>
          <a:xfrm>
            <a:off x="9172538" y="478299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5" name="Straight Arrow Connector 84">
            <a:extLst>
              <a:ext uri="{FF2B5EF4-FFF2-40B4-BE49-F238E27FC236}">
                <a16:creationId xmlns:a16="http://schemas.microsoft.com/office/drawing/2014/main" id="{B1E55587-B8B1-78A3-8168-B00078B91614}"/>
              </a:ext>
            </a:extLst>
          </p:cNvPr>
          <p:cNvCxnSpPr>
            <a:cxnSpLocks/>
          </p:cNvCxnSpPr>
          <p:nvPr/>
        </p:nvCxnSpPr>
        <p:spPr>
          <a:xfrm flipV="1">
            <a:off x="9349732" y="393353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86FDA223-6D8C-DDFC-CDC2-2692A1673241}"/>
              </a:ext>
            </a:extLst>
          </p:cNvPr>
          <p:cNvCxnSpPr>
            <a:cxnSpLocks/>
          </p:cNvCxnSpPr>
          <p:nvPr/>
        </p:nvCxnSpPr>
        <p:spPr>
          <a:xfrm>
            <a:off x="9273676" y="4497110"/>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87" name="Rectangle: Rounded Corners 86">
            <a:extLst>
              <a:ext uri="{FF2B5EF4-FFF2-40B4-BE49-F238E27FC236}">
                <a16:creationId xmlns:a16="http://schemas.microsoft.com/office/drawing/2014/main" id="{6DB654A6-0D6F-A184-452B-B850023E836A}"/>
              </a:ext>
            </a:extLst>
          </p:cNvPr>
          <p:cNvSpPr/>
          <p:nvPr/>
        </p:nvSpPr>
        <p:spPr>
          <a:xfrm>
            <a:off x="6264364" y="554487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We also checked our movement volume across 2025. Our warehouses recorded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1.22M</a:t>
            </a:r>
            <a:r>
              <a:rPr lang="en-US" sz="800" b="1" dirty="0">
                <a:solidFill>
                  <a:srgbClr val="896919"/>
                </a:solidFill>
                <a:latin typeface="Segoe UI Semibold" panose="020B0702040204020203" pitchFamily="34" charset="0"/>
                <a:cs typeface="Segoe UI Semibold" panose="020B0702040204020203" pitchFamily="34" charset="0"/>
              </a:rPr>
              <a:t> total movement records, distributed into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475,060</a:t>
            </a:r>
            <a:r>
              <a:rPr lang="en-US" sz="800" b="1" dirty="0">
                <a:solidFill>
                  <a:srgbClr val="896919"/>
                </a:solidFill>
                <a:latin typeface="Segoe UI Semibold" panose="020B0702040204020203" pitchFamily="34" charset="0"/>
                <a:cs typeface="Segoe UI Semibold" panose="020B0702040204020203" pitchFamily="34" charset="0"/>
              </a:rPr>
              <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OUT</a:t>
            </a:r>
            <a:r>
              <a:rPr lang="en-US" sz="800" b="1" dirty="0">
                <a:solidFill>
                  <a:srgbClr val="896919"/>
                </a:solidFill>
                <a:latin typeface="Segoe UI Semibold" panose="020B0702040204020203" pitchFamily="34" charset="0"/>
                <a:cs typeface="Segoe UI Semibold" panose="020B0702040204020203" pitchFamily="34" charset="0"/>
              </a:rPr>
              <a:t> Movement, and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746,407 IN</a:t>
            </a:r>
            <a:r>
              <a:rPr lang="en-US" sz="800" b="1" dirty="0">
                <a:solidFill>
                  <a:srgbClr val="896919"/>
                </a:solidFill>
                <a:latin typeface="Segoe UI Semibold" panose="020B0702040204020203" pitchFamily="34" charset="0"/>
                <a:cs typeface="Segoe UI Semibold" panose="020B0702040204020203" pitchFamily="34" charset="0"/>
              </a:rPr>
              <a:t> Movements. We need to get more sales!</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88" name="Rectangle: Rounded Corners 87">
            <a:extLst>
              <a:ext uri="{FF2B5EF4-FFF2-40B4-BE49-F238E27FC236}">
                <a16:creationId xmlns:a16="http://schemas.microsoft.com/office/drawing/2014/main" id="{881D9FA6-B08F-1D66-F32D-3ED1BDF808FC}"/>
              </a:ext>
            </a:extLst>
          </p:cNvPr>
          <p:cNvSpPr/>
          <p:nvPr/>
        </p:nvSpPr>
        <p:spPr>
          <a:xfrm>
            <a:off x="8232355" y="5544874"/>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r>
              <a:rPr lang="en-US" sz="800" b="1" dirty="0">
                <a:solidFill>
                  <a:srgbClr val="896919"/>
                </a:solidFill>
                <a:latin typeface="Segoe UI Semibold" panose="020B0702040204020203" pitchFamily="34" charset="0"/>
                <a:cs typeface="Segoe UI Semibold" panose="020B0702040204020203" pitchFamily="34" charset="0"/>
              </a:rPr>
              <a:t>Distributing movement volume over time reveals our movement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February </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were the bottom, recording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83,325</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and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81,145</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movements respectively, and most of them were reorders. W</a:t>
            </a:r>
            <a:r>
              <a:rPr lang="en-US" sz="800" b="1" dirty="0">
                <a:solidFill>
                  <a:srgbClr val="896919"/>
                </a:solidFill>
                <a:latin typeface="Segoe UI Semibold" panose="020B0702040204020203" pitchFamily="34" charset="0"/>
                <a:cs typeface="Segoe UI Semibold" panose="020B0702040204020203" pitchFamily="34" charset="0"/>
              </a:rPr>
              <a:t>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800" b="1" dirty="0">
                <a:solidFill>
                  <a:srgbClr val="896919"/>
                </a:solidFill>
                <a:latin typeface="Segoe UI Semibold" panose="020B0702040204020203" pitchFamily="34" charset="0"/>
                <a:cs typeface="Segoe UI Semibold" panose="020B0702040204020203" pitchFamily="34" charset="0"/>
              </a:rPr>
              <a:t> comes with the rise, recording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107,861 </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movements and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August </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as the peak, recording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108,426</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movements</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the beginning of year is full of holidays and vacations, and customer behavior as well affects our procurement behaviors. </a:t>
            </a:r>
          </a:p>
        </p:txBody>
      </p:sp>
      <p:sp>
        <p:nvSpPr>
          <p:cNvPr id="89" name="Rectangle: Rounded Corners 88">
            <a:extLst>
              <a:ext uri="{FF2B5EF4-FFF2-40B4-BE49-F238E27FC236}">
                <a16:creationId xmlns:a16="http://schemas.microsoft.com/office/drawing/2014/main" id="{E3E49C29-10E6-8014-600C-6A97E25D1EE5}"/>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r>
              <a:rPr lang="en-US" sz="900" b="1" dirty="0">
                <a:solidFill>
                  <a:srgbClr val="896919"/>
                </a:solidFill>
                <a:latin typeface="Segoe UI Semibold" panose="020B0702040204020203" pitchFamily="34" charset="0"/>
                <a:cs typeface="Segoe UI Semibold" panose="020B0702040204020203" pitchFamily="34" charset="0"/>
              </a:rPr>
              <a:t>Looking into our end of year Inventory Stock &amp; Value per Warehouse, we found that </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Cairo, Brussels, and New York warehouses are over utilized </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compared to Singapore &amp; Mumbai. </a:t>
            </a:r>
            <a:b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b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Cairo</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recorded </a:t>
            </a:r>
            <a:r>
              <a:rPr lang="en-US" sz="9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94.33%</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utilization rate, represented by </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11,320Tons </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worth</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$18.8M</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Brussels</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recorded </a:t>
            </a:r>
            <a:r>
              <a:rPr lang="en-US" sz="9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97.15%</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utilization rate, represented by </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11,524Tons </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worth</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$19.135M</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New York </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recorded </a:t>
            </a:r>
            <a:r>
              <a:rPr lang="en-US" sz="9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103.92%</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utilization rate, represented by </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12,470Tons </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worth</a:t>
            </a:r>
            <a:r>
              <a:rPr lang="en-US" sz="9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$20.662M.</a:t>
            </a:r>
          </a:p>
          <a:p>
            <a:pPr algn="ct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This means that </a:t>
            </a:r>
            <a:r>
              <a:rPr lang="en-US" sz="9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71.56%</a:t>
            </a:r>
            <a:r>
              <a:rPr lang="en-US" sz="9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of production and fulfillment load is centered in Africa, Middle East, Europe, and the Americas </a:t>
            </a:r>
          </a:p>
        </p:txBody>
      </p:sp>
    </p:spTree>
    <p:extLst>
      <p:ext uri="{BB962C8B-B14F-4D97-AF65-F5344CB8AC3E}">
        <p14:creationId xmlns:p14="http://schemas.microsoft.com/office/powerpoint/2010/main" val="4072580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0B350F-AF9F-38A3-DED0-C88CC3FCCD2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84E6743-34B6-F124-0E6A-B64066F9A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5CA6C56-28C9-67A4-AA6C-9F7125492F73}"/>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96D2CA3-DA9C-F89F-4682-FAEC2EDCB4BB}"/>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420BAE34-EA25-3DA7-056F-866071171B3F}"/>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90083736-CDEE-4890-FE52-044F682419B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1E616094-3ED9-8438-CE52-B487CFC8BCAF}"/>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3E7A2CEF-66DD-F90D-DBE0-9ED9298F8F5D}"/>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415423F4-2FF8-83DD-9F2A-40E5A95184D9}"/>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5B63C43-2FAF-B66F-AA79-1C0CCBF4074A}"/>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26684D28-F072-C98F-93F9-951C77698D92}"/>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A8D149A2-6DD0-FB16-CFED-9C627D78F56D}"/>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906D9D1F-BC08-488B-E6C3-C45EEA78588D}"/>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2C307991-D45E-B866-4A21-9B42A0B3C474}"/>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86054B2-CF8C-3F3D-BAF1-F97053079062}"/>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CC4C07AF-37FF-B2BB-6DA0-79E48E443694}"/>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648692C-A2FA-0015-05C3-C4B6C67F5704}"/>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FD7B55F-0CA1-C09F-2A13-63B697369D85}"/>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FB3AACB-D3E7-A93E-20A4-1C570A00A440}"/>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7ABB80E5-65F3-30E0-3179-F801D9526CE6}"/>
              </a:ext>
            </a:extLst>
          </p:cNvPr>
          <p:cNvGrpSpPr/>
          <p:nvPr/>
        </p:nvGrpSpPr>
        <p:grpSpPr>
          <a:xfrm>
            <a:off x="3171008" y="8156484"/>
            <a:ext cx="3084649" cy="5234023"/>
            <a:chOff x="3171008" y="1372226"/>
            <a:chExt cx="3084649" cy="5234023"/>
          </a:xfrm>
        </p:grpSpPr>
        <p:sp>
          <p:nvSpPr>
            <p:cNvPr id="101" name="TextBox 100">
              <a:extLst>
                <a:ext uri="{FF2B5EF4-FFF2-40B4-BE49-F238E27FC236}">
                  <a16:creationId xmlns:a16="http://schemas.microsoft.com/office/drawing/2014/main" id="{2AB00F9C-7A57-41B5-A4FE-FAE1A0E4193F}"/>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Customers dealing with CocoaLand</a:t>
              </a:r>
            </a:p>
          </p:txBody>
        </p:sp>
        <p:sp>
          <p:nvSpPr>
            <p:cNvPr id="103" name="TextBox 102">
              <a:extLst>
                <a:ext uri="{FF2B5EF4-FFF2-40B4-BE49-F238E27FC236}">
                  <a16:creationId xmlns:a16="http://schemas.microsoft.com/office/drawing/2014/main" id="{8FB32CEC-CEAD-B3E7-D611-EECDF81DB79C}"/>
                </a:ext>
              </a:extLst>
            </p:cNvPr>
            <p:cNvSpPr txBox="1"/>
            <p:nvPr/>
          </p:nvSpPr>
          <p:spPr>
            <a:xfrm>
              <a:off x="3171011" y="228560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Number of Sales Orders across 2025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1E6F0897-0C02-412A-184D-BEC1732801F7}"/>
                </a:ext>
              </a:extLst>
            </p:cNvPr>
            <p:cNvSpPr txBox="1"/>
            <p:nvPr/>
          </p:nvSpPr>
          <p:spPr>
            <a:xfrm>
              <a:off x="3171010" y="3178631"/>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Delivery in full &amp; on time rate between CocoaLand and it’s customers, 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85% - 98%</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7" name="TextBox 106">
              <a:extLst>
                <a:ext uri="{FF2B5EF4-FFF2-40B4-BE49-F238E27FC236}">
                  <a16:creationId xmlns:a16="http://schemas.microsoft.com/office/drawing/2014/main" id="{9B74437E-0B6A-E8E0-4639-7BA48671DD9C}"/>
                </a:ext>
              </a:extLst>
            </p:cNvPr>
            <p:cNvSpPr txBox="1"/>
            <p:nvPr/>
          </p:nvSpPr>
          <p:spPr>
            <a:xfrm>
              <a:off x="3171010" y="4124245"/>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Fill Rate % describes the fulfillment rate of sales orders in general,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97% - 99%</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99EAB060-2CA7-D712-7991-FAE1CF8EBB4C}"/>
                </a:ext>
              </a:extLst>
            </p:cNvPr>
            <p:cNvSpPr txBox="1"/>
            <p:nvPr/>
          </p:nvSpPr>
          <p:spPr>
            <a:xfrm>
              <a:off x="3171009" y="504112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Sales Orders per inventory turnover</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84439A48-E429-DBB6-6F8A-39EA609F8586}"/>
                </a:ext>
              </a:extLst>
            </p:cNvPr>
            <p:cNvSpPr txBox="1"/>
            <p:nvPr/>
          </p:nvSpPr>
          <p:spPr>
            <a:xfrm>
              <a:off x="3171008" y="5929141"/>
              <a:ext cx="3084649"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Fulfillment Days describes how many days do we take on average to deliver a sales order,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20% - 21.50%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13" name="Picture 112">
            <a:extLst>
              <a:ext uri="{FF2B5EF4-FFF2-40B4-BE49-F238E27FC236}">
                <a16:creationId xmlns:a16="http://schemas.microsoft.com/office/drawing/2014/main" id="{D6009332-E3E7-1D1C-FDF2-BB8000CDEFB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142621"/>
            <a:ext cx="2488888" cy="1289423"/>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DC250D3B-A011-155B-D7DD-1071C411D4E5}"/>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197658" y="8406903"/>
            <a:ext cx="1856056" cy="1267067"/>
          </a:xfrm>
          <a:prstGeom prst="rect">
            <a:avLst/>
          </a:prstGeom>
          <a:effectLst>
            <a:outerShdw blurRad="317500" sx="102000" sy="102000" algn="ctr" rotWithShape="0">
              <a:srgbClr val="C29524">
                <a:alpha val="50000"/>
              </a:srgbClr>
            </a:outerShdw>
          </a:effectLst>
        </p:spPr>
      </p:pic>
      <p:sp>
        <p:nvSpPr>
          <p:cNvPr id="124" name="Rectangle 123">
            <a:extLst>
              <a:ext uri="{FF2B5EF4-FFF2-40B4-BE49-F238E27FC236}">
                <a16:creationId xmlns:a16="http://schemas.microsoft.com/office/drawing/2014/main" id="{2A767CC7-F666-95DB-781E-8B79E37F6F8A}"/>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44820A5E-DBC4-CB10-955C-E09359B57E0F}"/>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C15CFDCB-CB6A-D954-632F-93FF1C7F0E23}"/>
              </a:ext>
            </a:extLst>
          </p:cNvPr>
          <p:cNvSpPr/>
          <p:nvPr/>
        </p:nvSpPr>
        <p:spPr>
          <a:xfrm>
            <a:off x="13467639" y="17905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84765893-0FA4-B906-5217-73AF0F34620E}"/>
              </a:ext>
            </a:extLst>
          </p:cNvPr>
          <p:cNvSpPr/>
          <p:nvPr/>
        </p:nvSpPr>
        <p:spPr>
          <a:xfrm>
            <a:off x="13142098" y="14817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2ACBDF3F-8637-56AA-6B7B-84779A662913}"/>
              </a:ext>
            </a:extLst>
          </p:cNvPr>
          <p:cNvGrpSpPr/>
          <p:nvPr/>
        </p:nvGrpSpPr>
        <p:grpSpPr>
          <a:xfrm>
            <a:off x="-4032609" y="1230331"/>
            <a:ext cx="1970636" cy="5332610"/>
            <a:chOff x="273095" y="1230331"/>
            <a:chExt cx="1970636" cy="5332610"/>
          </a:xfrm>
        </p:grpSpPr>
        <p:sp>
          <p:nvSpPr>
            <p:cNvPr id="17" name="Rectangle: Rounded Corners 16">
              <a:extLst>
                <a:ext uri="{FF2B5EF4-FFF2-40B4-BE49-F238E27FC236}">
                  <a16:creationId xmlns:a16="http://schemas.microsoft.com/office/drawing/2014/main" id="{10F697FB-DE76-2D27-20AA-3EC731D6327E}"/>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Customers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8" name="Rectangle: Rounded Corners 17">
              <a:extLst>
                <a:ext uri="{FF2B5EF4-FFF2-40B4-BE49-F238E27FC236}">
                  <a16:creationId xmlns:a16="http://schemas.microsoft.com/office/drawing/2014/main" id="{5A8C59FC-6CF3-043E-0452-0F21C32EC8DE}"/>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Sales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9" name="Rectangle: Rounded Corners 18">
              <a:extLst>
                <a:ext uri="{FF2B5EF4-FFF2-40B4-BE49-F238E27FC236}">
                  <a16:creationId xmlns:a16="http://schemas.microsoft.com/office/drawing/2014/main" id="{B27E284F-4EBD-BF27-F00C-43E9971A8C97}"/>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DIFOT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0" name="Rectangle: Rounded Corners 19">
              <a:extLst>
                <a:ext uri="{FF2B5EF4-FFF2-40B4-BE49-F238E27FC236}">
                  <a16:creationId xmlns:a16="http://schemas.microsoft.com/office/drawing/2014/main" id="{C53458B4-172C-21A7-BC0E-64A4E9ABF32A}"/>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Fill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1" name="Rectangle: Rounded Corners 20">
              <a:extLst>
                <a:ext uri="{FF2B5EF4-FFF2-40B4-BE49-F238E27FC236}">
                  <a16:creationId xmlns:a16="http://schemas.microsoft.com/office/drawing/2014/main" id="{4C79C50B-1AE0-C767-7E29-AFF67E6024E4}"/>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Orders per Turn</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2" name="Rectangle: Rounded Corners 21">
              <a:extLst>
                <a:ext uri="{FF2B5EF4-FFF2-40B4-BE49-F238E27FC236}">
                  <a16:creationId xmlns:a16="http://schemas.microsoft.com/office/drawing/2014/main" id="{689F15C9-0815-2BF0-6CF3-60A17BE35904}"/>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Fulfillment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3" name="TextBox 22">
              <a:extLst>
                <a:ext uri="{FF2B5EF4-FFF2-40B4-BE49-F238E27FC236}">
                  <a16:creationId xmlns:a16="http://schemas.microsoft.com/office/drawing/2014/main" id="{DB9ABA58-CBD6-DC60-79E3-64BEA76CF187}"/>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50K</a:t>
              </a:r>
            </a:p>
          </p:txBody>
        </p:sp>
        <p:sp>
          <p:nvSpPr>
            <p:cNvPr id="24" name="TextBox 23">
              <a:extLst>
                <a:ext uri="{FF2B5EF4-FFF2-40B4-BE49-F238E27FC236}">
                  <a16:creationId xmlns:a16="http://schemas.microsoft.com/office/drawing/2014/main" id="{280A52E9-8FED-575F-82EA-E42B2C202A8D}"/>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500k</a:t>
              </a:r>
            </a:p>
          </p:txBody>
        </p:sp>
        <p:sp>
          <p:nvSpPr>
            <p:cNvPr id="25" name="TextBox 24">
              <a:extLst>
                <a:ext uri="{FF2B5EF4-FFF2-40B4-BE49-F238E27FC236}">
                  <a16:creationId xmlns:a16="http://schemas.microsoft.com/office/drawing/2014/main" id="{03EB31F6-BF8A-CABC-5090-6023A220D87F}"/>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solidFill>
                    <a:srgbClr val="FF0000"/>
                  </a:solidFill>
                </a:rPr>
                <a:t>75.13%</a:t>
              </a:r>
            </a:p>
          </p:txBody>
        </p:sp>
        <p:sp>
          <p:nvSpPr>
            <p:cNvPr id="26" name="TextBox 25">
              <a:extLst>
                <a:ext uri="{FF2B5EF4-FFF2-40B4-BE49-F238E27FC236}">
                  <a16:creationId xmlns:a16="http://schemas.microsoft.com/office/drawing/2014/main" id="{F24CDBBF-37AB-DAE8-FA36-5C4AB9834C51}"/>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95.01%</a:t>
              </a:r>
            </a:p>
          </p:txBody>
        </p:sp>
        <p:sp>
          <p:nvSpPr>
            <p:cNvPr id="27" name="TextBox 26">
              <a:extLst>
                <a:ext uri="{FF2B5EF4-FFF2-40B4-BE49-F238E27FC236}">
                  <a16:creationId xmlns:a16="http://schemas.microsoft.com/office/drawing/2014/main" id="{8523DF60-0FD5-9F32-00F8-08F0F0D8E15E}"/>
                </a:ext>
              </a:extLst>
            </p:cNvPr>
            <p:cNvSpPr txBox="1"/>
            <p:nvPr/>
          </p:nvSpPr>
          <p:spPr>
            <a:xfrm>
              <a:off x="586901" y="5243561"/>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39.56K</a:t>
              </a:r>
            </a:p>
          </p:txBody>
        </p:sp>
        <p:sp>
          <p:nvSpPr>
            <p:cNvPr id="28" name="TextBox 27">
              <a:extLst>
                <a:ext uri="{FF2B5EF4-FFF2-40B4-BE49-F238E27FC236}">
                  <a16:creationId xmlns:a16="http://schemas.microsoft.com/office/drawing/2014/main" id="{0791D67A-87D1-E3B7-0C28-4E254C12EF04}"/>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23.63</a:t>
              </a:r>
            </a:p>
          </p:txBody>
        </p:sp>
      </p:grpSp>
      <p:pic>
        <p:nvPicPr>
          <p:cNvPr id="35" name="Picture 34">
            <a:extLst>
              <a:ext uri="{FF2B5EF4-FFF2-40B4-BE49-F238E27FC236}">
                <a16:creationId xmlns:a16="http://schemas.microsoft.com/office/drawing/2014/main" id="{BF8B1329-A0C7-E50E-EE7F-5873B5B8254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890239" y="8110572"/>
            <a:ext cx="2819242" cy="1563398"/>
          </a:xfrm>
          <a:prstGeom prst="rect">
            <a:avLst/>
          </a:prstGeom>
          <a:effectLst>
            <a:outerShdw blurRad="317500" sx="102000" sy="102000" algn="ctr" rotWithShape="0">
              <a:srgbClr val="C29524">
                <a:alpha val="50000"/>
              </a:srgbClr>
            </a:outerShdw>
          </a:effectLst>
        </p:spPr>
      </p:pic>
      <p:sp>
        <p:nvSpPr>
          <p:cNvPr id="37" name="Oval 36">
            <a:extLst>
              <a:ext uri="{FF2B5EF4-FFF2-40B4-BE49-F238E27FC236}">
                <a16:creationId xmlns:a16="http://schemas.microsoft.com/office/drawing/2014/main" id="{C6F8F298-B3BF-A5E9-D006-9B164467F84A}"/>
              </a:ext>
            </a:extLst>
          </p:cNvPr>
          <p:cNvSpPr/>
          <p:nvPr/>
        </p:nvSpPr>
        <p:spPr>
          <a:xfrm>
            <a:off x="12515354" y="828879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3F7E0284-CA2E-CCF8-6E3A-45C9AB62A1F8}"/>
              </a:ext>
            </a:extLst>
          </p:cNvPr>
          <p:cNvSpPr/>
          <p:nvPr/>
        </p:nvSpPr>
        <p:spPr>
          <a:xfrm>
            <a:off x="12278186" y="9146558"/>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9CCC1196-9A6B-3F14-CF70-D538C8594F6A}"/>
              </a:ext>
            </a:extLst>
          </p:cNvPr>
          <p:cNvCxnSpPr>
            <a:cxnSpLocks/>
          </p:cNvCxnSpPr>
          <p:nvPr/>
        </p:nvCxnSpPr>
        <p:spPr>
          <a:xfrm flipV="1">
            <a:off x="7619048" y="8406903"/>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4CE7AD39-977E-A40B-AFF8-B05E57B7524E}"/>
              </a:ext>
            </a:extLst>
          </p:cNvPr>
          <p:cNvCxnSpPr>
            <a:cxnSpLocks/>
          </p:cNvCxnSpPr>
          <p:nvPr/>
        </p:nvCxnSpPr>
        <p:spPr>
          <a:xfrm flipV="1">
            <a:off x="12455380" y="82843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DA788844-C177-4269-1CBE-9B9DB13E377D}"/>
              </a:ext>
            </a:extLst>
          </p:cNvPr>
          <p:cNvCxnSpPr>
            <a:cxnSpLocks/>
          </p:cNvCxnSpPr>
          <p:nvPr/>
        </p:nvCxnSpPr>
        <p:spPr>
          <a:xfrm>
            <a:off x="12372974" y="8847972"/>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F8AF921E-1AF7-11FE-B748-119643045A6B}"/>
              </a:ext>
            </a:extLst>
          </p:cNvPr>
          <p:cNvSpPr/>
          <p:nvPr/>
        </p:nvSpPr>
        <p:spPr>
          <a:xfrm>
            <a:off x="8266100"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58FE7CE4-D215-A242-E220-B163136438B3}"/>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51" name="Rectangle: Rounded Corners 50">
            <a:extLst>
              <a:ext uri="{FF2B5EF4-FFF2-40B4-BE49-F238E27FC236}">
                <a16:creationId xmlns:a16="http://schemas.microsoft.com/office/drawing/2014/main" id="{E12B2CB0-49DD-FF2F-A181-683D270812E7}"/>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4028925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CF0369C-D180-891A-C54A-0B099D1ED08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F20009A-48BF-72FA-D8D6-C5FE98F68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C4E3221F-5FEE-27B8-972C-47DE492EEE5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91704594-02C8-1AB9-B35B-D6873F3E4B7D}"/>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30CE18C5-C0B3-37A5-571F-488BF74BBD09}"/>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5B13FC03-FF6F-9D59-FCB5-2479FB10E4D3}"/>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D2B4CCCA-BF1D-07DB-795F-CA70BAFBE831}"/>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49B4017C-C3D4-2E91-2A7D-880627ADC549}"/>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01F7BB6-DFAE-5394-2D17-DB5FD8D1C209}"/>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4631EC45-EC30-1A33-83BF-D59BB1E26722}"/>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EA3141FC-E229-A6BC-FF6A-014DE1F2972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BD7A785F-163B-8FB9-84F2-7204F67E6BB6}"/>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3AA24096-DA26-7853-45DA-EA91CBF72928}"/>
              </a:ext>
            </a:extLst>
          </p:cNvPr>
          <p:cNvGrpSpPr/>
          <p:nvPr/>
        </p:nvGrpSpPr>
        <p:grpSpPr>
          <a:xfrm>
            <a:off x="-1562125" y="1604426"/>
            <a:ext cx="707325" cy="4566893"/>
            <a:chOff x="2416875" y="1604426"/>
            <a:chExt cx="707325" cy="4566893"/>
          </a:xfrm>
        </p:grpSpPr>
        <p:cxnSp>
          <p:nvCxnSpPr>
            <p:cNvPr id="42" name="Straight Arrow Connector 41">
              <a:extLst>
                <a:ext uri="{FF2B5EF4-FFF2-40B4-BE49-F238E27FC236}">
                  <a16:creationId xmlns:a16="http://schemas.microsoft.com/office/drawing/2014/main" id="{2E6D3EDC-5457-2584-3EB1-09DB11E274D5}"/>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30B3A3B-4FE4-8CE3-FC25-1709470A10E8}"/>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8C53C13-76AA-D42D-5885-B1EF2DEAA1CF}"/>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C15F921-7EEB-DA59-21E8-F49357A5C1EA}"/>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42923D1-C924-0708-BACA-7B0785096356}"/>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0BB780C-2F33-9D06-ECE1-4D0FFF35823E}"/>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A6B2B12F-16F1-9620-34ED-48755C7516A3}"/>
              </a:ext>
            </a:extLst>
          </p:cNvPr>
          <p:cNvGrpSpPr/>
          <p:nvPr/>
        </p:nvGrpSpPr>
        <p:grpSpPr>
          <a:xfrm>
            <a:off x="343448" y="1230331"/>
            <a:ext cx="1970636" cy="5332610"/>
            <a:chOff x="273095" y="1230331"/>
            <a:chExt cx="1970636" cy="5332610"/>
          </a:xfrm>
        </p:grpSpPr>
        <p:sp>
          <p:nvSpPr>
            <p:cNvPr id="67" name="Rectangle: Rounded Corners 66">
              <a:extLst>
                <a:ext uri="{FF2B5EF4-FFF2-40B4-BE49-F238E27FC236}">
                  <a16:creationId xmlns:a16="http://schemas.microsoft.com/office/drawing/2014/main" id="{6058177D-C9C5-7B28-0E8A-C330E216FBC2}"/>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Customers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84660410-125A-2D71-BED8-619012C989C2}"/>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Sales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9" name="Rectangle: Rounded Corners 68">
              <a:extLst>
                <a:ext uri="{FF2B5EF4-FFF2-40B4-BE49-F238E27FC236}">
                  <a16:creationId xmlns:a16="http://schemas.microsoft.com/office/drawing/2014/main" id="{077BB08D-E3A4-839D-67DB-FB9408CB93BE}"/>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DIFOT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7D51312C-2FAA-3933-6D4B-07F5B3F2B0DB}"/>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Fill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1" name="Rectangle: Rounded Corners 70">
              <a:extLst>
                <a:ext uri="{FF2B5EF4-FFF2-40B4-BE49-F238E27FC236}">
                  <a16:creationId xmlns:a16="http://schemas.microsoft.com/office/drawing/2014/main" id="{FBC1007B-B79F-5010-9A5E-B0E45E00B0AF}"/>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Orders per Turn</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9DC5FE3A-6370-B15C-68CC-8475F52B8A4C}"/>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Fulfillment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3" name="TextBox 72">
              <a:extLst>
                <a:ext uri="{FF2B5EF4-FFF2-40B4-BE49-F238E27FC236}">
                  <a16:creationId xmlns:a16="http://schemas.microsoft.com/office/drawing/2014/main" id="{6FA15C7D-ADE1-7F5E-7EB7-F7C3130FBEC9}"/>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50K</a:t>
              </a:r>
            </a:p>
          </p:txBody>
        </p:sp>
        <p:sp>
          <p:nvSpPr>
            <p:cNvPr id="74" name="TextBox 73">
              <a:extLst>
                <a:ext uri="{FF2B5EF4-FFF2-40B4-BE49-F238E27FC236}">
                  <a16:creationId xmlns:a16="http://schemas.microsoft.com/office/drawing/2014/main" id="{1AA38048-EDD5-3E26-2E59-ECBB4A9FBA62}"/>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500k</a:t>
              </a:r>
            </a:p>
          </p:txBody>
        </p:sp>
        <p:sp>
          <p:nvSpPr>
            <p:cNvPr id="75" name="TextBox 74">
              <a:extLst>
                <a:ext uri="{FF2B5EF4-FFF2-40B4-BE49-F238E27FC236}">
                  <a16:creationId xmlns:a16="http://schemas.microsoft.com/office/drawing/2014/main" id="{DA999E06-3994-F4AA-6EFE-2DD2A0717472}"/>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solidFill>
                    <a:srgbClr val="FF0000"/>
                  </a:solidFill>
                </a:rPr>
                <a:t>75.13%</a:t>
              </a:r>
            </a:p>
          </p:txBody>
        </p:sp>
        <p:sp>
          <p:nvSpPr>
            <p:cNvPr id="76" name="TextBox 75">
              <a:extLst>
                <a:ext uri="{FF2B5EF4-FFF2-40B4-BE49-F238E27FC236}">
                  <a16:creationId xmlns:a16="http://schemas.microsoft.com/office/drawing/2014/main" id="{73B2EC39-56D0-C3F9-C171-3DB2D1272D28}"/>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95.01%</a:t>
              </a:r>
            </a:p>
          </p:txBody>
        </p:sp>
        <p:sp>
          <p:nvSpPr>
            <p:cNvPr id="77" name="TextBox 76">
              <a:extLst>
                <a:ext uri="{FF2B5EF4-FFF2-40B4-BE49-F238E27FC236}">
                  <a16:creationId xmlns:a16="http://schemas.microsoft.com/office/drawing/2014/main" id="{2163B53F-D72B-2284-0450-69737FFCCDBB}"/>
                </a:ext>
              </a:extLst>
            </p:cNvPr>
            <p:cNvSpPr txBox="1"/>
            <p:nvPr/>
          </p:nvSpPr>
          <p:spPr>
            <a:xfrm>
              <a:off x="586901" y="5243561"/>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39.56K</a:t>
              </a:r>
            </a:p>
          </p:txBody>
        </p:sp>
        <p:sp>
          <p:nvSpPr>
            <p:cNvPr id="78" name="TextBox 77">
              <a:extLst>
                <a:ext uri="{FF2B5EF4-FFF2-40B4-BE49-F238E27FC236}">
                  <a16:creationId xmlns:a16="http://schemas.microsoft.com/office/drawing/2014/main" id="{AAE6FACC-30E3-BDF1-4DA1-1298871AA8D6}"/>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23.63</a:t>
              </a:r>
            </a:p>
          </p:txBody>
        </p:sp>
      </p:grpSp>
      <p:grpSp>
        <p:nvGrpSpPr>
          <p:cNvPr id="79" name="Group 78">
            <a:extLst>
              <a:ext uri="{FF2B5EF4-FFF2-40B4-BE49-F238E27FC236}">
                <a16:creationId xmlns:a16="http://schemas.microsoft.com/office/drawing/2014/main" id="{69FE6EC1-AB93-F522-787C-AE9360AB1D10}"/>
              </a:ext>
            </a:extLst>
          </p:cNvPr>
          <p:cNvGrpSpPr/>
          <p:nvPr/>
        </p:nvGrpSpPr>
        <p:grpSpPr>
          <a:xfrm>
            <a:off x="3171008" y="8156484"/>
            <a:ext cx="3084649" cy="5234023"/>
            <a:chOff x="3171008" y="1372226"/>
            <a:chExt cx="3084649" cy="5234023"/>
          </a:xfrm>
        </p:grpSpPr>
        <p:sp>
          <p:nvSpPr>
            <p:cNvPr id="80" name="TextBox 79">
              <a:extLst>
                <a:ext uri="{FF2B5EF4-FFF2-40B4-BE49-F238E27FC236}">
                  <a16:creationId xmlns:a16="http://schemas.microsoft.com/office/drawing/2014/main" id="{BAC50803-E77C-1802-19B1-D6517F9897B3}"/>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Customers dealing with CocoaLand</a:t>
              </a:r>
            </a:p>
          </p:txBody>
        </p:sp>
        <p:sp>
          <p:nvSpPr>
            <p:cNvPr id="81" name="TextBox 80">
              <a:extLst>
                <a:ext uri="{FF2B5EF4-FFF2-40B4-BE49-F238E27FC236}">
                  <a16:creationId xmlns:a16="http://schemas.microsoft.com/office/drawing/2014/main" id="{04DDA319-8A18-87CD-AD38-BA9620E87715}"/>
                </a:ext>
              </a:extLst>
            </p:cNvPr>
            <p:cNvSpPr txBox="1"/>
            <p:nvPr/>
          </p:nvSpPr>
          <p:spPr>
            <a:xfrm>
              <a:off x="3171011" y="228560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Number of Sales Orders across 2025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82" name="TextBox 81">
              <a:extLst>
                <a:ext uri="{FF2B5EF4-FFF2-40B4-BE49-F238E27FC236}">
                  <a16:creationId xmlns:a16="http://schemas.microsoft.com/office/drawing/2014/main" id="{D2BAE0BB-38D3-6C55-B7BE-AE800FBBD037}"/>
                </a:ext>
              </a:extLst>
            </p:cNvPr>
            <p:cNvSpPr txBox="1"/>
            <p:nvPr/>
          </p:nvSpPr>
          <p:spPr>
            <a:xfrm>
              <a:off x="3171010" y="3178631"/>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Delivery in full &amp; on time rate between CocoaLand and it’s customers, 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85% - 98%</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83" name="TextBox 82">
              <a:extLst>
                <a:ext uri="{FF2B5EF4-FFF2-40B4-BE49-F238E27FC236}">
                  <a16:creationId xmlns:a16="http://schemas.microsoft.com/office/drawing/2014/main" id="{7BA56215-7386-C894-6BC4-20B21A327F97}"/>
                </a:ext>
              </a:extLst>
            </p:cNvPr>
            <p:cNvSpPr txBox="1"/>
            <p:nvPr/>
          </p:nvSpPr>
          <p:spPr>
            <a:xfrm>
              <a:off x="3171010" y="4124245"/>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Fill Rate % describes the fulfillment rate of sales orders in general,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97% - 99%</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84" name="TextBox 83">
              <a:extLst>
                <a:ext uri="{FF2B5EF4-FFF2-40B4-BE49-F238E27FC236}">
                  <a16:creationId xmlns:a16="http://schemas.microsoft.com/office/drawing/2014/main" id="{1AB06AB2-15A3-0E6E-CE94-92B11728D708}"/>
                </a:ext>
              </a:extLst>
            </p:cNvPr>
            <p:cNvSpPr txBox="1"/>
            <p:nvPr/>
          </p:nvSpPr>
          <p:spPr>
            <a:xfrm>
              <a:off x="3171009" y="504112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Sales Orders per inventory turnover</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85" name="TextBox 84">
              <a:extLst>
                <a:ext uri="{FF2B5EF4-FFF2-40B4-BE49-F238E27FC236}">
                  <a16:creationId xmlns:a16="http://schemas.microsoft.com/office/drawing/2014/main" id="{A512BE3E-F930-A4BE-AC32-FDD344CAB9B2}"/>
                </a:ext>
              </a:extLst>
            </p:cNvPr>
            <p:cNvSpPr txBox="1"/>
            <p:nvPr/>
          </p:nvSpPr>
          <p:spPr>
            <a:xfrm>
              <a:off x="3171008" y="5929141"/>
              <a:ext cx="3084649"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Fulfillment Days describes how many days do we take on average to deliver a sales order,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20% - 21.50%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03" name="Picture 102">
            <a:extLst>
              <a:ext uri="{FF2B5EF4-FFF2-40B4-BE49-F238E27FC236}">
                <a16:creationId xmlns:a16="http://schemas.microsoft.com/office/drawing/2014/main" id="{F65C4BF3-313E-8A39-B288-44B5B705508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579662" y="1142621"/>
            <a:ext cx="2488888" cy="1289423"/>
          </a:xfrm>
          <a:prstGeom prst="rect">
            <a:avLst/>
          </a:prstGeom>
          <a:effectLst>
            <a:outerShdw blurRad="317500" sx="102000" sy="102000" algn="ctr" rotWithShape="0">
              <a:srgbClr val="C29524">
                <a:alpha val="50000"/>
              </a:srgbClr>
            </a:outerShdw>
          </a:effectLst>
        </p:spPr>
      </p:pic>
      <p:pic>
        <p:nvPicPr>
          <p:cNvPr id="105" name="Picture 104">
            <a:extLst>
              <a:ext uri="{FF2B5EF4-FFF2-40B4-BE49-F238E27FC236}">
                <a16:creationId xmlns:a16="http://schemas.microsoft.com/office/drawing/2014/main" id="{A55DFCE2-A6B0-D009-BAA2-C13D144B12C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197658" y="8406903"/>
            <a:ext cx="1856056" cy="1267067"/>
          </a:xfrm>
          <a:prstGeom prst="rect">
            <a:avLst/>
          </a:prstGeom>
          <a:effectLst>
            <a:outerShdw blurRad="317500" sx="102000" sy="102000" algn="ctr" rotWithShape="0">
              <a:srgbClr val="C29524">
                <a:alpha val="50000"/>
              </a:srgbClr>
            </a:outerShdw>
          </a:effectLst>
        </p:spPr>
      </p:pic>
      <p:sp>
        <p:nvSpPr>
          <p:cNvPr id="107" name="Oval 106">
            <a:extLst>
              <a:ext uri="{FF2B5EF4-FFF2-40B4-BE49-F238E27FC236}">
                <a16:creationId xmlns:a16="http://schemas.microsoft.com/office/drawing/2014/main" id="{0626D259-42FD-19C7-C113-5360BB5BA24C}"/>
              </a:ext>
            </a:extLst>
          </p:cNvPr>
          <p:cNvSpPr/>
          <p:nvPr/>
        </p:nvSpPr>
        <p:spPr>
          <a:xfrm>
            <a:off x="13467639" y="17905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Oval 108">
            <a:extLst>
              <a:ext uri="{FF2B5EF4-FFF2-40B4-BE49-F238E27FC236}">
                <a16:creationId xmlns:a16="http://schemas.microsoft.com/office/drawing/2014/main" id="{68CDC440-A46D-2DAF-CAD7-5711642CED93}"/>
              </a:ext>
            </a:extLst>
          </p:cNvPr>
          <p:cNvSpPr/>
          <p:nvPr/>
        </p:nvSpPr>
        <p:spPr>
          <a:xfrm>
            <a:off x="13142098" y="14817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Picture 110">
            <a:extLst>
              <a:ext uri="{FF2B5EF4-FFF2-40B4-BE49-F238E27FC236}">
                <a16:creationId xmlns:a16="http://schemas.microsoft.com/office/drawing/2014/main" id="{AA98BD05-77D6-7E4B-D823-0017E022BFF3}"/>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1890239" y="8110572"/>
            <a:ext cx="2819242" cy="1563398"/>
          </a:xfrm>
          <a:prstGeom prst="rect">
            <a:avLst/>
          </a:prstGeom>
          <a:effectLst>
            <a:outerShdw blurRad="317500" sx="102000" sy="102000" algn="ctr" rotWithShape="0">
              <a:srgbClr val="C29524">
                <a:alpha val="50000"/>
              </a:srgbClr>
            </a:outerShdw>
          </a:effectLst>
        </p:spPr>
      </p:pic>
      <p:sp>
        <p:nvSpPr>
          <p:cNvPr id="114" name="Rectangle: Rounded Corners 113">
            <a:extLst>
              <a:ext uri="{FF2B5EF4-FFF2-40B4-BE49-F238E27FC236}">
                <a16:creationId xmlns:a16="http://schemas.microsoft.com/office/drawing/2014/main" id="{9971E55E-8D06-9979-B2A2-7886552905EF}"/>
              </a:ext>
            </a:extLst>
          </p:cNvPr>
          <p:cNvSpPr/>
          <p:nvPr/>
        </p:nvSpPr>
        <p:spPr>
          <a:xfrm>
            <a:off x="8266100" y="98322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17" name="Rectangle: Rounded Corners 116">
            <a:extLst>
              <a:ext uri="{FF2B5EF4-FFF2-40B4-BE49-F238E27FC236}">
                <a16:creationId xmlns:a16="http://schemas.microsoft.com/office/drawing/2014/main" id="{2D0F904F-74A1-CA63-0CF0-B91A942B7DA2}"/>
              </a:ext>
            </a:extLst>
          </p:cNvPr>
          <p:cNvSpPr/>
          <p:nvPr/>
        </p:nvSpPr>
        <p:spPr>
          <a:xfrm>
            <a:off x="11338003" y="98322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120" name="Rectangle: Rounded Corners 119">
            <a:extLst>
              <a:ext uri="{FF2B5EF4-FFF2-40B4-BE49-F238E27FC236}">
                <a16:creationId xmlns:a16="http://schemas.microsoft.com/office/drawing/2014/main" id="{4C08A54C-B51F-DCA9-2894-21771EE92125}"/>
              </a:ext>
            </a:extLst>
          </p:cNvPr>
          <p:cNvSpPr/>
          <p:nvPr/>
        </p:nvSpPr>
        <p:spPr>
          <a:xfrm>
            <a:off x="12455380"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141" name="Straight Arrow Connector 140">
            <a:extLst>
              <a:ext uri="{FF2B5EF4-FFF2-40B4-BE49-F238E27FC236}">
                <a16:creationId xmlns:a16="http://schemas.microsoft.com/office/drawing/2014/main" id="{7406A7D2-8DCC-D3B4-46CE-46B61C4F3AD1}"/>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F35FEBE8-95E2-60B0-AB88-4F384F122C91}"/>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4B7B1C60-10A0-A28F-3B0E-AB6BEF0526A8}"/>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501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1000">
        <p159:morph option="byObject"/>
      </p:transition>
    </mc:Choice>
    <mc:Fallback xmlns="">
      <p:transition spd="slow" advClick="0" advTm="1000">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09E711-7431-6FC0-DE29-587B0C64294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C4F76C3-9B1A-2A8B-959D-CE3951A18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A2C938D-4F90-F2F1-A9E3-702F739B5A0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CFD6E63F-225D-7E20-FFA0-63CF8244C465}"/>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1AD15995-4F21-B3EC-2B8F-A22E353DF7B0}"/>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C7DE0608-2F4A-196B-599D-5EA0AE7B84F6}"/>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0A9A854B-B6F7-CB74-B8C1-9248DD8A5C44}"/>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4C332DFA-8545-BBDB-0737-0FBF9F955E04}"/>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AB985852-3CFA-18B6-47F9-AD6FA7FA367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DB8D9A1D-D8F1-A780-1811-F392C5A0DF05}"/>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rPr>
              <a:t>Key Insights &amp; Conclusions</a:t>
            </a:r>
          </a:p>
        </p:txBody>
      </p:sp>
      <p:sp>
        <p:nvSpPr>
          <p:cNvPr id="10" name="TextBox 9">
            <a:extLst>
              <a:ext uri="{FF2B5EF4-FFF2-40B4-BE49-F238E27FC236}">
                <a16:creationId xmlns:a16="http://schemas.microsoft.com/office/drawing/2014/main" id="{8ED89540-7239-F9F1-C0A6-5AE3C977FB39}"/>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8C3596F3-A55A-5292-FE5E-98234B920DFF}"/>
              </a:ext>
            </a:extLst>
          </p:cNvPr>
          <p:cNvCxnSpPr/>
          <p:nvPr/>
        </p:nvCxnSpPr>
        <p:spPr>
          <a:xfrm>
            <a:off x="6096000"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22080B35-7A47-0574-3A92-0EB958B68615}"/>
              </a:ext>
            </a:extLst>
          </p:cNvPr>
          <p:cNvCxnSpPr>
            <a:cxnSpLocks/>
          </p:cNvCxnSpPr>
          <p:nvPr/>
        </p:nvCxnSpPr>
        <p:spPr>
          <a:xfrm>
            <a:off x="2416876"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C55146D-4C1C-9AD4-9ED3-7D61A8318ED0}"/>
              </a:ext>
            </a:extLst>
          </p:cNvPr>
          <p:cNvCxnSpPr>
            <a:cxnSpLocks/>
          </p:cNvCxnSpPr>
          <p:nvPr/>
        </p:nvCxnSpPr>
        <p:spPr>
          <a:xfrm>
            <a:off x="2423643"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4483E42-5D83-4E70-B3EF-6AF9F3F9BEB3}"/>
              </a:ext>
            </a:extLst>
          </p:cNvPr>
          <p:cNvCxnSpPr>
            <a:cxnSpLocks/>
          </p:cNvCxnSpPr>
          <p:nvPr/>
        </p:nvCxnSpPr>
        <p:spPr>
          <a:xfrm>
            <a:off x="2416876"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A0AE8EB-51EF-6001-A004-9A69E1C89464}"/>
              </a:ext>
            </a:extLst>
          </p:cNvPr>
          <p:cNvCxnSpPr>
            <a:cxnSpLocks/>
          </p:cNvCxnSpPr>
          <p:nvPr/>
        </p:nvCxnSpPr>
        <p:spPr>
          <a:xfrm>
            <a:off x="2416876"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B04CB0E-BC4F-7E6A-B705-6A341A1EAC95}"/>
              </a:ext>
            </a:extLst>
          </p:cNvPr>
          <p:cNvCxnSpPr>
            <a:cxnSpLocks/>
          </p:cNvCxnSpPr>
          <p:nvPr/>
        </p:nvCxnSpPr>
        <p:spPr>
          <a:xfrm>
            <a:off x="2416875"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6447156-CC50-9BB2-62F9-0A310E2C135F}"/>
              </a:ext>
            </a:extLst>
          </p:cNvPr>
          <p:cNvCxnSpPr>
            <a:cxnSpLocks/>
          </p:cNvCxnSpPr>
          <p:nvPr/>
        </p:nvCxnSpPr>
        <p:spPr>
          <a:xfrm>
            <a:off x="2418880"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sp>
        <p:nvSpPr>
          <p:cNvPr id="49" name="Rectangle: Rounded Corners 48">
            <a:extLst>
              <a:ext uri="{FF2B5EF4-FFF2-40B4-BE49-F238E27FC236}">
                <a16:creationId xmlns:a16="http://schemas.microsoft.com/office/drawing/2014/main" id="{DD589F98-C4D6-446A-5AF2-9BDB5B7A98F9}"/>
              </a:ext>
            </a:extLst>
          </p:cNvPr>
          <p:cNvSpPr/>
          <p:nvPr/>
        </p:nvSpPr>
        <p:spPr>
          <a:xfrm>
            <a:off x="272801"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Suppliers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4" name="Rectangle: Rounded Corners 63">
            <a:extLst>
              <a:ext uri="{FF2B5EF4-FFF2-40B4-BE49-F238E27FC236}">
                <a16:creationId xmlns:a16="http://schemas.microsoft.com/office/drawing/2014/main" id="{DD63C30A-6FE8-7219-B674-8B4FAC581EC9}"/>
              </a:ext>
            </a:extLst>
          </p:cNvPr>
          <p:cNvSpPr/>
          <p:nvPr/>
        </p:nvSpPr>
        <p:spPr>
          <a:xfrm>
            <a:off x="272801"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Suppliers OTIF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6" name="Rectangle: Rounded Corners 65">
            <a:extLst>
              <a:ext uri="{FF2B5EF4-FFF2-40B4-BE49-F238E27FC236}">
                <a16:creationId xmlns:a16="http://schemas.microsoft.com/office/drawing/2014/main" id="{BC9326CF-9053-4648-9044-C253A5C3293D}"/>
              </a:ext>
            </a:extLst>
          </p:cNvPr>
          <p:cNvSpPr/>
          <p:nvPr/>
        </p:nvSpPr>
        <p:spPr>
          <a:xfrm>
            <a:off x="272801"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Quality Score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8" name="Rectangle: Rounded Corners 67">
            <a:extLst>
              <a:ext uri="{FF2B5EF4-FFF2-40B4-BE49-F238E27FC236}">
                <a16:creationId xmlns:a16="http://schemas.microsoft.com/office/drawing/2014/main" id="{E1326E70-6533-5DE0-30F1-5CFB0DA929EB}"/>
              </a:ext>
            </a:extLst>
          </p:cNvPr>
          <p:cNvSpPr/>
          <p:nvPr/>
        </p:nvSpPr>
        <p:spPr>
          <a:xfrm>
            <a:off x="272801"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Lead Time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0" name="Rectangle: Rounded Corners 69">
            <a:extLst>
              <a:ext uri="{FF2B5EF4-FFF2-40B4-BE49-F238E27FC236}">
                <a16:creationId xmlns:a16="http://schemas.microsoft.com/office/drawing/2014/main" id="{E713033C-F89C-D25A-2246-755EC6D7A767}"/>
              </a:ext>
            </a:extLst>
          </p:cNvPr>
          <p:cNvSpPr/>
          <p:nvPr/>
        </p:nvSpPr>
        <p:spPr>
          <a:xfrm>
            <a:off x="272801"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On Time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2" name="Rectangle: Rounded Corners 71">
            <a:extLst>
              <a:ext uri="{FF2B5EF4-FFF2-40B4-BE49-F238E27FC236}">
                <a16:creationId xmlns:a16="http://schemas.microsoft.com/office/drawing/2014/main" id="{3D567118-BCC5-F05B-854D-B55D2910DD11}"/>
              </a:ext>
            </a:extLst>
          </p:cNvPr>
          <p:cNvSpPr/>
          <p:nvPr/>
        </p:nvSpPr>
        <p:spPr>
          <a:xfrm>
            <a:off x="272801"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FPY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TextBox 61">
            <a:extLst>
              <a:ext uri="{FF2B5EF4-FFF2-40B4-BE49-F238E27FC236}">
                <a16:creationId xmlns:a16="http://schemas.microsoft.com/office/drawing/2014/main" id="{A2FB91D1-E26A-422E-DA3C-2ECDFB056FD8}"/>
              </a:ext>
            </a:extLst>
          </p:cNvPr>
          <p:cNvSpPr txBox="1"/>
          <p:nvPr/>
        </p:nvSpPr>
        <p:spPr>
          <a:xfrm>
            <a:off x="586607"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160</a:t>
            </a:r>
          </a:p>
        </p:txBody>
      </p:sp>
      <p:sp>
        <p:nvSpPr>
          <p:cNvPr id="74" name="TextBox 73">
            <a:extLst>
              <a:ext uri="{FF2B5EF4-FFF2-40B4-BE49-F238E27FC236}">
                <a16:creationId xmlns:a16="http://schemas.microsoft.com/office/drawing/2014/main" id="{C91C0901-C264-F5C0-149B-331CB1335503}"/>
              </a:ext>
            </a:extLst>
          </p:cNvPr>
          <p:cNvSpPr txBox="1"/>
          <p:nvPr/>
        </p:nvSpPr>
        <p:spPr>
          <a:xfrm>
            <a:off x="586607" y="24931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64.95%</a:t>
            </a:r>
          </a:p>
        </p:txBody>
      </p:sp>
      <p:sp>
        <p:nvSpPr>
          <p:cNvPr id="76" name="TextBox 75">
            <a:extLst>
              <a:ext uri="{FF2B5EF4-FFF2-40B4-BE49-F238E27FC236}">
                <a16:creationId xmlns:a16="http://schemas.microsoft.com/office/drawing/2014/main" id="{8C4CDBA8-29F0-F870-050E-D1311FD9FED2}"/>
              </a:ext>
            </a:extLst>
          </p:cNvPr>
          <p:cNvSpPr txBox="1"/>
          <p:nvPr/>
        </p:nvSpPr>
        <p:spPr>
          <a:xfrm>
            <a:off x="586607" y="340946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2.33</a:t>
            </a:r>
          </a:p>
        </p:txBody>
      </p:sp>
      <p:sp>
        <p:nvSpPr>
          <p:cNvPr id="78" name="TextBox 77">
            <a:extLst>
              <a:ext uri="{FF2B5EF4-FFF2-40B4-BE49-F238E27FC236}">
                <a16:creationId xmlns:a16="http://schemas.microsoft.com/office/drawing/2014/main" id="{6676AC3A-B871-CF2E-D428-11F6A46DB41E}"/>
              </a:ext>
            </a:extLst>
          </p:cNvPr>
          <p:cNvSpPr txBox="1"/>
          <p:nvPr/>
        </p:nvSpPr>
        <p:spPr>
          <a:xfrm>
            <a:off x="586607"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45.50</a:t>
            </a:r>
          </a:p>
        </p:txBody>
      </p:sp>
      <p:sp>
        <p:nvSpPr>
          <p:cNvPr id="80" name="TextBox 79">
            <a:extLst>
              <a:ext uri="{FF2B5EF4-FFF2-40B4-BE49-F238E27FC236}">
                <a16:creationId xmlns:a16="http://schemas.microsoft.com/office/drawing/2014/main" id="{3AFD6091-2D34-D3B3-9D92-6B7BBA82BC9D}"/>
              </a:ext>
            </a:extLst>
          </p:cNvPr>
          <p:cNvSpPr txBox="1"/>
          <p:nvPr/>
        </p:nvSpPr>
        <p:spPr>
          <a:xfrm>
            <a:off x="586607" y="52435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48.31%</a:t>
            </a:r>
          </a:p>
        </p:txBody>
      </p:sp>
      <p:sp>
        <p:nvSpPr>
          <p:cNvPr id="82" name="TextBox 81">
            <a:extLst>
              <a:ext uri="{FF2B5EF4-FFF2-40B4-BE49-F238E27FC236}">
                <a16:creationId xmlns:a16="http://schemas.microsoft.com/office/drawing/2014/main" id="{AE486A9F-5617-B37B-B115-EB81EBDFA517}"/>
              </a:ext>
            </a:extLst>
          </p:cNvPr>
          <p:cNvSpPr txBox="1"/>
          <p:nvPr/>
        </p:nvSpPr>
        <p:spPr>
          <a:xfrm>
            <a:off x="586607"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97.21&amp;</a:t>
            </a:r>
          </a:p>
        </p:txBody>
      </p:sp>
      <p:sp>
        <p:nvSpPr>
          <p:cNvPr id="101" name="TextBox 100">
            <a:extLst>
              <a:ext uri="{FF2B5EF4-FFF2-40B4-BE49-F238E27FC236}">
                <a16:creationId xmlns:a16="http://schemas.microsoft.com/office/drawing/2014/main" id="{86E0742A-A190-19BC-1618-A20FDD05217E}"/>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Suppliers dealing with CocoaLand</a:t>
            </a:r>
          </a:p>
        </p:txBody>
      </p:sp>
      <p:sp>
        <p:nvSpPr>
          <p:cNvPr id="103" name="TextBox 102">
            <a:extLst>
              <a:ext uri="{FF2B5EF4-FFF2-40B4-BE49-F238E27FC236}">
                <a16:creationId xmlns:a16="http://schemas.microsoft.com/office/drawing/2014/main" id="{D0A11435-C7CF-32AD-EFBB-2F9E7248A39D}"/>
              </a:ext>
            </a:extLst>
          </p:cNvPr>
          <p:cNvSpPr txBox="1"/>
          <p:nvPr/>
        </p:nvSpPr>
        <p:spPr>
          <a:xfrm>
            <a:off x="3171011" y="228560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on time &amp; in full delivery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 - 85%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5" name="TextBox 104">
            <a:extLst>
              <a:ext uri="{FF2B5EF4-FFF2-40B4-BE49-F238E27FC236}">
                <a16:creationId xmlns:a16="http://schemas.microsoft.com/office/drawing/2014/main" id="{AF2B9B56-74E0-CAD7-EA10-5F83441562E1}"/>
              </a:ext>
            </a:extLst>
          </p:cNvPr>
          <p:cNvSpPr txBox="1"/>
          <p:nvPr/>
        </p:nvSpPr>
        <p:spPr>
          <a:xfrm>
            <a:off x="3171010" y="317863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quality indicator,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3.5 - 3.8</a:t>
            </a:r>
          </a:p>
        </p:txBody>
      </p:sp>
      <p:sp>
        <p:nvSpPr>
          <p:cNvPr id="107" name="TextBox 106">
            <a:extLst>
              <a:ext uri="{FF2B5EF4-FFF2-40B4-BE49-F238E27FC236}">
                <a16:creationId xmlns:a16="http://schemas.microsoft.com/office/drawing/2014/main" id="{0CB2CF06-04CB-FE19-E547-598FF1507A7E}"/>
              </a:ext>
            </a:extLst>
          </p:cNvPr>
          <p:cNvSpPr txBox="1"/>
          <p:nvPr/>
        </p:nvSpPr>
        <p:spPr>
          <a:xfrm>
            <a:off x="3171010" y="4124245"/>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time in days,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30 – 35 days</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9" name="TextBox 108">
            <a:extLst>
              <a:ext uri="{FF2B5EF4-FFF2-40B4-BE49-F238E27FC236}">
                <a16:creationId xmlns:a16="http://schemas.microsoft.com/office/drawing/2014/main" id="{D70687EA-586B-3760-FE40-7755A00C05C5}"/>
              </a:ext>
            </a:extLst>
          </p:cNvPr>
          <p:cNvSpPr txBox="1"/>
          <p:nvPr/>
        </p:nvSpPr>
        <p:spPr>
          <a:xfrm>
            <a:off x="3171009" y="5041129"/>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delivery on time rate,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84% - 100%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11" name="TextBox 110">
            <a:extLst>
              <a:ext uri="{FF2B5EF4-FFF2-40B4-BE49-F238E27FC236}">
                <a16:creationId xmlns:a16="http://schemas.microsoft.com/office/drawing/2014/main" id="{41B8CEED-EE28-38FF-CD7A-23D47FF43ADD}"/>
              </a:ext>
            </a:extLst>
          </p:cNvPr>
          <p:cNvSpPr txBox="1"/>
          <p:nvPr/>
        </p:nvSpPr>
        <p:spPr>
          <a:xfrm>
            <a:off x="3171008" y="5929141"/>
            <a:ext cx="2801615" cy="49244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Suppliers overall Avg First Pass Yield,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98% - 99%</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pic>
        <p:nvPicPr>
          <p:cNvPr id="113" name="Picture 112">
            <a:extLst>
              <a:ext uri="{FF2B5EF4-FFF2-40B4-BE49-F238E27FC236}">
                <a16:creationId xmlns:a16="http://schemas.microsoft.com/office/drawing/2014/main" id="{5DF074D6-6503-D2C5-93A9-6A89656EF76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28130" y="953933"/>
            <a:ext cx="2488888" cy="1727760"/>
          </a:xfrm>
          <a:prstGeom prst="rect">
            <a:avLst/>
          </a:prstGeom>
          <a:effectLst>
            <a:outerShdw blurRad="317500" sx="102000" sy="102000" algn="ctr" rotWithShape="0">
              <a:srgbClr val="C29524">
                <a:alpha val="50000"/>
              </a:srgbClr>
            </a:outerShdw>
          </a:effectLst>
        </p:spPr>
      </p:pic>
      <p:pic>
        <p:nvPicPr>
          <p:cNvPr id="115" name="Picture 114">
            <a:extLst>
              <a:ext uri="{FF2B5EF4-FFF2-40B4-BE49-F238E27FC236}">
                <a16:creationId xmlns:a16="http://schemas.microsoft.com/office/drawing/2014/main" id="{DBCCDEA7-BE31-D005-4E07-1E3C52ED70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73144" y="3775451"/>
            <a:ext cx="3141712" cy="1717469"/>
          </a:xfrm>
          <a:prstGeom prst="rect">
            <a:avLst/>
          </a:prstGeom>
          <a:effectLst>
            <a:outerShdw blurRad="317500" sx="102000" sy="102000" algn="ctr" rotWithShape="0">
              <a:srgbClr val="C29524">
                <a:alpha val="50000"/>
              </a:srgbClr>
            </a:outerShdw>
          </a:effectLst>
        </p:spPr>
      </p:pic>
      <p:sp>
        <p:nvSpPr>
          <p:cNvPr id="119" name="Rectangle: Rounded Corners 118">
            <a:extLst>
              <a:ext uri="{FF2B5EF4-FFF2-40B4-BE49-F238E27FC236}">
                <a16:creationId xmlns:a16="http://schemas.microsoft.com/office/drawing/2014/main" id="{7305C8EC-0CE4-C003-D4A3-2715AC1BDB1C}"/>
              </a:ext>
            </a:extLst>
          </p:cNvPr>
          <p:cNvSpPr/>
          <p:nvPr/>
        </p:nvSpPr>
        <p:spPr>
          <a:xfrm>
            <a:off x="6268954" y="2738303"/>
            <a:ext cx="5807240" cy="978991"/>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Suppliers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Pending Quality Certifications</a:t>
            </a:r>
            <a:r>
              <a:rPr lang="en-US" sz="1000" b="1" dirty="0">
                <a:solidFill>
                  <a:srgbClr val="896919"/>
                </a:solidFill>
                <a:latin typeface="Segoe UI Semibold" panose="020B0702040204020203" pitchFamily="34" charset="0"/>
                <a:cs typeface="Segoe UI Semibold" panose="020B0702040204020203" pitchFamily="34" charset="0"/>
              </a:rPr>
              <a:t> have a higher overall Avg Quality Score, with almost equal number of suppliers compared to other certification types. This indicates that our certified suppliers are not delivering their expected performance, and suppliers with pending certifications are managing to deliver a slightly better performance</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a:extLst>
              <a:ext uri="{FF2B5EF4-FFF2-40B4-BE49-F238E27FC236}">
                <a16:creationId xmlns:a16="http://schemas.microsoft.com/office/drawing/2014/main" id="{F091B4D6-E2E7-6FC0-D931-CD1DFFE023CB}"/>
              </a:ext>
            </a:extLst>
          </p:cNvPr>
          <p:cNvSpPr/>
          <p:nvPr/>
        </p:nvSpPr>
        <p:spPr>
          <a:xfrm>
            <a:off x="6240380" y="5567632"/>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E05522CD-6C4E-A274-0AFC-BFDC39F2941D}"/>
              </a:ext>
            </a:extLst>
          </p:cNvPr>
          <p:cNvSpPr/>
          <p:nvPr/>
        </p:nvSpPr>
        <p:spPr>
          <a:xfrm>
            <a:off x="791527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4D4BA891-55DF-7628-BB05-0FB2E8C691A1}"/>
              </a:ext>
            </a:extLst>
          </p:cNvPr>
          <p:cNvSpPr/>
          <p:nvPr/>
        </p:nvSpPr>
        <p:spPr>
          <a:xfrm>
            <a:off x="7357305"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7" name="Oval 126">
            <a:extLst>
              <a:ext uri="{FF2B5EF4-FFF2-40B4-BE49-F238E27FC236}">
                <a16:creationId xmlns:a16="http://schemas.microsoft.com/office/drawing/2014/main" id="{BFBBDDCE-B900-5A15-C998-1AC07E6F8452}"/>
              </a:ext>
            </a:extLst>
          </p:cNvPr>
          <p:cNvSpPr/>
          <p:nvPr/>
        </p:nvSpPr>
        <p:spPr>
          <a:xfrm>
            <a:off x="8830961" y="4099549"/>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a:extLst>
              <a:ext uri="{FF2B5EF4-FFF2-40B4-BE49-F238E27FC236}">
                <a16:creationId xmlns:a16="http://schemas.microsoft.com/office/drawing/2014/main" id="{7B42B5A8-FA09-22B6-13AD-197335AACC0E}"/>
              </a:ext>
            </a:extLst>
          </p:cNvPr>
          <p:cNvSpPr/>
          <p:nvPr/>
        </p:nvSpPr>
        <p:spPr>
          <a:xfrm>
            <a:off x="9312121" y="4024194"/>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a:extLst>
              <a:ext uri="{FF2B5EF4-FFF2-40B4-BE49-F238E27FC236}">
                <a16:creationId xmlns:a16="http://schemas.microsoft.com/office/drawing/2014/main" id="{37C155C8-C6C6-1E66-9B30-CF32CFC2F993}"/>
              </a:ext>
            </a:extLst>
          </p:cNvPr>
          <p:cNvCxnSpPr>
            <a:cxnSpLocks/>
          </p:cNvCxnSpPr>
          <p:nvPr/>
        </p:nvCxnSpPr>
        <p:spPr>
          <a:xfrm flipV="1">
            <a:off x="8739188" y="407945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FAC71979-2748-4396-B26D-2DA8A6184FFB}"/>
              </a:ext>
            </a:extLst>
          </p:cNvPr>
          <p:cNvCxnSpPr>
            <a:cxnSpLocks/>
          </p:cNvCxnSpPr>
          <p:nvPr/>
        </p:nvCxnSpPr>
        <p:spPr>
          <a:xfrm flipV="1">
            <a:off x="9596438" y="3983996"/>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8B01C86B-C16E-8A90-2AD2-0280D2125D9C}"/>
              </a:ext>
            </a:extLst>
          </p:cNvPr>
          <p:cNvCxnSpPr>
            <a:cxnSpLocks/>
          </p:cNvCxnSpPr>
          <p:nvPr/>
        </p:nvCxnSpPr>
        <p:spPr>
          <a:xfrm>
            <a:off x="9172574" y="4375229"/>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30670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209A2D6-B603-9A1D-6868-77B387B0C04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29FFB4E-158D-37E3-FC37-EE345F01C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0F0D0AB5-E667-29CD-3463-76B55D425994}"/>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A98530D1-3735-7E36-92A4-536756005C38}"/>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8663B5BB-008E-DC4A-485D-D603EB880791}"/>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35EB8D64-6415-53C1-0AC0-D62311B270E2}"/>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ECEDD87-6ABE-17F0-CD4B-D833909AF379}"/>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265F0C7A-59D0-CAF0-9560-AB563CDB7ADA}"/>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8C9DB9C0-2FDA-7AD7-3A92-985A44C1983F}"/>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B44C6B7-7CCE-2D92-3CD6-8D01CBAE5732}"/>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F4A5D2A9-415D-8630-4001-AB58DA4BDF2D}"/>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BC992997-2BBB-2C01-D897-84797E497B73}"/>
              </a:ext>
            </a:extLst>
          </p:cNvPr>
          <p:cNvCxnSpPr/>
          <p:nvPr/>
        </p:nvCxnSpPr>
        <p:spPr>
          <a:xfrm>
            <a:off x="14662484"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26C23AB2-D167-55A4-1525-91869CC00003}"/>
              </a:ext>
            </a:extLst>
          </p:cNvPr>
          <p:cNvGrpSpPr/>
          <p:nvPr/>
        </p:nvGrpSpPr>
        <p:grpSpPr>
          <a:xfrm>
            <a:off x="2411509" y="1604426"/>
            <a:ext cx="707325" cy="4566893"/>
            <a:chOff x="2411509" y="1604426"/>
            <a:chExt cx="707325" cy="4566893"/>
          </a:xfrm>
        </p:grpSpPr>
        <p:cxnSp>
          <p:nvCxnSpPr>
            <p:cNvPr id="42" name="Straight Arrow Connector 41">
              <a:extLst>
                <a:ext uri="{FF2B5EF4-FFF2-40B4-BE49-F238E27FC236}">
                  <a16:creationId xmlns:a16="http://schemas.microsoft.com/office/drawing/2014/main" id="{D98AF19B-8D4A-3DBB-669D-DB05FDC92148}"/>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06F7F79-B223-09AB-6683-507C4DD0346B}"/>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3E91241-1428-CF7C-C2E3-58E9D087C8FC}"/>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7981E342-62EA-E24C-5C24-314A448DBFCC}"/>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B7050B7-6A6E-A8C7-50EC-A4F8A10D6070}"/>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DD595A8-3C58-E976-087F-1A37DB1224FF}"/>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sp>
        <p:nvSpPr>
          <p:cNvPr id="124" name="Rectangle 123">
            <a:extLst>
              <a:ext uri="{FF2B5EF4-FFF2-40B4-BE49-F238E27FC236}">
                <a16:creationId xmlns:a16="http://schemas.microsoft.com/office/drawing/2014/main" id="{CB18F002-DFBD-6EF4-FFBA-382EC782FEC2}"/>
              </a:ext>
            </a:extLst>
          </p:cNvPr>
          <p:cNvSpPr/>
          <p:nvPr/>
        </p:nvSpPr>
        <p:spPr>
          <a:xfrm>
            <a:off x="12579662" y="2109788"/>
            <a:ext cx="2454119" cy="271463"/>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6" name="Arc 125">
            <a:extLst>
              <a:ext uri="{FF2B5EF4-FFF2-40B4-BE49-F238E27FC236}">
                <a16:creationId xmlns:a16="http://schemas.microsoft.com/office/drawing/2014/main" id="{29E4241C-0568-2A8D-BFF4-17E43B877E28}"/>
              </a:ext>
            </a:extLst>
          </p:cNvPr>
          <p:cNvSpPr/>
          <p:nvPr/>
        </p:nvSpPr>
        <p:spPr>
          <a:xfrm>
            <a:off x="12880984" y="2216490"/>
            <a:ext cx="837752" cy="647765"/>
          </a:xfrm>
          <a:prstGeom prst="arc">
            <a:avLst>
              <a:gd name="adj1" fmla="val 7619499"/>
              <a:gd name="adj2" fmla="val 17063292"/>
            </a:avLst>
          </a:prstGeom>
          <a:ln w="19050" cap="rnd">
            <a:solidFill>
              <a:schemeClr val="accent2">
                <a:lumMod val="75000"/>
              </a:schemeClr>
            </a:solidFill>
            <a:round/>
            <a:headEnd type="oval" w="sm" len="sm"/>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98" name="Group 97">
            <a:extLst>
              <a:ext uri="{FF2B5EF4-FFF2-40B4-BE49-F238E27FC236}">
                <a16:creationId xmlns:a16="http://schemas.microsoft.com/office/drawing/2014/main" id="{9963EB3F-8426-2398-A9F1-5749D99A1A56}"/>
              </a:ext>
            </a:extLst>
          </p:cNvPr>
          <p:cNvGrpSpPr/>
          <p:nvPr/>
        </p:nvGrpSpPr>
        <p:grpSpPr>
          <a:xfrm>
            <a:off x="3105697" y="1390789"/>
            <a:ext cx="3084649" cy="5161453"/>
            <a:chOff x="3171008" y="1372226"/>
            <a:chExt cx="3084649" cy="5161453"/>
          </a:xfrm>
        </p:grpSpPr>
        <p:sp>
          <p:nvSpPr>
            <p:cNvPr id="99" name="TextBox 98">
              <a:extLst>
                <a:ext uri="{FF2B5EF4-FFF2-40B4-BE49-F238E27FC236}">
                  <a16:creationId xmlns:a16="http://schemas.microsoft.com/office/drawing/2014/main" id="{1C69058B-6E54-78F2-0762-F1FB7B1A0684}"/>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Customers dealing with CocoaLand</a:t>
              </a:r>
            </a:p>
          </p:txBody>
        </p:sp>
        <p:sp>
          <p:nvSpPr>
            <p:cNvPr id="100" name="TextBox 99">
              <a:extLst>
                <a:ext uri="{FF2B5EF4-FFF2-40B4-BE49-F238E27FC236}">
                  <a16:creationId xmlns:a16="http://schemas.microsoft.com/office/drawing/2014/main" id="{BF7D4C04-26A3-FB01-9C20-2778A84DA05A}"/>
                </a:ext>
              </a:extLst>
            </p:cNvPr>
            <p:cNvSpPr txBox="1"/>
            <p:nvPr/>
          </p:nvSpPr>
          <p:spPr>
            <a:xfrm>
              <a:off x="3171011" y="235817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Number of Sales Orders across 2025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1" name="TextBox 100">
              <a:extLst>
                <a:ext uri="{FF2B5EF4-FFF2-40B4-BE49-F238E27FC236}">
                  <a16:creationId xmlns:a16="http://schemas.microsoft.com/office/drawing/2014/main" id="{D2F20D7E-E227-4520-3ED8-59C9599712C5}"/>
                </a:ext>
              </a:extLst>
            </p:cNvPr>
            <p:cNvSpPr txBox="1"/>
            <p:nvPr/>
          </p:nvSpPr>
          <p:spPr>
            <a:xfrm>
              <a:off x="3171010" y="3106061"/>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Delivery in full &amp; on time rate between CocoaLand and it’s customers, 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85% - 98%</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2" name="TextBox 101">
              <a:extLst>
                <a:ext uri="{FF2B5EF4-FFF2-40B4-BE49-F238E27FC236}">
                  <a16:creationId xmlns:a16="http://schemas.microsoft.com/office/drawing/2014/main" id="{0D49E605-21EE-A612-02F3-E426DC1F11A5}"/>
                </a:ext>
              </a:extLst>
            </p:cNvPr>
            <p:cNvSpPr txBox="1"/>
            <p:nvPr/>
          </p:nvSpPr>
          <p:spPr>
            <a:xfrm>
              <a:off x="3171010" y="4037161"/>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Fill Rate % describes the fulfillment rate of sales orders in general,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97% - 99%</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103" name="TextBox 102">
              <a:extLst>
                <a:ext uri="{FF2B5EF4-FFF2-40B4-BE49-F238E27FC236}">
                  <a16:creationId xmlns:a16="http://schemas.microsoft.com/office/drawing/2014/main" id="{20A9E473-1234-008E-0E65-4C5185CA16E7}"/>
                </a:ext>
              </a:extLst>
            </p:cNvPr>
            <p:cNvSpPr txBox="1"/>
            <p:nvPr/>
          </p:nvSpPr>
          <p:spPr>
            <a:xfrm>
              <a:off x="3171009" y="509918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Sales Orders per inventory turnover</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104" name="TextBox 103">
              <a:extLst>
                <a:ext uri="{FF2B5EF4-FFF2-40B4-BE49-F238E27FC236}">
                  <a16:creationId xmlns:a16="http://schemas.microsoft.com/office/drawing/2014/main" id="{7ECA14B0-BD54-526F-1AC7-3994FF80E207}"/>
                </a:ext>
              </a:extLst>
            </p:cNvPr>
            <p:cNvSpPr txBox="1"/>
            <p:nvPr/>
          </p:nvSpPr>
          <p:spPr>
            <a:xfrm>
              <a:off x="3171008" y="5856571"/>
              <a:ext cx="3084649"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Fulfillment Days describes how many days do we take on average to deliver a sales order,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20% - 21.50%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105" name="Picture 104">
            <a:extLst>
              <a:ext uri="{FF2B5EF4-FFF2-40B4-BE49-F238E27FC236}">
                <a16:creationId xmlns:a16="http://schemas.microsoft.com/office/drawing/2014/main" id="{36F24C8E-7F70-483A-D3EB-A15D5F05995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106" name="Picture 105">
            <a:extLst>
              <a:ext uri="{FF2B5EF4-FFF2-40B4-BE49-F238E27FC236}">
                <a16:creationId xmlns:a16="http://schemas.microsoft.com/office/drawing/2014/main" id="{09FEA5D8-FBA8-8E3D-351A-085D0C4F6B2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107" name="Oval 106">
            <a:extLst>
              <a:ext uri="{FF2B5EF4-FFF2-40B4-BE49-F238E27FC236}">
                <a16:creationId xmlns:a16="http://schemas.microsoft.com/office/drawing/2014/main" id="{1C712D60-9ACF-7F51-C298-E3AF7ADE9DF1}"/>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006D5784-7A4C-CBCD-F401-E07688F4E1D3}"/>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9" name="Picture 108">
            <a:extLst>
              <a:ext uri="{FF2B5EF4-FFF2-40B4-BE49-F238E27FC236}">
                <a16:creationId xmlns:a16="http://schemas.microsoft.com/office/drawing/2014/main" id="{9461704B-A33C-79A8-CEF8-CE49107CEFDB}"/>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110" name="Rectangle: Rounded Corners 109">
            <a:extLst>
              <a:ext uri="{FF2B5EF4-FFF2-40B4-BE49-F238E27FC236}">
                <a16:creationId xmlns:a16="http://schemas.microsoft.com/office/drawing/2014/main" id="{91F922AF-373B-5F5D-4CC5-B91E24AA7153}"/>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11" name="Rectangle: Rounded Corners 110">
            <a:extLst>
              <a:ext uri="{FF2B5EF4-FFF2-40B4-BE49-F238E27FC236}">
                <a16:creationId xmlns:a16="http://schemas.microsoft.com/office/drawing/2014/main" id="{B19E22EC-5CA4-9709-6F69-E2F6D59ACDFE}"/>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112" name="Rectangle: Rounded Corners 111">
            <a:extLst>
              <a:ext uri="{FF2B5EF4-FFF2-40B4-BE49-F238E27FC236}">
                <a16:creationId xmlns:a16="http://schemas.microsoft.com/office/drawing/2014/main" id="{07F0C4DA-960E-9853-1CBE-59C4DECFDCBA}"/>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141" name="Straight Arrow Connector 140">
            <a:extLst>
              <a:ext uri="{FF2B5EF4-FFF2-40B4-BE49-F238E27FC236}">
                <a16:creationId xmlns:a16="http://schemas.microsoft.com/office/drawing/2014/main" id="{DA54473A-56F3-5E41-AF9D-574A33A0198F}"/>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8CD0DB59-71F4-3021-4F89-A9B0D05A778F}"/>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D357D830-38AD-EDD2-6480-E9F085C24059}"/>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118" name="Group 117">
            <a:extLst>
              <a:ext uri="{FF2B5EF4-FFF2-40B4-BE49-F238E27FC236}">
                <a16:creationId xmlns:a16="http://schemas.microsoft.com/office/drawing/2014/main" id="{CC5A57E8-625F-2EF5-919D-8636D12DE737}"/>
              </a:ext>
            </a:extLst>
          </p:cNvPr>
          <p:cNvGrpSpPr/>
          <p:nvPr/>
        </p:nvGrpSpPr>
        <p:grpSpPr>
          <a:xfrm>
            <a:off x="343448" y="1230331"/>
            <a:ext cx="1970636" cy="5332610"/>
            <a:chOff x="273095" y="1230331"/>
            <a:chExt cx="1970636" cy="5332610"/>
          </a:xfrm>
        </p:grpSpPr>
        <p:sp>
          <p:nvSpPr>
            <p:cNvPr id="120" name="Rectangle: Rounded Corners 119">
              <a:extLst>
                <a:ext uri="{FF2B5EF4-FFF2-40B4-BE49-F238E27FC236}">
                  <a16:creationId xmlns:a16="http://schemas.microsoft.com/office/drawing/2014/main" id="{FDEA1404-0A85-ED50-6A72-F33B9A7B0642}"/>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Customers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21" name="Rectangle: Rounded Corners 120">
              <a:extLst>
                <a:ext uri="{FF2B5EF4-FFF2-40B4-BE49-F238E27FC236}">
                  <a16:creationId xmlns:a16="http://schemas.microsoft.com/office/drawing/2014/main" id="{7DFC82F2-8773-344E-4675-BDA87B094781}"/>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Sales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22" name="Rectangle: Rounded Corners 121">
              <a:extLst>
                <a:ext uri="{FF2B5EF4-FFF2-40B4-BE49-F238E27FC236}">
                  <a16:creationId xmlns:a16="http://schemas.microsoft.com/office/drawing/2014/main" id="{99EAB4BF-D6E7-0155-3368-5A6233D02021}"/>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DIFOT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25" name="Rectangle: Rounded Corners 124">
              <a:extLst>
                <a:ext uri="{FF2B5EF4-FFF2-40B4-BE49-F238E27FC236}">
                  <a16:creationId xmlns:a16="http://schemas.microsoft.com/office/drawing/2014/main" id="{7DBCB6F0-5DEA-F665-A43D-5C1AC1D5C57F}"/>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Fill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28" name="Rectangle: Rounded Corners 127">
              <a:extLst>
                <a:ext uri="{FF2B5EF4-FFF2-40B4-BE49-F238E27FC236}">
                  <a16:creationId xmlns:a16="http://schemas.microsoft.com/office/drawing/2014/main" id="{7876D377-EFF7-77D1-C619-03D8AD046A06}"/>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Orders per Turn</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30" name="Rectangle: Rounded Corners 129">
              <a:extLst>
                <a:ext uri="{FF2B5EF4-FFF2-40B4-BE49-F238E27FC236}">
                  <a16:creationId xmlns:a16="http://schemas.microsoft.com/office/drawing/2014/main" id="{20078A57-9305-9F94-6D59-705B54BA602C}"/>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Fulfillment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131" name="TextBox 130">
              <a:extLst>
                <a:ext uri="{FF2B5EF4-FFF2-40B4-BE49-F238E27FC236}">
                  <a16:creationId xmlns:a16="http://schemas.microsoft.com/office/drawing/2014/main" id="{639C8561-B8CD-EE63-BE3B-F1C540DD56BE}"/>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50K</a:t>
              </a:r>
            </a:p>
          </p:txBody>
        </p:sp>
        <p:sp>
          <p:nvSpPr>
            <p:cNvPr id="132" name="TextBox 131">
              <a:extLst>
                <a:ext uri="{FF2B5EF4-FFF2-40B4-BE49-F238E27FC236}">
                  <a16:creationId xmlns:a16="http://schemas.microsoft.com/office/drawing/2014/main" id="{68179071-719A-0DEC-CBFE-7FE5DF0B0C5D}"/>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500k</a:t>
              </a:r>
            </a:p>
          </p:txBody>
        </p:sp>
        <p:sp>
          <p:nvSpPr>
            <p:cNvPr id="133" name="TextBox 132">
              <a:extLst>
                <a:ext uri="{FF2B5EF4-FFF2-40B4-BE49-F238E27FC236}">
                  <a16:creationId xmlns:a16="http://schemas.microsoft.com/office/drawing/2014/main" id="{65CA82EB-7097-D428-6186-89B70B49878C}"/>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solidFill>
                    <a:srgbClr val="FF0000"/>
                  </a:solidFill>
                </a:rPr>
                <a:t>75.13%</a:t>
              </a:r>
            </a:p>
          </p:txBody>
        </p:sp>
        <p:sp>
          <p:nvSpPr>
            <p:cNvPr id="134" name="TextBox 133">
              <a:extLst>
                <a:ext uri="{FF2B5EF4-FFF2-40B4-BE49-F238E27FC236}">
                  <a16:creationId xmlns:a16="http://schemas.microsoft.com/office/drawing/2014/main" id="{5E06CCF0-3CCB-9E84-9B57-3CB56B3E18C9}"/>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95.01%</a:t>
              </a:r>
            </a:p>
          </p:txBody>
        </p:sp>
        <p:sp>
          <p:nvSpPr>
            <p:cNvPr id="135" name="TextBox 134">
              <a:extLst>
                <a:ext uri="{FF2B5EF4-FFF2-40B4-BE49-F238E27FC236}">
                  <a16:creationId xmlns:a16="http://schemas.microsoft.com/office/drawing/2014/main" id="{54D0AA65-AD1B-A59D-CE09-0390C44CD20D}"/>
                </a:ext>
              </a:extLst>
            </p:cNvPr>
            <p:cNvSpPr txBox="1"/>
            <p:nvPr/>
          </p:nvSpPr>
          <p:spPr>
            <a:xfrm>
              <a:off x="586901" y="5243561"/>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39.56K</a:t>
              </a:r>
            </a:p>
          </p:txBody>
        </p:sp>
        <p:sp>
          <p:nvSpPr>
            <p:cNvPr id="136" name="TextBox 135">
              <a:extLst>
                <a:ext uri="{FF2B5EF4-FFF2-40B4-BE49-F238E27FC236}">
                  <a16:creationId xmlns:a16="http://schemas.microsoft.com/office/drawing/2014/main" id="{033305A1-C18D-9221-64EF-103702B6D926}"/>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23.63</a:t>
              </a:r>
            </a:p>
          </p:txBody>
        </p:sp>
      </p:grpSp>
    </p:spTree>
    <p:extLst>
      <p:ext uri="{BB962C8B-B14F-4D97-AF65-F5344CB8AC3E}">
        <p14:creationId xmlns:p14="http://schemas.microsoft.com/office/powerpoint/2010/main" val="1036507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289B97D-17B4-B6E4-817E-674052E9590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11BCB91-03F1-B2D4-5AD6-308CB5E48A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BC4731C-A5CE-3AE2-2ADB-EDE4823C6F4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0A5A6C3A-9A2C-8F21-FB79-0C5F7184068E}"/>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07F8D578-F089-420B-2814-EC33A5EF23FE}"/>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7A68E162-F5BA-8BE1-189C-9457E804A2B0}"/>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7ACFA7ED-8A3D-3A5A-A7AE-A487AEB2048F}"/>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80AA5B90-9FCF-9E71-5578-557BF9CC3C52}"/>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90B8802B-8AF6-9DF0-CEA8-5EF0C88BB296}"/>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F50734FF-9DF8-7DF8-90E2-A33E00D64EE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93B0316F-4CD8-E05A-3431-5293384815F3}"/>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5855C1B6-3EDD-B35B-5718-9D4589B17037}"/>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CBDC746-8B6F-201D-0E59-C648A7F62F8F}"/>
              </a:ext>
            </a:extLst>
          </p:cNvPr>
          <p:cNvGrpSpPr/>
          <p:nvPr/>
        </p:nvGrpSpPr>
        <p:grpSpPr>
          <a:xfrm>
            <a:off x="2411509" y="1604426"/>
            <a:ext cx="707325" cy="4566893"/>
            <a:chOff x="2411509" y="1604426"/>
            <a:chExt cx="707325" cy="4566893"/>
          </a:xfrm>
        </p:grpSpPr>
        <p:cxnSp>
          <p:nvCxnSpPr>
            <p:cNvPr id="18" name="Straight Arrow Connector 17">
              <a:extLst>
                <a:ext uri="{FF2B5EF4-FFF2-40B4-BE49-F238E27FC236}">
                  <a16:creationId xmlns:a16="http://schemas.microsoft.com/office/drawing/2014/main" id="{1E163AA3-B6CD-31B1-8BDE-0113135CB572}"/>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D1C4CDE-4EE4-BE53-24B1-D18699885172}"/>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17A8C1F-BEDA-E6F4-221C-578A72CA2FBF}"/>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EF63A02-560C-7EB3-6773-0EDD9C2E808D}"/>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E979020-0590-4162-7B29-60F38077BE78}"/>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63EC577-C304-2753-7D8A-AD4F9BBC7D21}"/>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9C5DB253-3999-62D0-7AA3-99AD24E6E58E}"/>
              </a:ext>
            </a:extLst>
          </p:cNvPr>
          <p:cNvGrpSpPr/>
          <p:nvPr/>
        </p:nvGrpSpPr>
        <p:grpSpPr>
          <a:xfrm>
            <a:off x="3105697" y="1390789"/>
            <a:ext cx="3084649" cy="5161453"/>
            <a:chOff x="3171008" y="1372226"/>
            <a:chExt cx="3084649" cy="5161453"/>
          </a:xfrm>
        </p:grpSpPr>
        <p:sp>
          <p:nvSpPr>
            <p:cNvPr id="25" name="TextBox 24">
              <a:extLst>
                <a:ext uri="{FF2B5EF4-FFF2-40B4-BE49-F238E27FC236}">
                  <a16:creationId xmlns:a16="http://schemas.microsoft.com/office/drawing/2014/main" id="{C223E97B-7D1C-1722-709D-F89DA28E2D1A}"/>
                </a:ext>
              </a:extLst>
            </p:cNvPr>
            <p:cNvSpPr txBox="1"/>
            <p:nvPr/>
          </p:nvSpPr>
          <p:spPr>
            <a:xfrm>
              <a:off x="3171012" y="1372226"/>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Customers dealing with CocoaLand</a:t>
              </a:r>
            </a:p>
          </p:txBody>
        </p:sp>
        <p:sp>
          <p:nvSpPr>
            <p:cNvPr id="26" name="TextBox 25">
              <a:extLst>
                <a:ext uri="{FF2B5EF4-FFF2-40B4-BE49-F238E27FC236}">
                  <a16:creationId xmlns:a16="http://schemas.microsoft.com/office/drawing/2014/main" id="{FBE50EB5-D543-65AA-EF91-729017167807}"/>
                </a:ext>
              </a:extLst>
            </p:cNvPr>
            <p:cNvSpPr txBox="1"/>
            <p:nvPr/>
          </p:nvSpPr>
          <p:spPr>
            <a:xfrm>
              <a:off x="3171011" y="235817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Number of Sales Orders across 2025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27" name="TextBox 26">
              <a:extLst>
                <a:ext uri="{FF2B5EF4-FFF2-40B4-BE49-F238E27FC236}">
                  <a16:creationId xmlns:a16="http://schemas.microsoft.com/office/drawing/2014/main" id="{CD6182C5-EA87-17BC-265E-D0268395B2E5}"/>
                </a:ext>
              </a:extLst>
            </p:cNvPr>
            <p:cNvSpPr txBox="1"/>
            <p:nvPr/>
          </p:nvSpPr>
          <p:spPr>
            <a:xfrm>
              <a:off x="3171010" y="3106061"/>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Delivery in full &amp; on time rate between CocoaLand and it’s customers, 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85% - 98%</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28" name="TextBox 27">
              <a:extLst>
                <a:ext uri="{FF2B5EF4-FFF2-40B4-BE49-F238E27FC236}">
                  <a16:creationId xmlns:a16="http://schemas.microsoft.com/office/drawing/2014/main" id="{8D1DC65A-DED8-DD5E-7119-04D80C3783A3}"/>
                </a:ext>
              </a:extLst>
            </p:cNvPr>
            <p:cNvSpPr txBox="1"/>
            <p:nvPr/>
          </p:nvSpPr>
          <p:spPr>
            <a:xfrm>
              <a:off x="3171010" y="4037161"/>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Fill Rate % describes the fulfillment rate of sales orders in general,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97% - 99%</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29" name="TextBox 28">
              <a:extLst>
                <a:ext uri="{FF2B5EF4-FFF2-40B4-BE49-F238E27FC236}">
                  <a16:creationId xmlns:a16="http://schemas.microsoft.com/office/drawing/2014/main" id="{93069A09-C4F0-EA0F-B194-F7460FA54B68}"/>
                </a:ext>
              </a:extLst>
            </p:cNvPr>
            <p:cNvSpPr txBox="1"/>
            <p:nvPr/>
          </p:nvSpPr>
          <p:spPr>
            <a:xfrm>
              <a:off x="3171009" y="5099185"/>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Sales Orders per inventory turnover</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30" name="TextBox 29">
              <a:extLst>
                <a:ext uri="{FF2B5EF4-FFF2-40B4-BE49-F238E27FC236}">
                  <a16:creationId xmlns:a16="http://schemas.microsoft.com/office/drawing/2014/main" id="{AB417C86-3C6A-FFBB-E095-BD237DC2E7D6}"/>
                </a:ext>
              </a:extLst>
            </p:cNvPr>
            <p:cNvSpPr txBox="1"/>
            <p:nvPr/>
          </p:nvSpPr>
          <p:spPr>
            <a:xfrm>
              <a:off x="3171008" y="5856571"/>
              <a:ext cx="3084649"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Fulfillment Days describes how many days do we take on average to deliver a sales order,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20% - 21.50%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31" name="Group 30">
            <a:extLst>
              <a:ext uri="{FF2B5EF4-FFF2-40B4-BE49-F238E27FC236}">
                <a16:creationId xmlns:a16="http://schemas.microsoft.com/office/drawing/2014/main" id="{D027FCB6-4889-1F5E-12BB-30691BFA0E4A}"/>
              </a:ext>
            </a:extLst>
          </p:cNvPr>
          <p:cNvGrpSpPr/>
          <p:nvPr/>
        </p:nvGrpSpPr>
        <p:grpSpPr>
          <a:xfrm>
            <a:off x="343448" y="1230331"/>
            <a:ext cx="1970636" cy="5332610"/>
            <a:chOff x="273095" y="1230331"/>
            <a:chExt cx="1970636" cy="5332610"/>
          </a:xfrm>
        </p:grpSpPr>
        <p:sp>
          <p:nvSpPr>
            <p:cNvPr id="32" name="Rectangle: Rounded Corners 31">
              <a:extLst>
                <a:ext uri="{FF2B5EF4-FFF2-40B4-BE49-F238E27FC236}">
                  <a16:creationId xmlns:a16="http://schemas.microsoft.com/office/drawing/2014/main" id="{785AD276-35B7-07E8-2AA3-D053F35859CB}"/>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Customers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3" name="Rectangle: Rounded Corners 32">
              <a:extLst>
                <a:ext uri="{FF2B5EF4-FFF2-40B4-BE49-F238E27FC236}">
                  <a16:creationId xmlns:a16="http://schemas.microsoft.com/office/drawing/2014/main" id="{3A6C1C25-CF31-D7B4-311C-6F917D39D9D6}"/>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Sales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4" name="Rectangle: Rounded Corners 33">
              <a:extLst>
                <a:ext uri="{FF2B5EF4-FFF2-40B4-BE49-F238E27FC236}">
                  <a16:creationId xmlns:a16="http://schemas.microsoft.com/office/drawing/2014/main" id="{42698CE0-DDD3-48D5-D876-3E80FC38161A}"/>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DIFOT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5" name="Rectangle: Rounded Corners 34">
              <a:extLst>
                <a:ext uri="{FF2B5EF4-FFF2-40B4-BE49-F238E27FC236}">
                  <a16:creationId xmlns:a16="http://schemas.microsoft.com/office/drawing/2014/main" id="{F8F2A70A-DC12-4C7B-4E12-6356B3CA9EAE}"/>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Fill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6" name="Rectangle: Rounded Corners 35">
              <a:extLst>
                <a:ext uri="{FF2B5EF4-FFF2-40B4-BE49-F238E27FC236}">
                  <a16:creationId xmlns:a16="http://schemas.microsoft.com/office/drawing/2014/main" id="{7C74631A-4262-1D1C-9102-DB99E045D857}"/>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Orders per Turn</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7" name="Rectangle: Rounded Corners 36">
              <a:extLst>
                <a:ext uri="{FF2B5EF4-FFF2-40B4-BE49-F238E27FC236}">
                  <a16:creationId xmlns:a16="http://schemas.microsoft.com/office/drawing/2014/main" id="{1F63ADDB-5DC8-9DBB-F149-0C87AB38A9A4}"/>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Fulfillment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8" name="TextBox 37">
              <a:extLst>
                <a:ext uri="{FF2B5EF4-FFF2-40B4-BE49-F238E27FC236}">
                  <a16:creationId xmlns:a16="http://schemas.microsoft.com/office/drawing/2014/main" id="{02D84A8C-77CE-053A-C2DB-98A5093A8225}"/>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50K</a:t>
              </a:r>
            </a:p>
          </p:txBody>
        </p:sp>
        <p:sp>
          <p:nvSpPr>
            <p:cNvPr id="39" name="TextBox 38">
              <a:extLst>
                <a:ext uri="{FF2B5EF4-FFF2-40B4-BE49-F238E27FC236}">
                  <a16:creationId xmlns:a16="http://schemas.microsoft.com/office/drawing/2014/main" id="{3D0AE8A4-DFE9-312A-1072-2D219DADEDCB}"/>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500k</a:t>
              </a:r>
            </a:p>
          </p:txBody>
        </p:sp>
        <p:sp>
          <p:nvSpPr>
            <p:cNvPr id="40" name="TextBox 39">
              <a:extLst>
                <a:ext uri="{FF2B5EF4-FFF2-40B4-BE49-F238E27FC236}">
                  <a16:creationId xmlns:a16="http://schemas.microsoft.com/office/drawing/2014/main" id="{4F8CCF85-B3D1-2ADD-2654-59D3E247370E}"/>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solidFill>
                    <a:srgbClr val="FF0000"/>
                  </a:solidFill>
                </a:rPr>
                <a:t>75.13%</a:t>
              </a:r>
            </a:p>
          </p:txBody>
        </p:sp>
        <p:sp>
          <p:nvSpPr>
            <p:cNvPr id="41" name="TextBox 40">
              <a:extLst>
                <a:ext uri="{FF2B5EF4-FFF2-40B4-BE49-F238E27FC236}">
                  <a16:creationId xmlns:a16="http://schemas.microsoft.com/office/drawing/2014/main" id="{12069745-29FE-858F-0FB0-E250A057E818}"/>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95.01%</a:t>
              </a:r>
            </a:p>
          </p:txBody>
        </p:sp>
        <p:sp>
          <p:nvSpPr>
            <p:cNvPr id="43" name="TextBox 42">
              <a:extLst>
                <a:ext uri="{FF2B5EF4-FFF2-40B4-BE49-F238E27FC236}">
                  <a16:creationId xmlns:a16="http://schemas.microsoft.com/office/drawing/2014/main" id="{495F9810-9104-A696-5F18-468F2F15D111}"/>
                </a:ext>
              </a:extLst>
            </p:cNvPr>
            <p:cNvSpPr txBox="1"/>
            <p:nvPr/>
          </p:nvSpPr>
          <p:spPr>
            <a:xfrm>
              <a:off x="586901" y="5243561"/>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39.56K</a:t>
              </a:r>
            </a:p>
          </p:txBody>
        </p:sp>
        <p:sp>
          <p:nvSpPr>
            <p:cNvPr id="50" name="TextBox 49">
              <a:extLst>
                <a:ext uri="{FF2B5EF4-FFF2-40B4-BE49-F238E27FC236}">
                  <a16:creationId xmlns:a16="http://schemas.microsoft.com/office/drawing/2014/main" id="{B5FD0A3E-D15C-D5DA-B850-E17825B98120}"/>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23.63</a:t>
              </a:r>
            </a:p>
          </p:txBody>
        </p:sp>
      </p:grpSp>
      <p:pic>
        <p:nvPicPr>
          <p:cNvPr id="68" name="Picture 67">
            <a:extLst>
              <a:ext uri="{FF2B5EF4-FFF2-40B4-BE49-F238E27FC236}">
                <a16:creationId xmlns:a16="http://schemas.microsoft.com/office/drawing/2014/main" id="{F584D19C-1D85-527D-A3A7-3E2025752AB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69" name="Picture 68">
            <a:extLst>
              <a:ext uri="{FF2B5EF4-FFF2-40B4-BE49-F238E27FC236}">
                <a16:creationId xmlns:a16="http://schemas.microsoft.com/office/drawing/2014/main" id="{8019ECE1-571C-339E-633E-82FAF303751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70" name="Oval 69">
            <a:extLst>
              <a:ext uri="{FF2B5EF4-FFF2-40B4-BE49-F238E27FC236}">
                <a16:creationId xmlns:a16="http://schemas.microsoft.com/office/drawing/2014/main" id="{05ADB1F8-C85A-0AAA-664D-EBDB05E0F027}"/>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B09C229E-360E-448C-BBED-776C93AABDE1}"/>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2" name="Picture 71">
            <a:extLst>
              <a:ext uri="{FF2B5EF4-FFF2-40B4-BE49-F238E27FC236}">
                <a16:creationId xmlns:a16="http://schemas.microsoft.com/office/drawing/2014/main" id="{7F03C077-9BEC-A5A5-AA31-BB445EEFFBA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73" name="Rectangle: Rounded Corners 72">
            <a:extLst>
              <a:ext uri="{FF2B5EF4-FFF2-40B4-BE49-F238E27FC236}">
                <a16:creationId xmlns:a16="http://schemas.microsoft.com/office/drawing/2014/main" id="{10916607-9722-3773-3A61-B78B517F5EC8}"/>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74" name="Rectangle: Rounded Corners 73">
            <a:extLst>
              <a:ext uri="{FF2B5EF4-FFF2-40B4-BE49-F238E27FC236}">
                <a16:creationId xmlns:a16="http://schemas.microsoft.com/office/drawing/2014/main" id="{7A9410E8-3598-E6D4-BF50-0978FBCF35AE}"/>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75" name="Rectangle: Rounded Corners 74">
            <a:extLst>
              <a:ext uri="{FF2B5EF4-FFF2-40B4-BE49-F238E27FC236}">
                <a16:creationId xmlns:a16="http://schemas.microsoft.com/office/drawing/2014/main" id="{BF4A52EC-5795-A4F3-55D9-B19A1BF41F46}"/>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76" name="Straight Arrow Connector 75">
            <a:extLst>
              <a:ext uri="{FF2B5EF4-FFF2-40B4-BE49-F238E27FC236}">
                <a16:creationId xmlns:a16="http://schemas.microsoft.com/office/drawing/2014/main" id="{7A4F8AC0-5AAE-3742-A963-A4685633D3FD}"/>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B2BB8FB-D9F4-3FB4-8907-0B2883D4D555}"/>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29728EF-430C-A4B4-96A2-11D1E3F39F81}"/>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956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2D4221-36BC-5DEE-AADF-F44C2FD47E7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5B77CE7-8986-EE7C-4B15-ECA589B2F7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7D4A5C05-BA52-1285-9CFC-DE5C2821E6E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84E489D-B660-E257-179B-CAC64DAF7A4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C192B629-0135-19BA-F68C-C358201E319A}"/>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70C85627-956B-2FA8-C16D-D569687496D1}"/>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37E3F108-A50B-5A7A-2619-6948A58BD62E}"/>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B4B4031-8533-9B9F-CC3F-892DDF33BC5C}"/>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B04A03BA-E1E7-7395-C6AE-E762F58670D4}"/>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C2662B23-0EFF-0A83-24B4-226B78070A22}"/>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671C9A75-1F6C-AC06-1B2E-7F3D93B693B6}"/>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7756422C-0E34-EAB1-EF3E-4E42C3739174}"/>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4B4D024D-DFE1-40DE-9046-CC69A4512CC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5845548B-8D69-057F-13FB-1C7C9F96A5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0641BDA2-0AAB-CDF1-4A62-0B164A00D2E5}"/>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6FCD58C4-48F1-EC2D-C5BA-D28456680C25}"/>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7" name="Oval 126" hidden="1">
            <a:extLst>
              <a:ext uri="{FF2B5EF4-FFF2-40B4-BE49-F238E27FC236}">
                <a16:creationId xmlns:a16="http://schemas.microsoft.com/office/drawing/2014/main" id="{84A0C8BF-5207-25D9-6F0A-07347259E37E}"/>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5D938545-6D5F-4F3E-D07E-527A9AA6764B}"/>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385F0EF7-C7BD-D6E6-8D9E-5B80D1E5C558}"/>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C5D1EE01-300D-18B5-3DC6-8B1BB7E3DD8E}"/>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8FE9954E-6954-2743-71E3-78884133E851}"/>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9838918D-12D1-2997-1B03-86FC42FA5ACF}"/>
              </a:ext>
            </a:extLst>
          </p:cNvPr>
          <p:cNvGrpSpPr/>
          <p:nvPr/>
        </p:nvGrpSpPr>
        <p:grpSpPr>
          <a:xfrm>
            <a:off x="2411509" y="1604426"/>
            <a:ext cx="707325" cy="4566893"/>
            <a:chOff x="2411509" y="1604426"/>
            <a:chExt cx="707325" cy="4566893"/>
          </a:xfrm>
        </p:grpSpPr>
        <p:cxnSp>
          <p:nvCxnSpPr>
            <p:cNvPr id="71" name="Straight Arrow Connector 70">
              <a:extLst>
                <a:ext uri="{FF2B5EF4-FFF2-40B4-BE49-F238E27FC236}">
                  <a16:creationId xmlns:a16="http://schemas.microsoft.com/office/drawing/2014/main" id="{4CF5A95D-8E85-16A2-0E2C-93519ED2926A}"/>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07D9098-B535-A836-F730-3C2FDDCA0768}"/>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1FC533E-B313-DDF3-23C8-9941FBF4818C}"/>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E276ED1-A0CB-62D1-AB40-E695ACE25716}"/>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3B240CF7-93FF-D44E-6C33-ABA5C5CAEBF0}"/>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110B04A-05F4-485F-D518-F0BCB3B4614D}"/>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7" name="Group 76">
            <a:extLst>
              <a:ext uri="{FF2B5EF4-FFF2-40B4-BE49-F238E27FC236}">
                <a16:creationId xmlns:a16="http://schemas.microsoft.com/office/drawing/2014/main" id="{362330D9-89E8-4005-FC6E-7AE459AD184D}"/>
              </a:ext>
            </a:extLst>
          </p:cNvPr>
          <p:cNvGrpSpPr/>
          <p:nvPr/>
        </p:nvGrpSpPr>
        <p:grpSpPr>
          <a:xfrm>
            <a:off x="346492" y="1230331"/>
            <a:ext cx="1970636" cy="5332610"/>
            <a:chOff x="273095" y="1230331"/>
            <a:chExt cx="1970636" cy="5332610"/>
          </a:xfrm>
        </p:grpSpPr>
        <p:sp>
          <p:nvSpPr>
            <p:cNvPr id="78" name="Rectangle: Rounded Corners 77">
              <a:extLst>
                <a:ext uri="{FF2B5EF4-FFF2-40B4-BE49-F238E27FC236}">
                  <a16:creationId xmlns:a16="http://schemas.microsoft.com/office/drawing/2014/main" id="{DCDD0B11-D96E-7851-05DE-CEE44B1C91F1}"/>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79" name="Rectangle: Rounded Corners 78">
              <a:extLst>
                <a:ext uri="{FF2B5EF4-FFF2-40B4-BE49-F238E27FC236}">
                  <a16:creationId xmlns:a16="http://schemas.microsoft.com/office/drawing/2014/main" id="{31C6D738-8026-5CF7-EAE1-FBBB8129DB7E}"/>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0" name="Rectangle: Rounded Corners 79">
              <a:extLst>
                <a:ext uri="{FF2B5EF4-FFF2-40B4-BE49-F238E27FC236}">
                  <a16:creationId xmlns:a16="http://schemas.microsoft.com/office/drawing/2014/main" id="{C758DD3E-2841-77B1-66C6-8CC2437ABF1F}"/>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1" name="Rectangle: Rounded Corners 80">
              <a:extLst>
                <a:ext uri="{FF2B5EF4-FFF2-40B4-BE49-F238E27FC236}">
                  <a16:creationId xmlns:a16="http://schemas.microsoft.com/office/drawing/2014/main" id="{4D13E689-9FAA-0898-62F5-19332EB0294B}"/>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2" name="Rectangle: Rounded Corners 81">
              <a:extLst>
                <a:ext uri="{FF2B5EF4-FFF2-40B4-BE49-F238E27FC236}">
                  <a16:creationId xmlns:a16="http://schemas.microsoft.com/office/drawing/2014/main" id="{19CE5437-A73A-6BFD-2B4B-FFB93B9E1F04}"/>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3" name="Rectangle: Rounded Corners 82">
              <a:extLst>
                <a:ext uri="{FF2B5EF4-FFF2-40B4-BE49-F238E27FC236}">
                  <a16:creationId xmlns:a16="http://schemas.microsoft.com/office/drawing/2014/main" id="{01425173-864F-B4BA-2277-3D903CDCCEA5}"/>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84" name="TextBox 83">
              <a:extLst>
                <a:ext uri="{FF2B5EF4-FFF2-40B4-BE49-F238E27FC236}">
                  <a16:creationId xmlns:a16="http://schemas.microsoft.com/office/drawing/2014/main" id="{79DF873B-8132-0FD9-0FD9-9241C3B9233A}"/>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85" name="TextBox 84">
              <a:extLst>
                <a:ext uri="{FF2B5EF4-FFF2-40B4-BE49-F238E27FC236}">
                  <a16:creationId xmlns:a16="http://schemas.microsoft.com/office/drawing/2014/main" id="{ED5439A0-2644-CB93-A4B1-D058795EE3D9}"/>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86" name="TextBox 85">
              <a:extLst>
                <a:ext uri="{FF2B5EF4-FFF2-40B4-BE49-F238E27FC236}">
                  <a16:creationId xmlns:a16="http://schemas.microsoft.com/office/drawing/2014/main" id="{8D469231-4545-637E-F244-09FD2A3B64D2}"/>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87" name="TextBox 86">
              <a:extLst>
                <a:ext uri="{FF2B5EF4-FFF2-40B4-BE49-F238E27FC236}">
                  <a16:creationId xmlns:a16="http://schemas.microsoft.com/office/drawing/2014/main" id="{40A837B0-ADF9-B267-8903-B88A32D00752}"/>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88" name="TextBox 87">
              <a:extLst>
                <a:ext uri="{FF2B5EF4-FFF2-40B4-BE49-F238E27FC236}">
                  <a16:creationId xmlns:a16="http://schemas.microsoft.com/office/drawing/2014/main" id="{978581CF-DDFD-4CCF-DD1C-A1360AA3ED95}"/>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89" name="TextBox 88">
              <a:extLst>
                <a:ext uri="{FF2B5EF4-FFF2-40B4-BE49-F238E27FC236}">
                  <a16:creationId xmlns:a16="http://schemas.microsoft.com/office/drawing/2014/main" id="{7C6A65F5-24FF-248D-10B7-65F5C29126B1}"/>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90" name="Group 89">
            <a:extLst>
              <a:ext uri="{FF2B5EF4-FFF2-40B4-BE49-F238E27FC236}">
                <a16:creationId xmlns:a16="http://schemas.microsoft.com/office/drawing/2014/main" id="{94E0723F-5E00-63E1-E35F-F90246DA11BA}"/>
              </a:ext>
            </a:extLst>
          </p:cNvPr>
          <p:cNvGrpSpPr/>
          <p:nvPr/>
        </p:nvGrpSpPr>
        <p:grpSpPr>
          <a:xfrm>
            <a:off x="3106840" y="1387508"/>
            <a:ext cx="2989156" cy="5132425"/>
            <a:chOff x="3171008" y="1386740"/>
            <a:chExt cx="2989156" cy="5132425"/>
          </a:xfrm>
        </p:grpSpPr>
        <p:sp>
          <p:nvSpPr>
            <p:cNvPr id="91" name="TextBox 90">
              <a:extLst>
                <a:ext uri="{FF2B5EF4-FFF2-40B4-BE49-F238E27FC236}">
                  <a16:creationId xmlns:a16="http://schemas.microsoft.com/office/drawing/2014/main" id="{1D261477-956E-DFCF-913C-6314A966E80C}"/>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92" name="TextBox 91">
              <a:extLst>
                <a:ext uri="{FF2B5EF4-FFF2-40B4-BE49-F238E27FC236}">
                  <a16:creationId xmlns:a16="http://schemas.microsoft.com/office/drawing/2014/main" id="{8534ED07-E1F9-072E-6B99-337E8F1AE94A}"/>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93" name="TextBox 92">
              <a:extLst>
                <a:ext uri="{FF2B5EF4-FFF2-40B4-BE49-F238E27FC236}">
                  <a16:creationId xmlns:a16="http://schemas.microsoft.com/office/drawing/2014/main" id="{A1DA9E16-009D-B32E-E16D-A29808CBBD78}"/>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94" name="TextBox 93">
              <a:extLst>
                <a:ext uri="{FF2B5EF4-FFF2-40B4-BE49-F238E27FC236}">
                  <a16:creationId xmlns:a16="http://schemas.microsoft.com/office/drawing/2014/main" id="{F93EBD96-7975-9EB5-460E-4457ACD165C1}"/>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95" name="TextBox 94">
              <a:extLst>
                <a:ext uri="{FF2B5EF4-FFF2-40B4-BE49-F238E27FC236}">
                  <a16:creationId xmlns:a16="http://schemas.microsoft.com/office/drawing/2014/main" id="{98759877-01AA-E3DB-A645-4F330AE6E73C}"/>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96" name="TextBox 95">
              <a:extLst>
                <a:ext uri="{FF2B5EF4-FFF2-40B4-BE49-F238E27FC236}">
                  <a16:creationId xmlns:a16="http://schemas.microsoft.com/office/drawing/2014/main" id="{A60A2A24-0030-B6C9-DA46-8B464CE6BD0F}"/>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2" name="Picture 1">
            <a:extLst>
              <a:ext uri="{FF2B5EF4-FFF2-40B4-BE49-F238E27FC236}">
                <a16:creationId xmlns:a16="http://schemas.microsoft.com/office/drawing/2014/main" id="{726E0684-E3E6-2A22-0036-0600AF22B93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11" name="Picture 10">
            <a:extLst>
              <a:ext uri="{FF2B5EF4-FFF2-40B4-BE49-F238E27FC236}">
                <a16:creationId xmlns:a16="http://schemas.microsoft.com/office/drawing/2014/main" id="{279BAF8D-E2F3-A15A-A06A-787F97390690}"/>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13" name="Oval 12">
            <a:extLst>
              <a:ext uri="{FF2B5EF4-FFF2-40B4-BE49-F238E27FC236}">
                <a16:creationId xmlns:a16="http://schemas.microsoft.com/office/drawing/2014/main" id="{A0C22064-D8F7-8132-0CDD-1FD0ECA60778}"/>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83248BD7-3AF2-B8B9-37F4-7B2424F70CAD}"/>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200C2645-A611-8530-7511-7B8E77FFA7C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21" name="Rectangle: Rounded Corners 20">
            <a:extLst>
              <a:ext uri="{FF2B5EF4-FFF2-40B4-BE49-F238E27FC236}">
                <a16:creationId xmlns:a16="http://schemas.microsoft.com/office/drawing/2014/main" id="{A0760551-D73D-CD95-320E-D0350350D485}"/>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22" name="Rectangle: Rounded Corners 21">
            <a:extLst>
              <a:ext uri="{FF2B5EF4-FFF2-40B4-BE49-F238E27FC236}">
                <a16:creationId xmlns:a16="http://schemas.microsoft.com/office/drawing/2014/main" id="{970B2255-7BED-7BC6-CB60-FA385C211AF5}"/>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3" name="Rectangle: Rounded Corners 22">
            <a:extLst>
              <a:ext uri="{FF2B5EF4-FFF2-40B4-BE49-F238E27FC236}">
                <a16:creationId xmlns:a16="http://schemas.microsoft.com/office/drawing/2014/main" id="{9F4D2B3E-3FB2-3162-C010-F56362AE3CC6}"/>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24" name="Straight Arrow Connector 23">
            <a:extLst>
              <a:ext uri="{FF2B5EF4-FFF2-40B4-BE49-F238E27FC236}">
                <a16:creationId xmlns:a16="http://schemas.microsoft.com/office/drawing/2014/main" id="{1E058DFE-37D5-26E6-A12E-773453D998B8}"/>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C5384C8-9C19-2120-5059-95210EDB12CB}"/>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386D8A5-B6F5-0ECE-CC2A-1F83F104850A}"/>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9623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67A47F-FF03-C0EA-F2C3-2A05FE8DB4B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4D8B8A5-5E53-9ADB-8677-0D877C6384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591FC38-4901-2428-1751-48A4FF968D13}"/>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2A07EB04-8650-AA9A-B2B0-F875D31963C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E42C572B-B26D-C047-14E3-2057F8409E1C}"/>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4789C518-F3B3-A04F-0F4A-42B7D1E1F02E}"/>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DBB3FA22-0B15-FB23-1CCD-63233141106D}"/>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53F7B19D-E0B8-B85E-D548-83F3D9F8A231}"/>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8BF42D10-C1FF-1B4F-0B43-92D5C86C822C}"/>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6866EB3-9954-F499-4D52-4F5C2372C421}"/>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A7CC749C-AB10-0783-0455-069AE1322C72}"/>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6E4F0122-356A-B431-BD70-E07BAFB54296}"/>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6D2065DF-0393-F136-36D0-1F30858E513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ABF68553-8D0D-CC42-095F-FC1B432AA6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6EC8E371-EF9B-B11C-F951-B60B6087E5B2}"/>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CCDA910F-12C7-46DE-E7D8-D64E5619C4DE}"/>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D24BCA0D-1D12-73CC-2AA5-AF96BED41C39}"/>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8B89D579-F294-3B1C-F577-D00E42109796}"/>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7224DE0A-970D-C0BA-FBA8-B638A08CDB4A}"/>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43DA42BC-970B-B1A5-DE3A-BAE1B8CC4F25}"/>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D6D97B75-D7A1-D703-DEA2-566CF93CF195}"/>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A7E2D088-770B-F494-DBC5-6774D6B97DD5}"/>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C72DECD4-4886-A01F-0204-A3D65E4B172D}"/>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9F0E1E98-CC43-E094-503C-3D3BD9773F01}"/>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29EBA3D-3000-51DD-D5D6-FA4B6EEA16E0}"/>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847B29-9CA8-387D-392D-5B34762D60F1}"/>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4E17790-63F0-1C01-7719-A625FBE794D8}"/>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4C92411-1B4E-2C4A-F914-95F30EC8D95C}"/>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63C49FA-51AE-080F-EE9B-1A95FB3BEEEB}"/>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66FE5E8F-6583-E5A3-FD78-5176238ED7E9}"/>
              </a:ext>
            </a:extLst>
          </p:cNvPr>
          <p:cNvGrpSpPr/>
          <p:nvPr/>
        </p:nvGrpSpPr>
        <p:grpSpPr>
          <a:xfrm>
            <a:off x="346492" y="1230331"/>
            <a:ext cx="1970636" cy="5332610"/>
            <a:chOff x="273095" y="1230331"/>
            <a:chExt cx="1970636" cy="5332610"/>
          </a:xfrm>
        </p:grpSpPr>
        <p:sp>
          <p:nvSpPr>
            <p:cNvPr id="46" name="Rectangle: Rounded Corners 45">
              <a:extLst>
                <a:ext uri="{FF2B5EF4-FFF2-40B4-BE49-F238E27FC236}">
                  <a16:creationId xmlns:a16="http://schemas.microsoft.com/office/drawing/2014/main" id="{AB99E323-6A73-2A04-4BBC-93A6972264F2}"/>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838C9812-ECCE-E969-80C3-172B3A0E9221}"/>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9B504972-DABE-5824-9CAA-EEC8820439EB}"/>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F6AE1775-4B77-CAE6-D1E3-F61A30201F6E}"/>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Rectangle: Rounded Corners 54">
              <a:extLst>
                <a:ext uri="{FF2B5EF4-FFF2-40B4-BE49-F238E27FC236}">
                  <a16:creationId xmlns:a16="http://schemas.microsoft.com/office/drawing/2014/main" id="{B09B2966-5EE1-033F-B317-E8DDEBA48417}"/>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6" name="Rectangle: Rounded Corners 55">
              <a:extLst>
                <a:ext uri="{FF2B5EF4-FFF2-40B4-BE49-F238E27FC236}">
                  <a16:creationId xmlns:a16="http://schemas.microsoft.com/office/drawing/2014/main" id="{6C56E6FA-CB1C-7D51-DDD4-23EF7F133275}"/>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7" name="TextBox 56">
              <a:extLst>
                <a:ext uri="{FF2B5EF4-FFF2-40B4-BE49-F238E27FC236}">
                  <a16:creationId xmlns:a16="http://schemas.microsoft.com/office/drawing/2014/main" id="{ED3DC297-58C0-1798-AC21-798F2E441390}"/>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8" name="TextBox 57">
              <a:extLst>
                <a:ext uri="{FF2B5EF4-FFF2-40B4-BE49-F238E27FC236}">
                  <a16:creationId xmlns:a16="http://schemas.microsoft.com/office/drawing/2014/main" id="{FF4D6B34-79DC-2D44-CD12-21D216E24204}"/>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59" name="TextBox 58">
              <a:extLst>
                <a:ext uri="{FF2B5EF4-FFF2-40B4-BE49-F238E27FC236}">
                  <a16:creationId xmlns:a16="http://schemas.microsoft.com/office/drawing/2014/main" id="{E2B5C7BD-A3E7-A341-DC44-9CC4EE2B5DF3}"/>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0" name="TextBox 59">
              <a:extLst>
                <a:ext uri="{FF2B5EF4-FFF2-40B4-BE49-F238E27FC236}">
                  <a16:creationId xmlns:a16="http://schemas.microsoft.com/office/drawing/2014/main" id="{DC24492B-897C-4558-EB89-3AC1EDF197EB}"/>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1" name="TextBox 60">
              <a:extLst>
                <a:ext uri="{FF2B5EF4-FFF2-40B4-BE49-F238E27FC236}">
                  <a16:creationId xmlns:a16="http://schemas.microsoft.com/office/drawing/2014/main" id="{9873B9CD-2C60-23AE-2F17-9A46BE3A3C05}"/>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2" name="TextBox 61">
              <a:extLst>
                <a:ext uri="{FF2B5EF4-FFF2-40B4-BE49-F238E27FC236}">
                  <a16:creationId xmlns:a16="http://schemas.microsoft.com/office/drawing/2014/main" id="{7E41B589-9F07-D778-02D9-46F15A03E846}"/>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3" name="Group 62">
            <a:extLst>
              <a:ext uri="{FF2B5EF4-FFF2-40B4-BE49-F238E27FC236}">
                <a16:creationId xmlns:a16="http://schemas.microsoft.com/office/drawing/2014/main" id="{6AD222D1-45C0-6713-1430-5E16B4D25964}"/>
              </a:ext>
            </a:extLst>
          </p:cNvPr>
          <p:cNvGrpSpPr/>
          <p:nvPr/>
        </p:nvGrpSpPr>
        <p:grpSpPr>
          <a:xfrm>
            <a:off x="3106840" y="1387508"/>
            <a:ext cx="2989156" cy="5132425"/>
            <a:chOff x="3171008" y="1386740"/>
            <a:chExt cx="2989156" cy="5132425"/>
          </a:xfrm>
        </p:grpSpPr>
        <p:sp>
          <p:nvSpPr>
            <p:cNvPr id="64" name="TextBox 63">
              <a:extLst>
                <a:ext uri="{FF2B5EF4-FFF2-40B4-BE49-F238E27FC236}">
                  <a16:creationId xmlns:a16="http://schemas.microsoft.com/office/drawing/2014/main" id="{AA74783F-2282-4E52-CE6B-4BEA3FD05CD1}"/>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5" name="TextBox 64">
              <a:extLst>
                <a:ext uri="{FF2B5EF4-FFF2-40B4-BE49-F238E27FC236}">
                  <a16:creationId xmlns:a16="http://schemas.microsoft.com/office/drawing/2014/main" id="{306F01DF-94C8-77FE-4167-A25FF9D4334F}"/>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6" name="TextBox 65">
              <a:extLst>
                <a:ext uri="{FF2B5EF4-FFF2-40B4-BE49-F238E27FC236}">
                  <a16:creationId xmlns:a16="http://schemas.microsoft.com/office/drawing/2014/main" id="{31B970E3-9E8E-269A-3BB7-AEC07417AFDE}"/>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A71EBD1C-9D03-2A93-336C-F9DD8C358CD5}"/>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936948D9-30E6-1A9D-6751-6C6F70EF5AF8}"/>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ED557FD3-951A-6594-A15E-E8766FB8B523}"/>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21" name="Picture 20">
            <a:extLst>
              <a:ext uri="{FF2B5EF4-FFF2-40B4-BE49-F238E27FC236}">
                <a16:creationId xmlns:a16="http://schemas.microsoft.com/office/drawing/2014/main" id="{04797689-FA8F-B538-F373-50383061F65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22" name="Picture 21">
            <a:extLst>
              <a:ext uri="{FF2B5EF4-FFF2-40B4-BE49-F238E27FC236}">
                <a16:creationId xmlns:a16="http://schemas.microsoft.com/office/drawing/2014/main" id="{5E78171F-76BE-2C44-8CD3-9D3A707A00AA}"/>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23" name="Oval 22">
            <a:extLst>
              <a:ext uri="{FF2B5EF4-FFF2-40B4-BE49-F238E27FC236}">
                <a16:creationId xmlns:a16="http://schemas.microsoft.com/office/drawing/2014/main" id="{146D2DD7-0173-3E14-6353-045A53CF6D02}"/>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B79BA9ED-F4BA-5E58-9985-6CFF9E1A9CC4}"/>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6AB3195B-097B-F086-F27E-2F5C1C713831}"/>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26" name="Rectangle: Rounded Corners 25">
            <a:extLst>
              <a:ext uri="{FF2B5EF4-FFF2-40B4-BE49-F238E27FC236}">
                <a16:creationId xmlns:a16="http://schemas.microsoft.com/office/drawing/2014/main" id="{9B874D24-CA3F-3350-E441-2355A805A48D}"/>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9DA34446-C70E-34D2-D634-7CC8BE199C80}"/>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8" name="Rectangle: Rounded Corners 27">
            <a:extLst>
              <a:ext uri="{FF2B5EF4-FFF2-40B4-BE49-F238E27FC236}">
                <a16:creationId xmlns:a16="http://schemas.microsoft.com/office/drawing/2014/main" id="{A0343E97-9C05-07AA-079F-5B4382C439DB}"/>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29" name="Straight Arrow Connector 28">
            <a:extLst>
              <a:ext uri="{FF2B5EF4-FFF2-40B4-BE49-F238E27FC236}">
                <a16:creationId xmlns:a16="http://schemas.microsoft.com/office/drawing/2014/main" id="{914121A7-7851-29D9-B904-061DBA31CFCE}"/>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CDEAA77-1AF8-629A-2B15-E75BC94F9D5C}"/>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E6FD59AD-2756-62F6-ED88-91F7E1196A06}"/>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74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B50DC0-32BB-C8FF-2F86-9E67DD6250D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EA9A75F-09B1-004E-EA8B-413C2A338A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5D9CAA09-B168-6E9C-C46B-D66BD75B757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11421D84-9F29-16E7-A827-E78912AFEAF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F0A17B7F-1B56-CFA8-1437-BD11F2049C75}"/>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AF816225-191D-8119-6BC2-B559D7336C50}"/>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BEC607F9-6634-8A0F-DE39-E8F7A1610B88}"/>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6E3D2C5A-6062-6DBF-CF00-81598015A279}"/>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55C5B63-CF4B-026F-1C23-54256F691308}"/>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FD057D28-9EE7-4FF3-37BD-1F7C852806C3}"/>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BC9835C5-FAAA-0CDA-0E09-9060F097A409}"/>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83787CA6-126D-9CF7-FF01-EE8C8671584B}"/>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76E301DC-5DD5-94BF-D9FD-473E8D49AFF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8C95EC0B-8EE2-5FDF-2DF5-A69864A12F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36AE3BC5-0C74-A58D-AF5A-1A7A6E0F02BF}"/>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E27B6F09-FF2F-D7CA-5CEB-51F69FEF3021}"/>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3E2748C9-5615-CA8D-FBA6-36AC26AF7B91}"/>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B8C1A4D7-7622-D552-BC8B-B67B4E5A62A8}"/>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055BADED-6D0A-CADC-8776-CBE3EB39AAEB}"/>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DDDE09A3-67E7-3F9A-A1F0-EAE30C6CD0E4}"/>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6CD78883-7636-0941-94B8-9AA9CD276158}"/>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8193ED51-F876-677A-F016-BF4D4DD9FB84}"/>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26E6E098-132B-FE64-9698-0B9159205D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grpSp>
        <p:nvGrpSpPr>
          <p:cNvPr id="2" name="Group 1">
            <a:extLst>
              <a:ext uri="{FF2B5EF4-FFF2-40B4-BE49-F238E27FC236}">
                <a16:creationId xmlns:a16="http://schemas.microsoft.com/office/drawing/2014/main" id="{9FD65919-5153-6759-85A5-5F3F7BB8D039}"/>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1099F5DB-9DD5-E2F5-5077-3B8A329B055E}"/>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AB2C5D8-E9AA-9BDF-CF23-B5E4BDCB83F4}"/>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07E6555-4818-5C61-0FB9-6F64EAFB81F6}"/>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2B416AB-0D26-F41D-1640-8D920AF0D1A0}"/>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548B65B-7F9A-241C-EBE8-F85EA0263E61}"/>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90AF3C7-4988-332C-5053-F0C196B211B4}"/>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A6AB6C09-5370-7EC1-4EDC-971AEB68F282}"/>
              </a:ext>
            </a:extLst>
          </p:cNvPr>
          <p:cNvGrpSpPr/>
          <p:nvPr/>
        </p:nvGrpSpPr>
        <p:grpSpPr>
          <a:xfrm>
            <a:off x="346492" y="1230331"/>
            <a:ext cx="1970636" cy="5332610"/>
            <a:chOff x="273095" y="1230331"/>
            <a:chExt cx="1970636" cy="5332610"/>
          </a:xfrm>
        </p:grpSpPr>
        <p:sp>
          <p:nvSpPr>
            <p:cNvPr id="47" name="Rectangle: Rounded Corners 46">
              <a:extLst>
                <a:ext uri="{FF2B5EF4-FFF2-40B4-BE49-F238E27FC236}">
                  <a16:creationId xmlns:a16="http://schemas.microsoft.com/office/drawing/2014/main" id="{B0859CB7-E4CA-03D8-A527-A0D98291F32B}"/>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CBB45D3E-401B-D138-7ECD-1F392C691CF1}"/>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7D7DD355-F187-0443-3554-AE83A02B4F6F}"/>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5" name="Rectangle: Rounded Corners 54">
              <a:extLst>
                <a:ext uri="{FF2B5EF4-FFF2-40B4-BE49-F238E27FC236}">
                  <a16:creationId xmlns:a16="http://schemas.microsoft.com/office/drawing/2014/main" id="{C715C78E-7BEE-9206-1CF6-4451F404539A}"/>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6" name="Rectangle: Rounded Corners 55">
              <a:extLst>
                <a:ext uri="{FF2B5EF4-FFF2-40B4-BE49-F238E27FC236}">
                  <a16:creationId xmlns:a16="http://schemas.microsoft.com/office/drawing/2014/main" id="{7F322952-BAC9-344A-0547-A32FB3989AF0}"/>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7" name="Rectangle: Rounded Corners 56">
              <a:extLst>
                <a:ext uri="{FF2B5EF4-FFF2-40B4-BE49-F238E27FC236}">
                  <a16:creationId xmlns:a16="http://schemas.microsoft.com/office/drawing/2014/main" id="{5E865E37-4ADE-F1DE-580F-EA00CAD447CA}"/>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8" name="TextBox 57">
              <a:extLst>
                <a:ext uri="{FF2B5EF4-FFF2-40B4-BE49-F238E27FC236}">
                  <a16:creationId xmlns:a16="http://schemas.microsoft.com/office/drawing/2014/main" id="{3CADC06C-C278-1F88-79CF-FDCC93EA38EC}"/>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9" name="TextBox 58">
              <a:extLst>
                <a:ext uri="{FF2B5EF4-FFF2-40B4-BE49-F238E27FC236}">
                  <a16:creationId xmlns:a16="http://schemas.microsoft.com/office/drawing/2014/main" id="{B7728AE0-36FB-ED4E-0816-15DF99505DD2}"/>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0" name="TextBox 59">
              <a:extLst>
                <a:ext uri="{FF2B5EF4-FFF2-40B4-BE49-F238E27FC236}">
                  <a16:creationId xmlns:a16="http://schemas.microsoft.com/office/drawing/2014/main" id="{01989CA1-4445-264A-CFCD-DA76C2F787FC}"/>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1" name="TextBox 60">
              <a:extLst>
                <a:ext uri="{FF2B5EF4-FFF2-40B4-BE49-F238E27FC236}">
                  <a16:creationId xmlns:a16="http://schemas.microsoft.com/office/drawing/2014/main" id="{064A47FE-91EB-0EAC-56A5-2D0CF6E2DB5C}"/>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2" name="TextBox 61">
              <a:extLst>
                <a:ext uri="{FF2B5EF4-FFF2-40B4-BE49-F238E27FC236}">
                  <a16:creationId xmlns:a16="http://schemas.microsoft.com/office/drawing/2014/main" id="{D338231B-E445-7AF8-4B89-F78EE860E7A1}"/>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3" name="TextBox 62">
              <a:extLst>
                <a:ext uri="{FF2B5EF4-FFF2-40B4-BE49-F238E27FC236}">
                  <a16:creationId xmlns:a16="http://schemas.microsoft.com/office/drawing/2014/main" id="{C4D22FF7-099A-CAD6-9A0C-7B4AE23D25E8}"/>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4" name="Group 63">
            <a:extLst>
              <a:ext uri="{FF2B5EF4-FFF2-40B4-BE49-F238E27FC236}">
                <a16:creationId xmlns:a16="http://schemas.microsoft.com/office/drawing/2014/main" id="{F3DBAF25-23BB-2A67-CCB7-6A450E29C1E8}"/>
              </a:ext>
            </a:extLst>
          </p:cNvPr>
          <p:cNvGrpSpPr/>
          <p:nvPr/>
        </p:nvGrpSpPr>
        <p:grpSpPr>
          <a:xfrm>
            <a:off x="3106840" y="1387508"/>
            <a:ext cx="2989156" cy="5132425"/>
            <a:chOff x="3171008" y="1386740"/>
            <a:chExt cx="2989156" cy="5132425"/>
          </a:xfrm>
        </p:grpSpPr>
        <p:sp>
          <p:nvSpPr>
            <p:cNvPr id="65" name="TextBox 64">
              <a:extLst>
                <a:ext uri="{FF2B5EF4-FFF2-40B4-BE49-F238E27FC236}">
                  <a16:creationId xmlns:a16="http://schemas.microsoft.com/office/drawing/2014/main" id="{B04AD654-F7A3-1EC6-2BBE-738366A4B429}"/>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6" name="TextBox 65">
              <a:extLst>
                <a:ext uri="{FF2B5EF4-FFF2-40B4-BE49-F238E27FC236}">
                  <a16:creationId xmlns:a16="http://schemas.microsoft.com/office/drawing/2014/main" id="{D214300C-6A14-7D70-A216-AF1A767DA7AA}"/>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E7F23740-187F-BB52-F09E-49BB7C7B981E}"/>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6E717935-4B9B-D0D3-468F-CF4DB52FDA2B}"/>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6D35C15E-7DB3-547B-4E8E-4B862D8ADF9F}"/>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0" name="TextBox 69">
              <a:extLst>
                <a:ext uri="{FF2B5EF4-FFF2-40B4-BE49-F238E27FC236}">
                  <a16:creationId xmlns:a16="http://schemas.microsoft.com/office/drawing/2014/main" id="{4B18BA41-5672-3768-9CFF-2E6BCD9E8A7E}"/>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21" name="Picture 20">
            <a:extLst>
              <a:ext uri="{FF2B5EF4-FFF2-40B4-BE49-F238E27FC236}">
                <a16:creationId xmlns:a16="http://schemas.microsoft.com/office/drawing/2014/main" id="{EBC90CDE-8F07-8E47-D6B6-B0D8FFE0182B}"/>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22" name="Picture 21">
            <a:extLst>
              <a:ext uri="{FF2B5EF4-FFF2-40B4-BE49-F238E27FC236}">
                <a16:creationId xmlns:a16="http://schemas.microsoft.com/office/drawing/2014/main" id="{F82D5A28-C098-4B1D-DDE4-21FEFCC0EA05}"/>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23" name="Oval 22">
            <a:extLst>
              <a:ext uri="{FF2B5EF4-FFF2-40B4-BE49-F238E27FC236}">
                <a16:creationId xmlns:a16="http://schemas.microsoft.com/office/drawing/2014/main" id="{13D0D28A-1711-C57A-32B9-6E2F48D857F0}"/>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4BA4D288-200F-F304-0AEF-EC8C3E3C4945}"/>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a:extLst>
              <a:ext uri="{FF2B5EF4-FFF2-40B4-BE49-F238E27FC236}">
                <a16:creationId xmlns:a16="http://schemas.microsoft.com/office/drawing/2014/main" id="{3DC60926-19E7-413F-70BF-6F09D1D26227}"/>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26" name="Rectangle: Rounded Corners 25">
            <a:extLst>
              <a:ext uri="{FF2B5EF4-FFF2-40B4-BE49-F238E27FC236}">
                <a16:creationId xmlns:a16="http://schemas.microsoft.com/office/drawing/2014/main" id="{661557DA-8115-CA64-F4BC-4E41F854AE8B}"/>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7CBF48F3-576E-30BB-F1A2-EFC52FBD23DD}"/>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8" name="Rectangle: Rounded Corners 27">
            <a:extLst>
              <a:ext uri="{FF2B5EF4-FFF2-40B4-BE49-F238E27FC236}">
                <a16:creationId xmlns:a16="http://schemas.microsoft.com/office/drawing/2014/main" id="{7F5597B9-5C18-2E09-92FE-3421AF82B5FA}"/>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29" name="Straight Arrow Connector 28">
            <a:extLst>
              <a:ext uri="{FF2B5EF4-FFF2-40B4-BE49-F238E27FC236}">
                <a16:creationId xmlns:a16="http://schemas.microsoft.com/office/drawing/2014/main" id="{C14516C7-8AEE-1669-48AB-A1472BBA9661}"/>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BCD25ED-541F-DBF6-EFE1-9F34824A0A3A}"/>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EF5C116-D7BC-5851-2A44-F58C525FE073}"/>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3305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AA03E11-2E59-E7A1-015C-C140742EDB6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6C9E48A-4F73-84D8-0ABB-5AEB3C22E2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107702A7-A477-D986-E204-84BCC3C13189}"/>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7EE25C5F-4F3A-052C-0C5C-06E636DDFEEF}"/>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0CF42941-4795-9849-A1EE-AEACD41C0616}"/>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070CFAB4-8123-BF90-7E10-240F59A77C50}"/>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0F7BBD85-E633-E51A-81EE-A06856DB302A}"/>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7B2E60A-4CC3-0038-F9B1-2D6B02E87CDF}"/>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76999DA0-C757-177F-A768-D68E10DBA80B}"/>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8BA0EE80-57FB-0126-EDA4-413086980ED5}"/>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A52512E1-284E-0A18-CADC-931EE64C2C29}"/>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E6185922-E9DF-7D3E-18ED-90FDC32D3FB1}"/>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908A4D28-BB3C-7D24-94F2-F6EAB5E94284}"/>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C195C9AF-5DF9-DC9D-09B1-B4F86EF954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82B8FA7E-84C9-F167-DD70-D08B75C45572}"/>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2D7274A3-0666-FBBF-9247-837BD01CC9B3}"/>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B8D0A042-7D26-3169-3A6F-70A6427A834D}"/>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AA4142A8-E7C8-C82D-DB56-26B625C74C59}"/>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0F18E7E9-6369-727A-8FFF-C3B69CEF3894}"/>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DC9B0B30-0AF7-CC42-17DE-7F69AFBABECF}"/>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19CBD26A-F2A2-9CEF-D20A-0256B85A8E19}"/>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C8197DCB-F763-FC25-E61A-6156CA04E90D}"/>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FF6FDDD1-FD36-91DB-76FC-59D598EA6E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2" name="Rectangle: Rounded Corners 21">
            <a:extLst>
              <a:ext uri="{FF2B5EF4-FFF2-40B4-BE49-F238E27FC236}">
                <a16:creationId xmlns:a16="http://schemas.microsoft.com/office/drawing/2014/main" id="{A89F2E6E-6659-A56D-BE21-8461F020C52A}"/>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DE0A2B67-6544-3623-9546-7E1D9A5C1F22}"/>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A6E3F1AC-32BA-E61F-01D8-0E52CD91335F}"/>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4B2F1F3-0E72-731C-6D1E-408C16F2DD50}"/>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A4A6BC-8C87-F516-61D2-0FE289C546E3}"/>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98034E6-BBC2-90A2-6589-6D859563D374}"/>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4A0EBBD-02FF-ECAC-3619-02D5906220BF}"/>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052BCEC-F15F-7B1C-2858-A463004AB898}"/>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65A5FE83-9DE0-F734-E613-79BBFF9F38CF}"/>
              </a:ext>
            </a:extLst>
          </p:cNvPr>
          <p:cNvGrpSpPr/>
          <p:nvPr/>
        </p:nvGrpSpPr>
        <p:grpSpPr>
          <a:xfrm>
            <a:off x="346492" y="1230331"/>
            <a:ext cx="1970636" cy="5332610"/>
            <a:chOff x="273095" y="1230331"/>
            <a:chExt cx="1970636" cy="5332610"/>
          </a:xfrm>
        </p:grpSpPr>
        <p:sp>
          <p:nvSpPr>
            <p:cNvPr id="45" name="Rectangle: Rounded Corners 44">
              <a:extLst>
                <a:ext uri="{FF2B5EF4-FFF2-40B4-BE49-F238E27FC236}">
                  <a16:creationId xmlns:a16="http://schemas.microsoft.com/office/drawing/2014/main" id="{0451FF0C-D943-CFA0-2E53-3BCEEBF09496}"/>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6" name="Rectangle: Rounded Corners 45">
              <a:extLst>
                <a:ext uri="{FF2B5EF4-FFF2-40B4-BE49-F238E27FC236}">
                  <a16:creationId xmlns:a16="http://schemas.microsoft.com/office/drawing/2014/main" id="{5B2D4B45-497E-BAA4-C803-8881C7DF2856}"/>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F8416D16-7E41-30A4-E2F5-4C5C161479A3}"/>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44E56FD7-CEA2-5953-969F-EEED51D9EB8E}"/>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3023646D-F890-A2EF-D1DA-69D3B5DDCBF0}"/>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7" name="Rectangle: Rounded Corners 56">
              <a:extLst>
                <a:ext uri="{FF2B5EF4-FFF2-40B4-BE49-F238E27FC236}">
                  <a16:creationId xmlns:a16="http://schemas.microsoft.com/office/drawing/2014/main" id="{0B6E4043-49DD-470B-DB03-2533C8D6DE0C}"/>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8" name="TextBox 57">
              <a:extLst>
                <a:ext uri="{FF2B5EF4-FFF2-40B4-BE49-F238E27FC236}">
                  <a16:creationId xmlns:a16="http://schemas.microsoft.com/office/drawing/2014/main" id="{BD2DBCF4-8BC0-6888-BB88-BEE98C1F9263}"/>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59" name="TextBox 58">
              <a:extLst>
                <a:ext uri="{FF2B5EF4-FFF2-40B4-BE49-F238E27FC236}">
                  <a16:creationId xmlns:a16="http://schemas.microsoft.com/office/drawing/2014/main" id="{CB058941-32D8-0D75-EDCF-FB61CB0524E6}"/>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0" name="TextBox 59">
              <a:extLst>
                <a:ext uri="{FF2B5EF4-FFF2-40B4-BE49-F238E27FC236}">
                  <a16:creationId xmlns:a16="http://schemas.microsoft.com/office/drawing/2014/main" id="{9CFE5187-D229-3B17-E808-D7CDB1258385}"/>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1" name="TextBox 60">
              <a:extLst>
                <a:ext uri="{FF2B5EF4-FFF2-40B4-BE49-F238E27FC236}">
                  <a16:creationId xmlns:a16="http://schemas.microsoft.com/office/drawing/2014/main" id="{4923CD94-91E9-22BF-8943-9A486F8CDD57}"/>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2" name="TextBox 61">
              <a:extLst>
                <a:ext uri="{FF2B5EF4-FFF2-40B4-BE49-F238E27FC236}">
                  <a16:creationId xmlns:a16="http://schemas.microsoft.com/office/drawing/2014/main" id="{B0827112-E770-EAE3-A05D-3F631BB5CA61}"/>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3" name="TextBox 62">
              <a:extLst>
                <a:ext uri="{FF2B5EF4-FFF2-40B4-BE49-F238E27FC236}">
                  <a16:creationId xmlns:a16="http://schemas.microsoft.com/office/drawing/2014/main" id="{1BA7620F-1A81-F4F5-7123-503EA561F2D5}"/>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4" name="Group 63">
            <a:extLst>
              <a:ext uri="{FF2B5EF4-FFF2-40B4-BE49-F238E27FC236}">
                <a16:creationId xmlns:a16="http://schemas.microsoft.com/office/drawing/2014/main" id="{2921C08F-F6AB-CE62-E644-B65805ADC932}"/>
              </a:ext>
            </a:extLst>
          </p:cNvPr>
          <p:cNvGrpSpPr/>
          <p:nvPr/>
        </p:nvGrpSpPr>
        <p:grpSpPr>
          <a:xfrm>
            <a:off x="3106840" y="1387508"/>
            <a:ext cx="2989156" cy="5132425"/>
            <a:chOff x="3171008" y="1386740"/>
            <a:chExt cx="2989156" cy="5132425"/>
          </a:xfrm>
        </p:grpSpPr>
        <p:sp>
          <p:nvSpPr>
            <p:cNvPr id="65" name="TextBox 64">
              <a:extLst>
                <a:ext uri="{FF2B5EF4-FFF2-40B4-BE49-F238E27FC236}">
                  <a16:creationId xmlns:a16="http://schemas.microsoft.com/office/drawing/2014/main" id="{B4C446E0-83DA-E1F3-851F-940500B9C165}"/>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6" name="TextBox 65">
              <a:extLst>
                <a:ext uri="{FF2B5EF4-FFF2-40B4-BE49-F238E27FC236}">
                  <a16:creationId xmlns:a16="http://schemas.microsoft.com/office/drawing/2014/main" id="{0BE53AA4-1AF4-4E01-D28B-FD2112C8F50D}"/>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7" name="TextBox 66">
              <a:extLst>
                <a:ext uri="{FF2B5EF4-FFF2-40B4-BE49-F238E27FC236}">
                  <a16:creationId xmlns:a16="http://schemas.microsoft.com/office/drawing/2014/main" id="{02D38784-B234-B907-3285-65A6DEFC007A}"/>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46F7E0FA-486E-AB19-1CB1-EAD6860F1AEB}"/>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54A65319-943B-4359-2009-2A2BF659342D}"/>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0" name="TextBox 69">
              <a:extLst>
                <a:ext uri="{FF2B5EF4-FFF2-40B4-BE49-F238E27FC236}">
                  <a16:creationId xmlns:a16="http://schemas.microsoft.com/office/drawing/2014/main" id="{048188CC-1FC9-5F08-0BB1-95F4C52A486B}"/>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23" name="Picture 22">
            <a:extLst>
              <a:ext uri="{FF2B5EF4-FFF2-40B4-BE49-F238E27FC236}">
                <a16:creationId xmlns:a16="http://schemas.microsoft.com/office/drawing/2014/main" id="{D3496A90-E93A-8E0A-1C8F-B587684084E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24" name="Picture 23">
            <a:extLst>
              <a:ext uri="{FF2B5EF4-FFF2-40B4-BE49-F238E27FC236}">
                <a16:creationId xmlns:a16="http://schemas.microsoft.com/office/drawing/2014/main" id="{08EC718A-D555-E65A-6637-F30DABAFDC7F}"/>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25" name="Oval 24">
            <a:extLst>
              <a:ext uri="{FF2B5EF4-FFF2-40B4-BE49-F238E27FC236}">
                <a16:creationId xmlns:a16="http://schemas.microsoft.com/office/drawing/2014/main" id="{15CC42E2-68B5-82A8-CB30-1AE74FC13656}"/>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361F554-B9FE-88F7-9DDB-8A9073F4EB64}"/>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Picture 26">
            <a:extLst>
              <a:ext uri="{FF2B5EF4-FFF2-40B4-BE49-F238E27FC236}">
                <a16:creationId xmlns:a16="http://schemas.microsoft.com/office/drawing/2014/main" id="{0415F921-E096-A179-5B11-5A54DC6D9F56}"/>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28" name="Rectangle: Rounded Corners 27">
            <a:extLst>
              <a:ext uri="{FF2B5EF4-FFF2-40B4-BE49-F238E27FC236}">
                <a16:creationId xmlns:a16="http://schemas.microsoft.com/office/drawing/2014/main" id="{779F69F3-0706-C6E8-E051-64AE5DFBAAC3}"/>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29" name="Rectangle: Rounded Corners 28">
            <a:extLst>
              <a:ext uri="{FF2B5EF4-FFF2-40B4-BE49-F238E27FC236}">
                <a16:creationId xmlns:a16="http://schemas.microsoft.com/office/drawing/2014/main" id="{72BF50A0-2168-EDBB-AB73-C450B1462888}"/>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30" name="Rectangle: Rounded Corners 29">
            <a:extLst>
              <a:ext uri="{FF2B5EF4-FFF2-40B4-BE49-F238E27FC236}">
                <a16:creationId xmlns:a16="http://schemas.microsoft.com/office/drawing/2014/main" id="{8F73C96B-A737-B995-D430-3E599B27ED1C}"/>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31" name="Straight Arrow Connector 30">
            <a:extLst>
              <a:ext uri="{FF2B5EF4-FFF2-40B4-BE49-F238E27FC236}">
                <a16:creationId xmlns:a16="http://schemas.microsoft.com/office/drawing/2014/main" id="{DB9DF240-7CB3-268C-04FD-B3E8C1E686E0}"/>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CC0F380-9C70-6F93-97A4-BA1F419A2CB4}"/>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DDDA9FF-B871-5F4B-FAA9-B9F9F883AE68}"/>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38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1D2BD1-53B5-9F08-0744-8476ED80A2D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729C25B6-03CD-95EC-E7E8-89A07EDAF9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FE5A33BF-B0C0-9B82-6802-6F563D4005C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6531662E-2187-B2D2-A34E-55BF3BB5DFA3}"/>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99749EC6-7AA6-35C8-7446-BAEEC13E5DF7}"/>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AE60E460-BF3E-FD97-7F82-700A8FE93B44}"/>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0320B52-B0CC-77B1-6E28-66597AFF4B90}"/>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8735F93F-2A54-B916-6374-55D051717E53}"/>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822F3A55-BF1B-CFC8-54D2-909C1E4DD4E4}"/>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0F4A176-EBBC-FB61-D396-86C2479CF757}"/>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61E0DDAE-6F01-14BE-7431-08747C53882B}"/>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BEDE7CBB-085A-B955-3833-63F6BC96F44A}"/>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18AF3EA8-E116-3A2A-B3BE-CDFF8CF59CE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1C52C8E7-CFA7-0C5F-7434-A99FBF0658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125E1756-B44D-EA64-B3AD-C82F8D660620}"/>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6F88EBF1-CE45-BF7A-0C67-5AF98E3DDD97}"/>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5DBBA47B-8A45-4997-B60C-54E2A6EC4A87}"/>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4B148A62-A190-DDE5-5716-DC6995679AE0}"/>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FE0B3980-1F2F-3ADE-B4B9-9D802391DCC7}"/>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E84055B3-3143-3C5D-F724-369851116568}"/>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D6461974-BDB4-CC5E-B210-7097FAE2FDE5}"/>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D310C80B-0267-E359-5C2A-C45EEE9818E7}"/>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BBAC44E7-15CA-BC48-6F4F-1CA5415E2CD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5E34DDFB-9817-B6C6-F746-F282F3605E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7" name="Rectangle: Rounded Corners 26">
            <a:extLst>
              <a:ext uri="{FF2B5EF4-FFF2-40B4-BE49-F238E27FC236}">
                <a16:creationId xmlns:a16="http://schemas.microsoft.com/office/drawing/2014/main" id="{5AD0BA4E-096F-BF19-59E3-BB9F1EA756EF}"/>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EB37BCD2-FCB2-942D-8175-52D4C2CC4728}"/>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F86119BA-4659-4C8D-D95C-CF0E4398565A}"/>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034A545-DDC1-1C1A-CAA5-B8DA3765F951}"/>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9CBF0CA-3F6D-C2CC-F300-8DE2C2FDECDA}"/>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FF86ACB-0E64-77AD-2402-BBDD03037123}"/>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4197798-F0E1-524C-F3A3-856127AEB040}"/>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90F2F31-7969-6C09-372C-B3EBAF3398D3}"/>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6C5799A8-77FE-ED55-2094-3D73E1367728}"/>
              </a:ext>
            </a:extLst>
          </p:cNvPr>
          <p:cNvGrpSpPr/>
          <p:nvPr/>
        </p:nvGrpSpPr>
        <p:grpSpPr>
          <a:xfrm>
            <a:off x="346492" y="1230331"/>
            <a:ext cx="1970636" cy="5332610"/>
            <a:chOff x="273095" y="1230331"/>
            <a:chExt cx="1970636" cy="5332610"/>
          </a:xfrm>
        </p:grpSpPr>
        <p:sp>
          <p:nvSpPr>
            <p:cNvPr id="24" name="Rectangle: Rounded Corners 23">
              <a:extLst>
                <a:ext uri="{FF2B5EF4-FFF2-40B4-BE49-F238E27FC236}">
                  <a16:creationId xmlns:a16="http://schemas.microsoft.com/office/drawing/2014/main" id="{151E8E64-8975-14B4-3072-42F8002D7A58}"/>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26" name="Rectangle: Rounded Corners 25">
              <a:extLst>
                <a:ext uri="{FF2B5EF4-FFF2-40B4-BE49-F238E27FC236}">
                  <a16:creationId xmlns:a16="http://schemas.microsoft.com/office/drawing/2014/main" id="{3AC2D0FD-0BE2-BDF3-315A-674BD303EA12}"/>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2" name="Rectangle: Rounded Corners 41">
              <a:extLst>
                <a:ext uri="{FF2B5EF4-FFF2-40B4-BE49-F238E27FC236}">
                  <a16:creationId xmlns:a16="http://schemas.microsoft.com/office/drawing/2014/main" id="{0458DF4A-3C58-D8B2-CC5B-4310ED90F041}"/>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4" name="Rectangle: Rounded Corners 43">
              <a:extLst>
                <a:ext uri="{FF2B5EF4-FFF2-40B4-BE49-F238E27FC236}">
                  <a16:creationId xmlns:a16="http://schemas.microsoft.com/office/drawing/2014/main" id="{5D0DA951-17F0-F03C-9743-7726E2840B55}"/>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5" name="Rectangle: Rounded Corners 44">
              <a:extLst>
                <a:ext uri="{FF2B5EF4-FFF2-40B4-BE49-F238E27FC236}">
                  <a16:creationId xmlns:a16="http://schemas.microsoft.com/office/drawing/2014/main" id="{FF92F8FA-B589-B848-6F8A-7165BE675F4C}"/>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6" name="Rectangle: Rounded Corners 45">
              <a:extLst>
                <a:ext uri="{FF2B5EF4-FFF2-40B4-BE49-F238E27FC236}">
                  <a16:creationId xmlns:a16="http://schemas.microsoft.com/office/drawing/2014/main" id="{603CB7AD-F6CD-326A-F701-099340667ECE}"/>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TextBox 46">
              <a:extLst>
                <a:ext uri="{FF2B5EF4-FFF2-40B4-BE49-F238E27FC236}">
                  <a16:creationId xmlns:a16="http://schemas.microsoft.com/office/drawing/2014/main" id="{1AF7747F-DAB3-8DCD-0416-90A871515265}"/>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48" name="TextBox 47">
              <a:extLst>
                <a:ext uri="{FF2B5EF4-FFF2-40B4-BE49-F238E27FC236}">
                  <a16:creationId xmlns:a16="http://schemas.microsoft.com/office/drawing/2014/main" id="{758A97E1-0B58-57D0-FEDE-008BE26097D5}"/>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49" name="TextBox 48">
              <a:extLst>
                <a:ext uri="{FF2B5EF4-FFF2-40B4-BE49-F238E27FC236}">
                  <a16:creationId xmlns:a16="http://schemas.microsoft.com/office/drawing/2014/main" id="{E4FDCED1-1412-7A16-BB40-C73D68FBADD5}"/>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2" name="TextBox 61">
              <a:extLst>
                <a:ext uri="{FF2B5EF4-FFF2-40B4-BE49-F238E27FC236}">
                  <a16:creationId xmlns:a16="http://schemas.microsoft.com/office/drawing/2014/main" id="{109553B5-B9BB-BC53-DDE4-D376E58273F0}"/>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3" name="TextBox 62">
              <a:extLst>
                <a:ext uri="{FF2B5EF4-FFF2-40B4-BE49-F238E27FC236}">
                  <a16:creationId xmlns:a16="http://schemas.microsoft.com/office/drawing/2014/main" id="{4D3E23D0-7373-E24E-2A4D-697D4490C326}"/>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4" name="TextBox 63">
              <a:extLst>
                <a:ext uri="{FF2B5EF4-FFF2-40B4-BE49-F238E27FC236}">
                  <a16:creationId xmlns:a16="http://schemas.microsoft.com/office/drawing/2014/main" id="{4EFCB1A9-B2EF-A459-EC6C-DDBF013C1334}"/>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5" name="Group 64">
            <a:extLst>
              <a:ext uri="{FF2B5EF4-FFF2-40B4-BE49-F238E27FC236}">
                <a16:creationId xmlns:a16="http://schemas.microsoft.com/office/drawing/2014/main" id="{E3322259-1DBA-47D9-B461-0453D782637C}"/>
              </a:ext>
            </a:extLst>
          </p:cNvPr>
          <p:cNvGrpSpPr/>
          <p:nvPr/>
        </p:nvGrpSpPr>
        <p:grpSpPr>
          <a:xfrm>
            <a:off x="3106840" y="1387508"/>
            <a:ext cx="2989156" cy="5132425"/>
            <a:chOff x="3171008" y="1386740"/>
            <a:chExt cx="2989156" cy="5132425"/>
          </a:xfrm>
        </p:grpSpPr>
        <p:sp>
          <p:nvSpPr>
            <p:cNvPr id="66" name="TextBox 65">
              <a:extLst>
                <a:ext uri="{FF2B5EF4-FFF2-40B4-BE49-F238E27FC236}">
                  <a16:creationId xmlns:a16="http://schemas.microsoft.com/office/drawing/2014/main" id="{2E5E8A9D-9862-6E88-20D5-8471D46DCF16}"/>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67" name="TextBox 66">
              <a:extLst>
                <a:ext uri="{FF2B5EF4-FFF2-40B4-BE49-F238E27FC236}">
                  <a16:creationId xmlns:a16="http://schemas.microsoft.com/office/drawing/2014/main" id="{8C173C82-D7C9-4FCF-42CD-2FAFBEF89D72}"/>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8" name="TextBox 67">
              <a:extLst>
                <a:ext uri="{FF2B5EF4-FFF2-40B4-BE49-F238E27FC236}">
                  <a16:creationId xmlns:a16="http://schemas.microsoft.com/office/drawing/2014/main" id="{7E2ECC26-D34E-DA6F-C212-990DA2501AC9}"/>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69" name="TextBox 68">
              <a:extLst>
                <a:ext uri="{FF2B5EF4-FFF2-40B4-BE49-F238E27FC236}">
                  <a16:creationId xmlns:a16="http://schemas.microsoft.com/office/drawing/2014/main" id="{BE144B73-ECC3-A072-5D5A-91FCB145E35E}"/>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70" name="TextBox 69">
              <a:extLst>
                <a:ext uri="{FF2B5EF4-FFF2-40B4-BE49-F238E27FC236}">
                  <a16:creationId xmlns:a16="http://schemas.microsoft.com/office/drawing/2014/main" id="{A23CA27F-A204-A551-506E-091ABA18E69A}"/>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1" name="TextBox 70">
              <a:extLst>
                <a:ext uri="{FF2B5EF4-FFF2-40B4-BE49-F238E27FC236}">
                  <a16:creationId xmlns:a16="http://schemas.microsoft.com/office/drawing/2014/main" id="{CE6AC915-3369-F92E-BB06-3297621A3611}"/>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28" name="Picture 27">
            <a:extLst>
              <a:ext uri="{FF2B5EF4-FFF2-40B4-BE49-F238E27FC236}">
                <a16:creationId xmlns:a16="http://schemas.microsoft.com/office/drawing/2014/main" id="{DA000FA9-2EA1-9421-2C9F-16FF9C568D1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29" name="Picture 28">
            <a:extLst>
              <a:ext uri="{FF2B5EF4-FFF2-40B4-BE49-F238E27FC236}">
                <a16:creationId xmlns:a16="http://schemas.microsoft.com/office/drawing/2014/main" id="{85FD08FE-E9F9-2070-BB2D-D859F88D5285}"/>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30" name="Oval 29">
            <a:extLst>
              <a:ext uri="{FF2B5EF4-FFF2-40B4-BE49-F238E27FC236}">
                <a16:creationId xmlns:a16="http://schemas.microsoft.com/office/drawing/2014/main" id="{144C76E9-7B4B-A1BB-467C-EF3FC37508FB}"/>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447B3011-8467-CAE8-BE56-9151FB550D29}"/>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9C8863ED-4D87-6A47-3CD2-9D49F952A4A1}"/>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33" name="Rectangle: Rounded Corners 32">
            <a:extLst>
              <a:ext uri="{FF2B5EF4-FFF2-40B4-BE49-F238E27FC236}">
                <a16:creationId xmlns:a16="http://schemas.microsoft.com/office/drawing/2014/main" id="{545F07C7-1B02-A262-B21A-D1202B1D0E71}"/>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34" name="Rectangle: Rounded Corners 33">
            <a:extLst>
              <a:ext uri="{FF2B5EF4-FFF2-40B4-BE49-F238E27FC236}">
                <a16:creationId xmlns:a16="http://schemas.microsoft.com/office/drawing/2014/main" id="{FECE2EFF-ABB5-B7EC-F6CD-0879FD5E47CB}"/>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35" name="Rectangle: Rounded Corners 34">
            <a:extLst>
              <a:ext uri="{FF2B5EF4-FFF2-40B4-BE49-F238E27FC236}">
                <a16:creationId xmlns:a16="http://schemas.microsoft.com/office/drawing/2014/main" id="{CFB77A33-4765-E8B6-DBC4-47818C583D75}"/>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36" name="Straight Arrow Connector 35">
            <a:extLst>
              <a:ext uri="{FF2B5EF4-FFF2-40B4-BE49-F238E27FC236}">
                <a16:creationId xmlns:a16="http://schemas.microsoft.com/office/drawing/2014/main" id="{01A1739A-7743-09A0-E413-D019B88A07F0}"/>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ED0F50D-00EF-647B-6349-8C5E62D36836}"/>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CCD8E2B-EAC7-F64B-5CB8-82EF86449A2A}"/>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39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2B9F85-366C-881A-4C8B-4635ABA2543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7D07B1A-A281-2451-7B69-1EAD6AED4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A28594AD-9C64-8F5D-E75E-6907E047C39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82C98FBF-40BD-E438-AE60-79435B0C7344}"/>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BD54C9B1-0AF1-ABB3-6E9E-E6A72C65755C}"/>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F3F54325-073F-1E37-1265-72204D517951}"/>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4FA54561-D2EE-0C65-F192-8E4A80AAEEE8}"/>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D34C45C9-65AB-DA8D-B805-7C57C76C987D}"/>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A12419FB-498F-8EFA-08FE-AFA0F8CDFBC3}"/>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FED63D77-F63C-B0B6-D935-25DE166BE47C}"/>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45F1E16C-AA31-9A38-BE8D-EB19B2513110}"/>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E91AB222-575A-AF16-1F43-98CBC61B3EF1}"/>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pic>
        <p:nvPicPr>
          <p:cNvPr id="113" name="Picture 112">
            <a:extLst>
              <a:ext uri="{FF2B5EF4-FFF2-40B4-BE49-F238E27FC236}">
                <a16:creationId xmlns:a16="http://schemas.microsoft.com/office/drawing/2014/main" id="{F9AEEFC0-C31E-C447-AB85-0315FD19FAF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928130" y="1005176"/>
            <a:ext cx="2488888" cy="1625273"/>
          </a:xfrm>
          <a:prstGeom prst="rect">
            <a:avLst/>
          </a:prstGeom>
          <a:effectLst>
            <a:outerShdw blurRad="317500" sx="102000" sy="102000" algn="ctr" rotWithShape="0">
              <a:srgbClr val="C29524">
                <a:alpha val="50000"/>
              </a:srgbClr>
            </a:outerShdw>
          </a:effectLst>
        </p:spPr>
      </p:pic>
      <p:pic>
        <p:nvPicPr>
          <p:cNvPr id="115" name="Picture 114" hidden="1">
            <a:extLst>
              <a:ext uri="{FF2B5EF4-FFF2-40B4-BE49-F238E27FC236}">
                <a16:creationId xmlns:a16="http://schemas.microsoft.com/office/drawing/2014/main" id="{CCC71BD3-9705-9B11-E9F2-A49175C2331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01718" y="3778897"/>
            <a:ext cx="3141712" cy="1717469"/>
          </a:xfrm>
          <a:prstGeom prst="rect">
            <a:avLst/>
          </a:prstGeom>
          <a:effectLst>
            <a:outerShdw blurRad="317500" sx="102000" sy="102000" algn="ctr" rotWithShape="0">
              <a:srgbClr val="C29524">
                <a:alpha val="50000"/>
              </a:srgbClr>
            </a:outerShdw>
          </a:effectLst>
        </p:spPr>
      </p:pic>
      <p:sp>
        <p:nvSpPr>
          <p:cNvPr id="19" name="Rectangle: Rounded Corners 18">
            <a:extLst>
              <a:ext uri="{FF2B5EF4-FFF2-40B4-BE49-F238E27FC236}">
                <a16:creationId xmlns:a16="http://schemas.microsoft.com/office/drawing/2014/main" id="{4E89746A-597B-156F-A3BF-0766025B3D60}"/>
              </a:ext>
            </a:extLst>
          </p:cNvPr>
          <p:cNvSpPr/>
          <p:nvPr/>
        </p:nvSpPr>
        <p:spPr>
          <a:xfrm>
            <a:off x="6268954" y="26625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3" name="Rectangle: Rounded Corners 122" hidden="1">
            <a:extLst>
              <a:ext uri="{FF2B5EF4-FFF2-40B4-BE49-F238E27FC236}">
                <a16:creationId xmlns:a16="http://schemas.microsoft.com/office/drawing/2014/main" id="{F3A56C5B-702E-A0E4-DF42-0BA64F407CF2}"/>
              </a:ext>
            </a:extLst>
          </p:cNvPr>
          <p:cNvSpPr/>
          <p:nvPr/>
        </p:nvSpPr>
        <p:spPr>
          <a:xfrm>
            <a:off x="6268954" y="5562211"/>
            <a:ext cx="5807240" cy="953453"/>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rtlCol="0" anchor="ctr" anchorCtr="1">
            <a:spAutoFit/>
          </a:bodyPr>
          <a:lstStyle/>
          <a:p>
            <a:pPr algn="ctr"/>
            <a:r>
              <a:rPr lang="en-US" sz="1000" b="1" dirty="0">
                <a:solidFill>
                  <a:srgbClr val="896919"/>
                </a:solidFill>
                <a:latin typeface="Segoe UI Semibold" panose="020B0702040204020203" pitchFamily="34" charset="0"/>
                <a:cs typeface="Segoe UI Semibold" panose="020B0702040204020203" pitchFamily="34" charset="0"/>
              </a:rPr>
              <a:t>By breaking down the Suppliers OTIF % over 2025’s months, we can obviously see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65.68%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)&amp; July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65.82%</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with a huge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downfall</a:t>
            </a:r>
            <a:r>
              <a:rPr lang="en-US" sz="1000" b="1" dirty="0">
                <a:solidFill>
                  <a:srgbClr val="896919"/>
                </a:solidFill>
                <a:latin typeface="Segoe UI Semibold" panose="020B0702040204020203" pitchFamily="34" charset="0"/>
                <a:cs typeface="Segoe UI Semibold" panose="020B0702040204020203" pitchFamily="34" charset="0"/>
              </a:rPr>
              <a:t> between them in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June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64.69%</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and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March</a:t>
            </a:r>
            <a:r>
              <a:rPr lang="en-US" sz="1000" b="1" dirty="0">
                <a:solidFill>
                  <a:srgbClr val="896919"/>
                </a:solidFill>
                <a:latin typeface="Segoe UI Semibold" panose="020B0702040204020203" pitchFamily="34" charset="0"/>
                <a:cs typeface="Segoe UI Semibold" panose="020B0702040204020203" pitchFamily="34" charset="0"/>
              </a:rPr>
              <a: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64.51%</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a:t>
            </a:r>
            <a:r>
              <a:rPr lang="en-US" sz="1000" b="1" dirty="0">
                <a:solidFill>
                  <a:srgbClr val="896919"/>
                </a:solidFill>
                <a:latin typeface="Segoe UI Semibold" panose="020B0702040204020203" pitchFamily="34" charset="0"/>
                <a:cs typeface="Segoe UI Semibold" panose="020B0702040204020203" pitchFamily="34" charset="0"/>
              </a:rPr>
              <a:t>as the least. However, the differences are slight overall.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peak</a:t>
            </a:r>
            <a:r>
              <a:rPr lang="en-US" sz="1000" b="1" dirty="0">
                <a:solidFill>
                  <a:srgbClr val="896919"/>
                </a:solidFill>
                <a:latin typeface="Segoe UI Semibold" panose="020B0702040204020203" pitchFamily="34" charset="0"/>
                <a:cs typeface="Segoe UI Semibold" panose="020B0702040204020203" pitchFamily="34" charset="0"/>
              </a:rPr>
              <a:t> is down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minimum target (</a:t>
            </a:r>
            <a:r>
              <a:rPr lang="en-US" sz="10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78%</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t>
            </a:r>
            <a:r>
              <a:rPr lang="en-US" sz="1000" b="1" dirty="0">
                <a:solidFill>
                  <a:srgbClr val="896919"/>
                </a:solidFill>
                <a:latin typeface="Segoe UI Semibold" panose="020B0702040204020203" pitchFamily="34" charset="0"/>
                <a:cs typeface="Segoe UI Semibold" panose="020B0702040204020203" pitchFamily="34" charset="0"/>
              </a:rPr>
              <a:t>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12.18%</a:t>
            </a:r>
            <a:r>
              <a:rPr lang="en-US" sz="1000" b="1" dirty="0">
                <a:solidFill>
                  <a:srgbClr val="896919"/>
                </a:solidFill>
                <a:latin typeface="Segoe UI Semibold" panose="020B0702040204020203" pitchFamily="34" charset="0"/>
                <a:cs typeface="Segoe UI Semibold" panose="020B0702040204020203" pitchFamily="34" charset="0"/>
              </a:rPr>
              <a:t>, and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is down by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13.49%</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124" name="Rectangle 123">
            <a:extLst>
              <a:ext uri="{FF2B5EF4-FFF2-40B4-BE49-F238E27FC236}">
                <a16:creationId xmlns:a16="http://schemas.microsoft.com/office/drawing/2014/main" id="{2AD648E3-5556-DE13-73BD-0A2925C24A2C}"/>
              </a:ext>
            </a:extLst>
          </p:cNvPr>
          <p:cNvSpPr/>
          <p:nvPr/>
        </p:nvSpPr>
        <p:spPr>
          <a:xfrm>
            <a:off x="8234693" y="1714626"/>
            <a:ext cx="1749426" cy="168275"/>
          </a:xfrm>
          <a:prstGeom prst="rect">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7" name="Oval 126" hidden="1">
            <a:extLst>
              <a:ext uri="{FF2B5EF4-FFF2-40B4-BE49-F238E27FC236}">
                <a16:creationId xmlns:a16="http://schemas.microsoft.com/office/drawing/2014/main" id="{50AF8406-B3FB-47CC-D4C2-58F1205AB9FB}"/>
              </a:ext>
            </a:extLst>
          </p:cNvPr>
          <p:cNvSpPr/>
          <p:nvPr/>
        </p:nvSpPr>
        <p:spPr>
          <a:xfrm>
            <a:off x="8859539" y="410398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9" name="Oval 128" hidden="1">
            <a:extLst>
              <a:ext uri="{FF2B5EF4-FFF2-40B4-BE49-F238E27FC236}">
                <a16:creationId xmlns:a16="http://schemas.microsoft.com/office/drawing/2014/main" id="{F75E9E86-7803-16AA-9FD7-A70A231C29F7}"/>
              </a:ext>
            </a:extLst>
          </p:cNvPr>
          <p:cNvSpPr/>
          <p:nvPr/>
        </p:nvSpPr>
        <p:spPr>
          <a:xfrm>
            <a:off x="9340699" y="4028626"/>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1" name="Straight Arrow Connector 140" hidden="1">
            <a:extLst>
              <a:ext uri="{FF2B5EF4-FFF2-40B4-BE49-F238E27FC236}">
                <a16:creationId xmlns:a16="http://schemas.microsoft.com/office/drawing/2014/main" id="{8F869F28-F60F-E2BE-86B0-CF1A7A5E2A87}"/>
              </a:ext>
            </a:extLst>
          </p:cNvPr>
          <p:cNvCxnSpPr>
            <a:cxnSpLocks/>
          </p:cNvCxnSpPr>
          <p:nvPr/>
        </p:nvCxnSpPr>
        <p:spPr>
          <a:xfrm flipV="1">
            <a:off x="8767766" y="4083882"/>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hidden="1">
            <a:extLst>
              <a:ext uri="{FF2B5EF4-FFF2-40B4-BE49-F238E27FC236}">
                <a16:creationId xmlns:a16="http://schemas.microsoft.com/office/drawing/2014/main" id="{51C3EF37-D88D-0F33-3D3D-8BBCD8F78D90}"/>
              </a:ext>
            </a:extLst>
          </p:cNvPr>
          <p:cNvCxnSpPr>
            <a:cxnSpLocks/>
          </p:cNvCxnSpPr>
          <p:nvPr/>
        </p:nvCxnSpPr>
        <p:spPr>
          <a:xfrm flipV="1">
            <a:off x="9625016" y="3988428"/>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hidden="1">
            <a:extLst>
              <a:ext uri="{FF2B5EF4-FFF2-40B4-BE49-F238E27FC236}">
                <a16:creationId xmlns:a16="http://schemas.microsoft.com/office/drawing/2014/main" id="{C25EB730-C040-C24E-447C-354B8DB0284A}"/>
              </a:ext>
            </a:extLst>
          </p:cNvPr>
          <p:cNvCxnSpPr>
            <a:cxnSpLocks/>
          </p:cNvCxnSpPr>
          <p:nvPr/>
        </p:nvCxnSpPr>
        <p:spPr>
          <a:xfrm>
            <a:off x="9201152" y="4379661"/>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BE6FE4D4-2EEA-F101-4925-93FD431B8C4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557861" y="3687838"/>
            <a:ext cx="3105386" cy="1717469"/>
          </a:xfrm>
          <a:prstGeom prst="rect">
            <a:avLst/>
          </a:prstGeom>
          <a:effectLst>
            <a:outerShdw blurRad="317500" sx="102000" sy="102000" algn="ctr" rotWithShape="0">
              <a:srgbClr val="C29524">
                <a:alpha val="50000"/>
              </a:srgbClr>
            </a:outerShdw>
          </a:effectLst>
        </p:spPr>
      </p:pic>
      <p:pic>
        <p:nvPicPr>
          <p:cNvPr id="20" name="Picture 19">
            <a:extLst>
              <a:ext uri="{FF2B5EF4-FFF2-40B4-BE49-F238E27FC236}">
                <a16:creationId xmlns:a16="http://schemas.microsoft.com/office/drawing/2014/main" id="{4512DBF5-59E7-F701-681C-4EFC3267B7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9943" y="3687838"/>
            <a:ext cx="1638182" cy="1616120"/>
          </a:xfrm>
          <a:prstGeom prst="rect">
            <a:avLst/>
          </a:prstGeom>
        </p:spPr>
      </p:pic>
      <p:sp>
        <p:nvSpPr>
          <p:cNvPr id="25" name="Rectangle: Rounded Corners 24">
            <a:extLst>
              <a:ext uri="{FF2B5EF4-FFF2-40B4-BE49-F238E27FC236}">
                <a16:creationId xmlns:a16="http://schemas.microsoft.com/office/drawing/2014/main" id="{ADA62A09-E67A-C476-99B7-E55DAC9A464D}"/>
              </a:ext>
            </a:extLst>
          </p:cNvPr>
          <p:cNvSpPr/>
          <p:nvPr/>
        </p:nvSpPr>
        <p:spPr>
          <a:xfrm>
            <a:off x="8148697" y="5439395"/>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6B095D43-74D4-8775-BF5A-7EB782BF0B3A}"/>
              </a:ext>
            </a:extLst>
          </p:cNvPr>
          <p:cNvSpPr/>
          <p:nvPr/>
        </p:nvSpPr>
        <p:spPr>
          <a:xfrm>
            <a:off x="6268954" y="5332654"/>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grpSp>
        <p:nvGrpSpPr>
          <p:cNvPr id="2" name="Group 1">
            <a:extLst>
              <a:ext uri="{FF2B5EF4-FFF2-40B4-BE49-F238E27FC236}">
                <a16:creationId xmlns:a16="http://schemas.microsoft.com/office/drawing/2014/main" id="{FAE1ABF2-669F-9A0A-4B6E-9A79FD83D039}"/>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64435E3E-983F-82A9-26A8-872DDA4D0B68}"/>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4F2AFE01-B54A-03D1-A98F-2D6B831E308C}"/>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6FDE36-6319-38F2-3EF4-072667408875}"/>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307ABAC-2522-6AC0-A5AC-11F390BDBD8C}"/>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8022D3E-45F0-CCAE-BB8B-4CEA44713D5A}"/>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9673DF4-2DC1-6858-96DC-3AAA4E32BFA9}"/>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BFFF7D2F-4B68-28E6-C22B-BA258208A03A}"/>
              </a:ext>
            </a:extLst>
          </p:cNvPr>
          <p:cNvGrpSpPr/>
          <p:nvPr/>
        </p:nvGrpSpPr>
        <p:grpSpPr>
          <a:xfrm>
            <a:off x="346492" y="1230331"/>
            <a:ext cx="1970636" cy="5332610"/>
            <a:chOff x="273095" y="1230331"/>
            <a:chExt cx="1970636" cy="5332610"/>
          </a:xfrm>
        </p:grpSpPr>
        <p:sp>
          <p:nvSpPr>
            <p:cNvPr id="46" name="Rectangle: Rounded Corners 45">
              <a:extLst>
                <a:ext uri="{FF2B5EF4-FFF2-40B4-BE49-F238E27FC236}">
                  <a16:creationId xmlns:a16="http://schemas.microsoft.com/office/drawing/2014/main" id="{40FFB719-37BD-D072-D983-8AA9AEA92A2C}"/>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RM Stock (Tons)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7" name="Rectangle: Rounded Corners 46">
              <a:extLst>
                <a:ext uri="{FF2B5EF4-FFF2-40B4-BE49-F238E27FC236}">
                  <a16:creationId xmlns:a16="http://schemas.microsoft.com/office/drawing/2014/main" id="{78F7E0F0-4AA2-B95F-F6FE-DB6FE1676515}"/>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8" name="Rectangle: Rounded Corners 47">
              <a:extLst>
                <a:ext uri="{FF2B5EF4-FFF2-40B4-BE49-F238E27FC236}">
                  <a16:creationId xmlns:a16="http://schemas.microsoft.com/office/drawing/2014/main" id="{8117CCD2-913D-4F3A-1850-F7663B05AF3D}"/>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Moved RM Value</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9" name="Rectangle: Rounded Corners 48">
              <a:extLst>
                <a:ext uri="{FF2B5EF4-FFF2-40B4-BE49-F238E27FC236}">
                  <a16:creationId xmlns:a16="http://schemas.microsoft.com/office/drawing/2014/main" id="{5527E723-28FA-3F14-07F2-3A0133A0DCC4}"/>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Shrinkage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1" name="Rectangle: Rounded Corners 60">
              <a:extLst>
                <a:ext uri="{FF2B5EF4-FFF2-40B4-BE49-F238E27FC236}">
                  <a16:creationId xmlns:a16="http://schemas.microsoft.com/office/drawing/2014/main" id="{83CEC943-3082-DFEF-4CFB-DE25634900B0}"/>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Inventory Turnover</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2" name="Rectangle: Rounded Corners 61">
              <a:extLst>
                <a:ext uri="{FF2B5EF4-FFF2-40B4-BE49-F238E27FC236}">
                  <a16:creationId xmlns:a16="http://schemas.microsoft.com/office/drawing/2014/main" id="{09806C19-CDE1-A0B2-001A-4AA7EE50C055}"/>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Capacity Utilization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63" name="TextBox 62">
              <a:extLst>
                <a:ext uri="{FF2B5EF4-FFF2-40B4-BE49-F238E27FC236}">
                  <a16:creationId xmlns:a16="http://schemas.microsoft.com/office/drawing/2014/main" id="{EB78C728-1A40-E38A-A360-2E1EFDE229C4}"/>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46.92K</a:t>
              </a:r>
            </a:p>
          </p:txBody>
        </p:sp>
        <p:sp>
          <p:nvSpPr>
            <p:cNvPr id="64" name="TextBox 63">
              <a:extLst>
                <a:ext uri="{FF2B5EF4-FFF2-40B4-BE49-F238E27FC236}">
                  <a16:creationId xmlns:a16="http://schemas.microsoft.com/office/drawing/2014/main" id="{49796EC7-BBFD-8E82-E182-097CC35C7721}"/>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$77.87M</a:t>
              </a:r>
            </a:p>
          </p:txBody>
        </p:sp>
        <p:sp>
          <p:nvSpPr>
            <p:cNvPr id="65" name="TextBox 64">
              <a:extLst>
                <a:ext uri="{FF2B5EF4-FFF2-40B4-BE49-F238E27FC236}">
                  <a16:creationId xmlns:a16="http://schemas.microsoft.com/office/drawing/2014/main" id="{F881603B-6AEF-18B8-D8A7-6D61D86C01F9}"/>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$19.68M</a:t>
              </a:r>
            </a:p>
          </p:txBody>
        </p:sp>
        <p:sp>
          <p:nvSpPr>
            <p:cNvPr id="66" name="TextBox 65">
              <a:extLst>
                <a:ext uri="{FF2B5EF4-FFF2-40B4-BE49-F238E27FC236}">
                  <a16:creationId xmlns:a16="http://schemas.microsoft.com/office/drawing/2014/main" id="{9A828F22-C1CB-1C25-8DA7-BAFA9DF83DFD}"/>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9.58%</a:t>
              </a:r>
            </a:p>
          </p:txBody>
        </p:sp>
        <p:sp>
          <p:nvSpPr>
            <p:cNvPr id="67" name="TextBox 66">
              <a:extLst>
                <a:ext uri="{FF2B5EF4-FFF2-40B4-BE49-F238E27FC236}">
                  <a16:creationId xmlns:a16="http://schemas.microsoft.com/office/drawing/2014/main" id="{5FB07EF2-0A99-32C9-E629-3E067F66439D}"/>
                </a:ext>
              </a:extLst>
            </p:cNvPr>
            <p:cNvSpPr txBox="1"/>
            <p:nvPr/>
          </p:nvSpPr>
          <p:spPr>
            <a:xfrm>
              <a:off x="586901" y="5243561"/>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12.64</a:t>
              </a:r>
            </a:p>
          </p:txBody>
        </p:sp>
        <p:sp>
          <p:nvSpPr>
            <p:cNvPr id="68" name="TextBox 67">
              <a:extLst>
                <a:ext uri="{FF2B5EF4-FFF2-40B4-BE49-F238E27FC236}">
                  <a16:creationId xmlns:a16="http://schemas.microsoft.com/office/drawing/2014/main" id="{FC7A240E-20B8-9D6F-BC42-43EE2F78EE74}"/>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00B050"/>
                  </a:solidFill>
                  <a:latin typeface="Segoe UI Semibold" panose="020B0702040204020203" pitchFamily="34" charset="0"/>
                  <a:cs typeface="Segoe UI Semibold" panose="020B0702040204020203" pitchFamily="34" charset="0"/>
                </a:rPr>
                <a:t>84.27%</a:t>
              </a:r>
            </a:p>
          </p:txBody>
        </p:sp>
      </p:grpSp>
      <p:grpSp>
        <p:nvGrpSpPr>
          <p:cNvPr id="69" name="Group 68">
            <a:extLst>
              <a:ext uri="{FF2B5EF4-FFF2-40B4-BE49-F238E27FC236}">
                <a16:creationId xmlns:a16="http://schemas.microsoft.com/office/drawing/2014/main" id="{CC667E46-6316-D36F-71B3-70A9A22A8F93}"/>
              </a:ext>
            </a:extLst>
          </p:cNvPr>
          <p:cNvGrpSpPr/>
          <p:nvPr/>
        </p:nvGrpSpPr>
        <p:grpSpPr>
          <a:xfrm>
            <a:off x="3106840" y="1387508"/>
            <a:ext cx="2989156" cy="5132425"/>
            <a:chOff x="3171008" y="1386740"/>
            <a:chExt cx="2989156" cy="5132425"/>
          </a:xfrm>
        </p:grpSpPr>
        <p:sp>
          <p:nvSpPr>
            <p:cNvPr id="70" name="TextBox 69">
              <a:extLst>
                <a:ext uri="{FF2B5EF4-FFF2-40B4-BE49-F238E27FC236}">
                  <a16:creationId xmlns:a16="http://schemas.microsoft.com/office/drawing/2014/main" id="{DFB0CD90-9A00-0692-92CD-4DFACCD51800}"/>
                </a:ext>
              </a:extLst>
            </p:cNvPr>
            <p:cNvSpPr txBox="1"/>
            <p:nvPr/>
          </p:nvSpPr>
          <p:spPr>
            <a:xfrm>
              <a:off x="3171012" y="1386740"/>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Raw Materials end of year available stock in Tons</a:t>
              </a:r>
            </a:p>
          </p:txBody>
        </p:sp>
        <p:sp>
          <p:nvSpPr>
            <p:cNvPr id="71" name="TextBox 70">
              <a:extLst>
                <a:ext uri="{FF2B5EF4-FFF2-40B4-BE49-F238E27FC236}">
                  <a16:creationId xmlns:a16="http://schemas.microsoft.com/office/drawing/2014/main" id="{44966658-54BF-17F9-B02D-CA7FCCA91BE2}"/>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Total available inventory value</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2" name="TextBox 71">
              <a:extLst>
                <a:ext uri="{FF2B5EF4-FFF2-40B4-BE49-F238E27FC236}">
                  <a16:creationId xmlns:a16="http://schemas.microsoft.com/office/drawing/2014/main" id="{3A8FBC1F-51A4-5DA9-9817-8897A5168FFF}"/>
                </a:ext>
              </a:extLst>
            </p:cNvPr>
            <p:cNvSpPr txBox="1"/>
            <p:nvPr/>
          </p:nvSpPr>
          <p:spPr>
            <a:xfrm>
              <a:off x="3171010" y="3222173"/>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The total value of moved raw materials across 2025 (In &amp; Out)</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3" name="TextBox 72">
              <a:extLst>
                <a:ext uri="{FF2B5EF4-FFF2-40B4-BE49-F238E27FC236}">
                  <a16:creationId xmlns:a16="http://schemas.microsoft.com/office/drawing/2014/main" id="{0C831451-3413-18D4-AD7D-9336F1FBD545}"/>
                </a:ext>
              </a:extLst>
            </p:cNvPr>
            <p:cNvSpPr txBox="1"/>
            <p:nvPr/>
          </p:nvSpPr>
          <p:spPr>
            <a:xfrm>
              <a:off x="3171010" y="3848473"/>
              <a:ext cx="2918255" cy="1015663"/>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Shrinkage % describes the proportion of physical stock lost between purchasing and the point of sale, compared to the expected system calculations,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5% - 8%</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74" name="TextBox 73">
              <a:extLst>
                <a:ext uri="{FF2B5EF4-FFF2-40B4-BE49-F238E27FC236}">
                  <a16:creationId xmlns:a16="http://schemas.microsoft.com/office/drawing/2014/main" id="{4F98FCE1-9FB4-893B-112B-8B2A3224B4D5}"/>
                </a:ext>
              </a:extLst>
            </p:cNvPr>
            <p:cNvSpPr txBox="1"/>
            <p:nvPr/>
          </p:nvSpPr>
          <p:spPr>
            <a:xfrm>
              <a:off x="3171009" y="4939530"/>
              <a:ext cx="298915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Inventory Turnover is how many times do we need to refill our inventory over year,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10 - 15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5" name="TextBox 74">
              <a:extLst>
                <a:ext uri="{FF2B5EF4-FFF2-40B4-BE49-F238E27FC236}">
                  <a16:creationId xmlns:a16="http://schemas.microsoft.com/office/drawing/2014/main" id="{292CF13C-C9EC-8373-1118-41F29837F934}"/>
                </a:ext>
              </a:extLst>
            </p:cNvPr>
            <p:cNvSpPr txBox="1"/>
            <p:nvPr/>
          </p:nvSpPr>
          <p:spPr>
            <a:xfrm>
              <a:off x="3171008" y="5842057"/>
              <a:ext cx="2801615"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Capacity Utilization % measures the capacity usage of our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a:t>
              </a:r>
              <a:r>
                <a:rPr lang="en-US" sz="1200" b="1" dirty="0">
                  <a:solidFill>
                    <a:srgbClr val="896919"/>
                  </a:solidFill>
                  <a:latin typeface="Segoe UI Semibold" panose="020B0702040204020203" pitchFamily="34" charset="0"/>
                  <a:cs typeface="Segoe UI Semibold" panose="020B0702040204020203" pitchFamily="34" charset="0"/>
                </a:rPr>
                <a:t> warehouses on average,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80% - 88%</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pic>
        <p:nvPicPr>
          <p:cNvPr id="26" name="Picture 25">
            <a:extLst>
              <a:ext uri="{FF2B5EF4-FFF2-40B4-BE49-F238E27FC236}">
                <a16:creationId xmlns:a16="http://schemas.microsoft.com/office/drawing/2014/main" id="{2950AC8F-0618-2FC0-95D0-3AFB7806188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12732062" y="1295021"/>
            <a:ext cx="2488888" cy="1289423"/>
          </a:xfrm>
          <a:prstGeom prst="rect">
            <a:avLst/>
          </a:prstGeom>
          <a:effectLst>
            <a:outerShdw blurRad="317500" sx="102000" sy="102000" algn="ctr" rotWithShape="0">
              <a:srgbClr val="C29524">
                <a:alpha val="50000"/>
              </a:srgbClr>
            </a:outerShdw>
          </a:effectLst>
        </p:spPr>
      </p:pic>
      <p:pic>
        <p:nvPicPr>
          <p:cNvPr id="28" name="Picture 27">
            <a:extLst>
              <a:ext uri="{FF2B5EF4-FFF2-40B4-BE49-F238E27FC236}">
                <a16:creationId xmlns:a16="http://schemas.microsoft.com/office/drawing/2014/main" id="{2FE28B5A-C9C2-2D17-4C6A-F24E578599CA}"/>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8350058" y="8559303"/>
            <a:ext cx="1856056" cy="1267067"/>
          </a:xfrm>
          <a:prstGeom prst="rect">
            <a:avLst/>
          </a:prstGeom>
          <a:effectLst>
            <a:outerShdw blurRad="317500" sx="102000" sy="102000" algn="ctr" rotWithShape="0">
              <a:srgbClr val="C29524">
                <a:alpha val="50000"/>
              </a:srgbClr>
            </a:outerShdw>
          </a:effectLst>
        </p:spPr>
      </p:pic>
      <p:sp>
        <p:nvSpPr>
          <p:cNvPr id="29" name="Oval 28">
            <a:extLst>
              <a:ext uri="{FF2B5EF4-FFF2-40B4-BE49-F238E27FC236}">
                <a16:creationId xmlns:a16="http://schemas.microsoft.com/office/drawing/2014/main" id="{CA4C8B02-8BF3-3D4F-AD36-F0F2F59DDC65}"/>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86436A68-0B1B-A106-CACC-2F9184253AFB}"/>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1" name="Picture 30">
            <a:extLst>
              <a:ext uri="{FF2B5EF4-FFF2-40B4-BE49-F238E27FC236}">
                <a16:creationId xmlns:a16="http://schemas.microsoft.com/office/drawing/2014/main" id="{4BD6746D-D6AA-1F2D-D35C-3AF24E86ED71}"/>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12042639" y="8262972"/>
            <a:ext cx="2819242" cy="1563398"/>
          </a:xfrm>
          <a:prstGeom prst="rect">
            <a:avLst/>
          </a:prstGeom>
          <a:effectLst>
            <a:outerShdw blurRad="317500" sx="102000" sy="102000" algn="ctr" rotWithShape="0">
              <a:srgbClr val="C29524">
                <a:alpha val="50000"/>
              </a:srgbClr>
            </a:outerShdw>
          </a:effectLst>
        </p:spPr>
      </p:pic>
      <p:sp>
        <p:nvSpPr>
          <p:cNvPr id="32" name="Rectangle: Rounded Corners 31">
            <a:extLst>
              <a:ext uri="{FF2B5EF4-FFF2-40B4-BE49-F238E27FC236}">
                <a16:creationId xmlns:a16="http://schemas.microsoft.com/office/drawing/2014/main" id="{48269DD5-95F1-BBBF-25FD-DB332CAA71AE}"/>
              </a:ext>
            </a:extLst>
          </p:cNvPr>
          <p:cNvSpPr/>
          <p:nvPr/>
        </p:nvSpPr>
        <p:spPr>
          <a:xfrm>
            <a:off x="8418500" y="9984636"/>
            <a:ext cx="1719171"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We also distributed the inventory turnover by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Material Category</a:t>
            </a:r>
            <a:r>
              <a:rPr lang="en-US" sz="1000" b="1" dirty="0">
                <a:solidFill>
                  <a:srgbClr val="896919"/>
                </a:solidFill>
                <a:latin typeface="Segoe UI Semibold" panose="020B0702040204020203" pitchFamily="34" charset="0"/>
                <a:cs typeface="Segoe UI Semibold" panose="020B0702040204020203" pitchFamily="34" charset="0"/>
              </a:rPr>
              <a:t> as this helps us identify which type of materials are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continuously consumed and purchased </a:t>
            </a:r>
            <a:r>
              <a:rPr lang="en-US" sz="1000" b="1" dirty="0">
                <a:solidFill>
                  <a:srgbClr val="896919"/>
                </a:solidFill>
                <a:latin typeface="Segoe UI Semibold" panose="020B0702040204020203" pitchFamily="34" charset="0"/>
                <a:cs typeface="Segoe UI Semibold" panose="020B0702040204020203" pitchFamily="34" charset="0"/>
              </a:rPr>
              <a:t>the most. </a:t>
            </a:r>
            <a:endPar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sp>
        <p:nvSpPr>
          <p:cNvPr id="33" name="Rectangle: Rounded Corners 32">
            <a:extLst>
              <a:ext uri="{FF2B5EF4-FFF2-40B4-BE49-F238E27FC236}">
                <a16:creationId xmlns:a16="http://schemas.microsoft.com/office/drawing/2014/main" id="{8904714E-940F-D057-C5FE-B64E3D2CCC1C}"/>
              </a:ext>
            </a:extLst>
          </p:cNvPr>
          <p:cNvSpPr/>
          <p:nvPr/>
        </p:nvSpPr>
        <p:spPr>
          <a:xfrm>
            <a:off x="11490403" y="9984636"/>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800" b="1" dirty="0">
              <a:solidFill>
                <a:srgbClr val="896919"/>
              </a:solidFill>
              <a:latin typeface="Segoe UI Semibold" panose="020B0702040204020203" pitchFamily="34" charset="0"/>
              <a:cs typeface="Segoe UI Semibold" panose="020B0702040204020203" pitchFamily="34" charset="0"/>
            </a:endParaRPr>
          </a:p>
          <a:p>
            <a:pPr algn="ctr"/>
            <a:r>
              <a:rPr lang="en-US" sz="800" b="1" dirty="0">
                <a:solidFill>
                  <a:srgbClr val="896919"/>
                </a:solidFill>
                <a:latin typeface="Segoe UI Semibold" panose="020B0702040204020203" pitchFamily="34" charset="0"/>
                <a:cs typeface="Segoe UI Semibold" panose="020B0702040204020203" pitchFamily="34" charset="0"/>
              </a:rPr>
              <a:t>Distributing Reorder Rate % over time reveals our reorder behavior over 2025.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recorded the least value with </a:t>
            </a:r>
            <a:r>
              <a:rPr lang="en-US" sz="8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25.97%</a:t>
            </a:r>
            <a:r>
              <a:rPr lang="en-US" sz="800" b="1" dirty="0">
                <a:solidFill>
                  <a:srgbClr val="896919"/>
                </a:solidFill>
                <a:latin typeface="Segoe UI Semibold" panose="020B0702040204020203" pitchFamily="34" charset="0"/>
                <a:cs typeface="Segoe UI Semibold" panose="020B0702040204020203" pitchFamily="34" charset="0"/>
              </a:rPr>
              <a:t>, while instantly,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comes with the peak and the highest percentage recording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71.73%</a:t>
            </a:r>
            <a:r>
              <a:rPr lang="en-US" sz="800" b="1" dirty="0">
                <a:solidFill>
                  <a:srgbClr val="896919"/>
                </a:solidFill>
                <a:latin typeface="Segoe UI Semibold" panose="020B0702040204020203" pitchFamily="34" charset="0"/>
                <a:cs typeface="Segoe UI Semibold" panose="020B0702040204020203" pitchFamily="34" charset="0"/>
              </a:rPr>
              <a:t>. This could be interpreted by knowing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January</a:t>
            </a:r>
            <a:r>
              <a:rPr lang="en-US" sz="800" b="1" dirty="0">
                <a:solidFill>
                  <a:srgbClr val="896919"/>
                </a:solidFill>
                <a:latin typeface="Segoe UI Semibold" panose="020B0702040204020203" pitchFamily="34" charset="0"/>
                <a:cs typeface="Segoe UI Semibold" panose="020B0702040204020203" pitchFamily="34" charset="0"/>
              </a:rPr>
              <a:t> is a month full of holidays and vacations, and customer behavior as well affects our procurement behaviors. Then comes the peak 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800" b="1" dirty="0">
                <a:solidFill>
                  <a:srgbClr val="896919"/>
                </a:solidFill>
                <a:latin typeface="Segoe UI Semibold" panose="020B0702040204020203" pitchFamily="34" charset="0"/>
                <a:cs typeface="Segoe UI Semibold" panose="020B0702040204020203" pitchFamily="34" charset="0"/>
              </a:rPr>
              <a:t> directly as everything returns to normal. Also, this reveals that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2024’s end of period inventory</a:t>
            </a:r>
            <a:r>
              <a:rPr lang="en-US" sz="800" b="1" dirty="0">
                <a:solidFill>
                  <a:srgbClr val="896919"/>
                </a:solidFill>
                <a:latin typeface="Segoe UI Semibold" panose="020B0702040204020203" pitchFamily="34" charset="0"/>
                <a:cs typeface="Segoe UI Semibold" panose="020B0702040204020203" pitchFamily="34" charset="0"/>
              </a:rPr>
              <a:t> of materials has been fulfilling our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2025’s beginning of period</a:t>
            </a:r>
            <a:r>
              <a:rPr lang="en-US" sz="800" b="1" dirty="0">
                <a:solidFill>
                  <a:srgbClr val="896919"/>
                </a:solidFill>
                <a:latin typeface="Segoe UI Semibold" panose="020B0702040204020203" pitchFamily="34" charset="0"/>
                <a:cs typeface="Segoe UI Semibold" panose="020B0702040204020203" pitchFamily="34" charset="0"/>
              </a:rPr>
              <a:t> business needs in a decent manner</a:t>
            </a:r>
            <a:endPar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endParaRPr>
          </a:p>
          <a:p>
            <a:pPr algn="ctr"/>
            <a:endParaRPr lang="en-US" sz="800" b="1" dirty="0">
              <a:solidFill>
                <a:srgbClr val="896919"/>
              </a:solidFill>
              <a:latin typeface="Segoe UI Semibold" panose="020B0702040204020203" pitchFamily="34" charset="0"/>
              <a:cs typeface="Segoe UI Semibold" panose="020B0702040204020203" pitchFamily="34" charset="0"/>
            </a:endParaRPr>
          </a:p>
        </p:txBody>
      </p:sp>
      <p:sp>
        <p:nvSpPr>
          <p:cNvPr id="34" name="Rectangle: Rounded Corners 33">
            <a:extLst>
              <a:ext uri="{FF2B5EF4-FFF2-40B4-BE49-F238E27FC236}">
                <a16:creationId xmlns:a16="http://schemas.microsoft.com/office/drawing/2014/main" id="{E221C262-D7C2-BCBD-A42B-577B7B9C4048}"/>
              </a:ext>
            </a:extLst>
          </p:cNvPr>
          <p:cNvSpPr/>
          <p:nvPr/>
        </p:nvSpPr>
        <p:spPr>
          <a:xfrm>
            <a:off x="12607780" y="2814983"/>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By demonstrating the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Order Waste %</a:t>
            </a:r>
            <a:r>
              <a:rPr lang="en-US" sz="1000" b="1" dirty="0">
                <a:solidFill>
                  <a:srgbClr val="896919"/>
                </a:solidFill>
                <a:latin typeface="Segoe UI Semibold" panose="020B0702040204020203" pitchFamily="34" charset="0"/>
                <a:cs typeface="Segoe UI Semibold" panose="020B0702040204020203" pitchFamily="34" charset="0"/>
              </a:rPr>
              <a:t> (as part of the Process Waste % calculation) per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Status &amp; Avg Delivery Days </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of purchase orders</a:t>
            </a:r>
            <a:r>
              <a:rPr lang="en-US" sz="1000" b="1" dirty="0">
                <a:solidFill>
                  <a:srgbClr val="896919"/>
                </a:solidFill>
                <a:latin typeface="Segoe UI Semibold" panose="020B0702040204020203" pitchFamily="34" charset="0"/>
                <a:cs typeface="Segoe UI Semibold" panose="020B0702040204020203" pitchFamily="34" charset="0"/>
              </a:rPr>
              <a:t>, percentages are noticeably high across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Partially Delivered Orders</a:t>
            </a:r>
            <a:r>
              <a:rPr lang="en-US" sz="1000" b="1" dirty="0">
                <a:solidFill>
                  <a:srgbClr val="896919"/>
                </a:solidFill>
                <a:latin typeface="Segoe UI Semibold" panose="020B0702040204020203" pitchFamily="34" charset="0"/>
                <a:cs typeface="Segoe UI Semibold" panose="020B0702040204020203" pitchFamily="34" charset="0"/>
              </a:rPr>
              <a:t>. Avg Delivery Days is almost consistent among all statuses, Cancelled Orders are considered returned after entering the internal review phase before being accepted into warehouses</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35" name="Straight Arrow Connector 34">
            <a:extLst>
              <a:ext uri="{FF2B5EF4-FFF2-40B4-BE49-F238E27FC236}">
                <a16:creationId xmlns:a16="http://schemas.microsoft.com/office/drawing/2014/main" id="{F30D3571-A1D5-5FBE-9A59-09F32B6293E4}"/>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EA6C69C-B945-06F6-E3D3-189E8BA6D2E8}"/>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41042B8-546F-5146-2F93-86F393C01284}"/>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4415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C1B4E-7FB6-F9AB-AD50-578030E79C9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D9C67D5-C8E2-B2E7-95CF-275E42128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A9467F8C-1DB8-85B0-E7DD-96DFABC36EE9}"/>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5" name="Isosceles Triangle 4">
            <a:extLst>
              <a:ext uri="{FF2B5EF4-FFF2-40B4-BE49-F238E27FC236}">
                <a16:creationId xmlns:a16="http://schemas.microsoft.com/office/drawing/2014/main" id="{0ECF815E-221E-10BA-7535-0602570DCE7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2" name="TextBox 11">
            <a:extLst>
              <a:ext uri="{FF2B5EF4-FFF2-40B4-BE49-F238E27FC236}">
                <a16:creationId xmlns:a16="http://schemas.microsoft.com/office/drawing/2014/main" id="{8D2EC9B6-B62F-4A06-4E36-A4B6D97DD27C}"/>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EA4E09BF-C59E-1E61-4CAF-EEC87440CFB8}"/>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CF234773-E123-4BE3-5E8E-9D6F25589B37}"/>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C29E5951-6E23-46C4-7B9D-A8219DE5EFE7}"/>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62DD79B4-29C9-7B58-E4C9-94641975BEE9}"/>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9908EB90-0CB7-4161-F5C2-F9C8B3419CC7}"/>
              </a:ext>
            </a:extLst>
          </p:cNvPr>
          <p:cNvSpPr txBox="1"/>
          <p:nvPr/>
        </p:nvSpPr>
        <p:spPr>
          <a:xfrm>
            <a:off x="196644" y="141354"/>
            <a:ext cx="5899353" cy="584775"/>
          </a:xfrm>
          <a:prstGeom prst="rect">
            <a:avLst/>
          </a:prstGeom>
          <a:noFill/>
        </p:spPr>
        <p:txBody>
          <a:bodyPr wrap="square" rtlCol="0">
            <a:spAutoFit/>
          </a:bodyPr>
          <a:lstStyle/>
          <a:p>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Key Insights &amp; Conclusions</a:t>
            </a:r>
          </a:p>
        </p:txBody>
      </p:sp>
      <p:sp>
        <p:nvSpPr>
          <p:cNvPr id="10" name="TextBox 9">
            <a:extLst>
              <a:ext uri="{FF2B5EF4-FFF2-40B4-BE49-F238E27FC236}">
                <a16:creationId xmlns:a16="http://schemas.microsoft.com/office/drawing/2014/main" id="{8442AF21-7D46-9D85-5ABE-8593209B3F2D}"/>
              </a:ext>
            </a:extLst>
          </p:cNvPr>
          <p:cNvSpPr txBox="1"/>
          <p:nvPr/>
        </p:nvSpPr>
        <p:spPr>
          <a:xfrm>
            <a:off x="196644" y="630883"/>
            <a:ext cx="6242255" cy="584775"/>
          </a:xfrm>
          <a:prstGeom prst="rect">
            <a:avLst/>
          </a:prstGeom>
          <a:noFill/>
        </p:spPr>
        <p:txBody>
          <a:bodyPr wrap="square" rtlCol="0">
            <a:spAutoFit/>
          </a:bodyPr>
          <a:lstStyle/>
          <a:p>
            <a:r>
              <a:rPr lang="en-US" sz="3200" b="1" spc="50" dirty="0">
                <a:solidFill>
                  <a:srgbClr val="BC8F00">
                    <a:alpha val="8000"/>
                  </a:srgbClr>
                </a:solidFill>
                <a:latin typeface="Segoe UI Semibold" panose="020B0702040204020203" pitchFamily="34" charset="0"/>
                <a:cs typeface="Segoe UI Semibold" panose="020B0702040204020203" pitchFamily="34" charset="0"/>
              </a:rPr>
              <a:t>Business Recommendations</a:t>
            </a:r>
          </a:p>
        </p:txBody>
      </p:sp>
      <p:cxnSp>
        <p:nvCxnSpPr>
          <p:cNvPr id="15" name="Straight Connector 14">
            <a:extLst>
              <a:ext uri="{FF2B5EF4-FFF2-40B4-BE49-F238E27FC236}">
                <a16:creationId xmlns:a16="http://schemas.microsoft.com/office/drawing/2014/main" id="{04BACB40-04AC-2881-679D-A3583ACC2D1B}"/>
              </a:ext>
            </a:extLst>
          </p:cNvPr>
          <p:cNvCxnSpPr/>
          <p:nvPr/>
        </p:nvCxnSpPr>
        <p:spPr>
          <a:xfrm>
            <a:off x="6104599" y="1310908"/>
            <a:ext cx="0" cy="5233274"/>
          </a:xfrm>
          <a:prstGeom prst="line">
            <a:avLst/>
          </a:prstGeom>
          <a:ln w="28575">
            <a:solidFill>
              <a:srgbClr val="BC8F00"/>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90DE9112-EFB4-30BF-97FC-E71FB2C703D5}"/>
              </a:ext>
            </a:extLst>
          </p:cNvPr>
          <p:cNvGrpSpPr/>
          <p:nvPr/>
        </p:nvGrpSpPr>
        <p:grpSpPr>
          <a:xfrm>
            <a:off x="2411509" y="1604426"/>
            <a:ext cx="707325" cy="4566893"/>
            <a:chOff x="2411509" y="1604426"/>
            <a:chExt cx="707325" cy="4566893"/>
          </a:xfrm>
        </p:grpSpPr>
        <p:cxnSp>
          <p:nvCxnSpPr>
            <p:cNvPr id="11" name="Straight Arrow Connector 10">
              <a:extLst>
                <a:ext uri="{FF2B5EF4-FFF2-40B4-BE49-F238E27FC236}">
                  <a16:creationId xmlns:a16="http://schemas.microsoft.com/office/drawing/2014/main" id="{D069EBE9-F962-4338-275B-A519346A04E1}"/>
                </a:ext>
              </a:extLst>
            </p:cNvPr>
            <p:cNvCxnSpPr>
              <a:cxnSpLocks/>
            </p:cNvCxnSpPr>
            <p:nvPr/>
          </p:nvCxnSpPr>
          <p:spPr>
            <a:xfrm>
              <a:off x="2411510" y="1604426"/>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85CAA08-406E-0383-1FD9-C3F8D349CA8E}"/>
                </a:ext>
              </a:extLst>
            </p:cNvPr>
            <p:cNvCxnSpPr>
              <a:cxnSpLocks/>
            </p:cNvCxnSpPr>
            <p:nvPr/>
          </p:nvCxnSpPr>
          <p:spPr>
            <a:xfrm>
              <a:off x="2418277" y="2517805"/>
              <a:ext cx="700557"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F33ABF6-A785-74CB-BD48-5802236296EA}"/>
                </a:ext>
              </a:extLst>
            </p:cNvPr>
            <p:cNvCxnSpPr>
              <a:cxnSpLocks/>
            </p:cNvCxnSpPr>
            <p:nvPr/>
          </p:nvCxnSpPr>
          <p:spPr>
            <a:xfrm>
              <a:off x="2411510" y="3431184"/>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6795E42-84DE-BECC-922E-D2BF0B352030}"/>
                </a:ext>
              </a:extLst>
            </p:cNvPr>
            <p:cNvCxnSpPr>
              <a:cxnSpLocks/>
            </p:cNvCxnSpPr>
            <p:nvPr/>
          </p:nvCxnSpPr>
          <p:spPr>
            <a:xfrm>
              <a:off x="2411510" y="4344563"/>
              <a:ext cx="700974"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75E5895-A32E-FF67-BDE5-1467662472E0}"/>
                </a:ext>
              </a:extLst>
            </p:cNvPr>
            <p:cNvCxnSpPr>
              <a:cxnSpLocks/>
            </p:cNvCxnSpPr>
            <p:nvPr/>
          </p:nvCxnSpPr>
          <p:spPr>
            <a:xfrm>
              <a:off x="2411509" y="5257942"/>
              <a:ext cx="700975"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7C30A11-B45C-22AF-EA8F-2E9A81D724FF}"/>
                </a:ext>
              </a:extLst>
            </p:cNvPr>
            <p:cNvCxnSpPr>
              <a:cxnSpLocks/>
            </p:cNvCxnSpPr>
            <p:nvPr/>
          </p:nvCxnSpPr>
          <p:spPr>
            <a:xfrm>
              <a:off x="2413514" y="6171319"/>
              <a:ext cx="705320" cy="0"/>
            </a:xfrm>
            <a:prstGeom prst="straightConnector1">
              <a:avLst/>
            </a:prstGeom>
            <a:ln w="38100" cap="rnd">
              <a:solidFill>
                <a:srgbClr val="BC8F00"/>
              </a:solidFill>
              <a:prstDash val="sysDot"/>
              <a:round/>
              <a:headEnd type="oval" w="sm" len="sm"/>
              <a:tailEnd type="triangle" w="med" len="med"/>
            </a:ln>
          </p:spPr>
          <p:style>
            <a:lnRef idx="1">
              <a:schemeClr val="accent1"/>
            </a:lnRef>
            <a:fillRef idx="0">
              <a:schemeClr val="accent1"/>
            </a:fillRef>
            <a:effectRef idx="0">
              <a:schemeClr val="accent1"/>
            </a:effectRef>
            <a:fontRef idx="minor">
              <a:schemeClr val="tx1"/>
            </a:fontRef>
          </p:style>
        </p:cxnSp>
      </p:grpSp>
      <p:pic>
        <p:nvPicPr>
          <p:cNvPr id="23" name="Picture 22">
            <a:extLst>
              <a:ext uri="{FF2B5EF4-FFF2-40B4-BE49-F238E27FC236}">
                <a16:creationId xmlns:a16="http://schemas.microsoft.com/office/drawing/2014/main" id="{045F4DAC-94A9-465A-D908-632D08B56DB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492653" y="996026"/>
            <a:ext cx="3126143" cy="1619567"/>
          </a:xfrm>
          <a:prstGeom prst="rect">
            <a:avLst/>
          </a:prstGeom>
          <a:effectLst>
            <a:outerShdw blurRad="317500" sx="102000" sy="102000" algn="ctr" rotWithShape="0">
              <a:srgbClr val="C29524">
                <a:alpha val="50000"/>
              </a:srgbClr>
            </a:outerShdw>
          </a:effectLst>
        </p:spPr>
      </p:pic>
      <p:pic>
        <p:nvPicPr>
          <p:cNvPr id="24" name="Picture 23">
            <a:extLst>
              <a:ext uri="{FF2B5EF4-FFF2-40B4-BE49-F238E27FC236}">
                <a16:creationId xmlns:a16="http://schemas.microsoft.com/office/drawing/2014/main" id="{9CE5DBD7-24CD-CAF9-0B57-B2197191C59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196727" y="3714156"/>
            <a:ext cx="1856056" cy="1267067"/>
          </a:xfrm>
          <a:prstGeom prst="rect">
            <a:avLst/>
          </a:prstGeom>
          <a:effectLst>
            <a:outerShdw blurRad="317500" sx="102000" sy="102000" algn="ctr" rotWithShape="0">
              <a:srgbClr val="C29524">
                <a:alpha val="50000"/>
              </a:srgbClr>
            </a:outerShdw>
          </a:effectLst>
        </p:spPr>
      </p:pic>
      <p:sp>
        <p:nvSpPr>
          <p:cNvPr id="26" name="Oval 25">
            <a:extLst>
              <a:ext uri="{FF2B5EF4-FFF2-40B4-BE49-F238E27FC236}">
                <a16:creationId xmlns:a16="http://schemas.microsoft.com/office/drawing/2014/main" id="{0B0C58BF-4DE0-49E9-B2C9-D0A23B471FB6}"/>
              </a:ext>
            </a:extLst>
          </p:cNvPr>
          <p:cNvSpPr/>
          <p:nvPr/>
        </p:nvSpPr>
        <p:spPr>
          <a:xfrm>
            <a:off x="13620039" y="1942907"/>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8D71B4C4-D808-0BF8-D892-70325DC90EF1}"/>
              </a:ext>
            </a:extLst>
          </p:cNvPr>
          <p:cNvSpPr/>
          <p:nvPr/>
        </p:nvSpPr>
        <p:spPr>
          <a:xfrm>
            <a:off x="13294498" y="1634171"/>
            <a:ext cx="204816" cy="204816"/>
          </a:xfrm>
          <a:prstGeom prst="ellipse">
            <a:avLst/>
          </a:prstGeom>
          <a:noFill/>
          <a:ln w="19050" cap="rnd">
            <a:solidFill>
              <a:schemeClr val="accent2">
                <a:lumMod val="75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Picture 28">
            <a:extLst>
              <a:ext uri="{FF2B5EF4-FFF2-40B4-BE49-F238E27FC236}">
                <a16:creationId xmlns:a16="http://schemas.microsoft.com/office/drawing/2014/main" id="{12B8A5B0-146B-B314-4754-04C8E37715E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8854816" y="3715454"/>
            <a:ext cx="2819242" cy="1563398"/>
          </a:xfrm>
          <a:prstGeom prst="rect">
            <a:avLst/>
          </a:prstGeom>
          <a:effectLst>
            <a:outerShdw blurRad="317500" sx="102000" sy="102000" algn="ctr" rotWithShape="0">
              <a:srgbClr val="C29524">
                <a:alpha val="50000"/>
              </a:srgbClr>
            </a:outerShdw>
          </a:effectLst>
        </p:spPr>
      </p:pic>
      <p:sp>
        <p:nvSpPr>
          <p:cNvPr id="30" name="Rectangle: Rounded Corners 29">
            <a:extLst>
              <a:ext uri="{FF2B5EF4-FFF2-40B4-BE49-F238E27FC236}">
                <a16:creationId xmlns:a16="http://schemas.microsoft.com/office/drawing/2014/main" id="{DAAB6951-8592-9FC5-1D30-AEA4C453CE03}"/>
              </a:ext>
            </a:extLst>
          </p:cNvPr>
          <p:cNvSpPr/>
          <p:nvPr/>
        </p:nvSpPr>
        <p:spPr>
          <a:xfrm>
            <a:off x="6265170" y="5026324"/>
            <a:ext cx="1719171" cy="1430358"/>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rmAutofit fontScale="92500" lnSpcReduction="10000"/>
          </a:bodyPr>
          <a:lstStyle/>
          <a:p>
            <a:pPr algn="ctr"/>
            <a:r>
              <a:rPr lang="en-US" sz="800" b="1" dirty="0">
                <a:solidFill>
                  <a:srgbClr val="896919"/>
                </a:solidFill>
                <a:latin typeface="Segoe UI Semibold" panose="020B0702040204020203" pitchFamily="34" charset="0"/>
                <a:cs typeface="Segoe UI Semibold" panose="020B0702040204020203" pitchFamily="34" charset="0"/>
              </a:rPr>
              <a:t>Here above we can see how much influence our fulfillment issues has on our customers. Out of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50K</a:t>
            </a:r>
            <a:r>
              <a:rPr lang="en-US" sz="800" b="1" dirty="0">
                <a:solidFill>
                  <a:srgbClr val="896919"/>
                </a:solidFill>
                <a:latin typeface="Segoe UI Semibold" panose="020B0702040204020203" pitchFamily="34" charset="0"/>
                <a:cs typeface="Segoe UI Semibold" panose="020B0702040204020203" pitchFamily="34" charset="0"/>
              </a:rPr>
              <a:t> customers in total,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43.15K</a:t>
            </a:r>
            <a:r>
              <a:rPr lang="en-US" sz="800" b="1" dirty="0">
                <a:solidFill>
                  <a:srgbClr val="896919"/>
                </a:solidFill>
                <a:latin typeface="Segoe UI Semibold" panose="020B0702040204020203" pitchFamily="34" charset="0"/>
                <a:cs typeface="Segoe UI Semibold" panose="020B0702040204020203" pitchFamily="34" charset="0"/>
              </a:rPr>
              <a:t> are affected by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delayed orders</a:t>
            </a:r>
            <a:r>
              <a:rPr lang="en-US" sz="800" b="1" dirty="0">
                <a:solidFill>
                  <a:srgbClr val="896919"/>
                </a:solidFill>
                <a:latin typeface="Segoe UI Semibold" panose="020B0702040204020203" pitchFamily="34" charset="0"/>
                <a:cs typeface="Segoe UI Semibold" panose="020B0702040204020203" pitchFamily="34" charset="0"/>
              </a:rPr>
              <a:t>, this is already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86.30%</a:t>
            </a:r>
            <a:r>
              <a:rPr lang="en-US" sz="800" b="1" dirty="0">
                <a:solidFill>
                  <a:srgbClr val="896919"/>
                </a:solidFill>
                <a:latin typeface="Segoe UI Semibold" panose="020B0702040204020203" pitchFamily="34" charset="0"/>
                <a:cs typeface="Segoe UI Semibold" panose="020B0702040204020203" pitchFamily="34" charset="0"/>
              </a:rPr>
              <a:t> of our customers. </a:t>
            </a:r>
            <a:br>
              <a:rPr lang="en-US" sz="800" b="1" dirty="0">
                <a:solidFill>
                  <a:srgbClr val="896919"/>
                </a:solidFill>
                <a:latin typeface="Segoe UI Semibold" panose="020B0702040204020203" pitchFamily="34" charset="0"/>
                <a:cs typeface="Segoe UI Semibold" panose="020B0702040204020203" pitchFamily="34" charset="0"/>
              </a:rPr>
            </a:br>
            <a:r>
              <a:rPr lang="en-US" sz="800" b="1" dirty="0">
                <a:solidFill>
                  <a:srgbClr val="896919"/>
                </a:solidFill>
                <a:latin typeface="Segoe UI Semibold" panose="020B0702040204020203" pitchFamily="34" charset="0"/>
                <a:cs typeface="Segoe UI Semibold" panose="020B0702040204020203" pitchFamily="34" charset="0"/>
              </a:rPr>
              <a:t>On the other side, </a:t>
            </a:r>
            <a:r>
              <a:rPr lang="en-US" sz="8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19.71K</a:t>
            </a:r>
            <a:r>
              <a:rPr lang="en-US" sz="800" b="1" dirty="0">
                <a:solidFill>
                  <a:srgbClr val="896919"/>
                </a:solidFill>
                <a:latin typeface="Segoe UI Semibold" panose="020B0702040204020203" pitchFamily="34" charset="0"/>
                <a:cs typeface="Segoe UI Semibold" panose="020B0702040204020203" pitchFamily="34" charset="0"/>
              </a:rPr>
              <a:t> are affected by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cancelled orders</a:t>
            </a:r>
            <a:r>
              <a:rPr lang="en-US" sz="8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 </a:t>
            </a:r>
            <a:r>
              <a:rPr lang="en-US" sz="800" b="1" dirty="0">
                <a:solidFill>
                  <a:srgbClr val="896919"/>
                </a:solidFill>
                <a:latin typeface="Segoe UI Semibold" panose="020B0702040204020203" pitchFamily="34" charset="0"/>
                <a:cs typeface="Segoe UI Semibold" panose="020B0702040204020203" pitchFamily="34" charset="0"/>
              </a:rPr>
              <a:t>either cancelled by us for different reasons, or automatically cancelled for not confirming the order within </a:t>
            </a:r>
            <a:r>
              <a:rPr lang="en-US" sz="8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3 days</a:t>
            </a:r>
          </a:p>
        </p:txBody>
      </p:sp>
      <p:sp>
        <p:nvSpPr>
          <p:cNvPr id="31" name="Rectangle: Rounded Corners 30">
            <a:extLst>
              <a:ext uri="{FF2B5EF4-FFF2-40B4-BE49-F238E27FC236}">
                <a16:creationId xmlns:a16="http://schemas.microsoft.com/office/drawing/2014/main" id="{AD3C4BCF-B2D5-E297-DDBD-5D4B3B8C3866}"/>
              </a:ext>
            </a:extLst>
          </p:cNvPr>
          <p:cNvSpPr/>
          <p:nvPr/>
        </p:nvSpPr>
        <p:spPr>
          <a:xfrm>
            <a:off x="8157805" y="5331152"/>
            <a:ext cx="3923713" cy="1125530"/>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r>
              <a:rPr lang="en-US" sz="800" b="1" dirty="0">
                <a:solidFill>
                  <a:srgbClr val="896919"/>
                </a:solidFill>
                <a:latin typeface="Segoe UI Semibold" panose="020B0702040204020203" pitchFamily="34" charset="0"/>
                <a:cs typeface="Segoe UI Semibold" panose="020B0702040204020203" pitchFamily="34" charset="0"/>
              </a:rPr>
              <a:t>Demonstrating our products in terms of DIFOT % &amp; Avg Fulfillment Days, we can see that none of our products is outperforming others, we tried to reveal hidden patterns related to production process (in terms of time &amp; quality), however, we found no correlation. Our significantly low DIFOT % and slightly high Avg Fulfillment Days are now confidently related to our overall system and production lifecycle starting from suppliers, and ending with final delivery of the product</a:t>
            </a:r>
          </a:p>
        </p:txBody>
      </p:sp>
      <p:sp>
        <p:nvSpPr>
          <p:cNvPr id="32" name="Rectangle: Rounded Corners 31">
            <a:extLst>
              <a:ext uri="{FF2B5EF4-FFF2-40B4-BE49-F238E27FC236}">
                <a16:creationId xmlns:a16="http://schemas.microsoft.com/office/drawing/2014/main" id="{907C8F05-54C5-C1AA-63B0-525C5E0D87A0}"/>
              </a:ext>
            </a:extLst>
          </p:cNvPr>
          <p:cNvSpPr/>
          <p:nvPr/>
        </p:nvSpPr>
        <p:spPr>
          <a:xfrm>
            <a:off x="6265170" y="2666595"/>
            <a:ext cx="5807240" cy="996559"/>
          </a:xfrm>
          <a:prstGeom prst="roundRect">
            <a:avLst/>
          </a:prstGeom>
          <a:gradFill>
            <a:gsLst>
              <a:gs pos="25000">
                <a:srgbClr val="EBAC2D">
                  <a:alpha val="65000"/>
                </a:srgbClr>
              </a:gs>
              <a:gs pos="75000">
                <a:srgbClr val="EBAC2D">
                  <a:alpha val="65000"/>
                </a:srgbClr>
              </a:gs>
              <a:gs pos="100000">
                <a:srgbClr val="B97310">
                  <a:alpha val="50000"/>
                </a:srgbClr>
              </a:gs>
              <a:gs pos="0">
                <a:srgbClr val="B76E10"/>
              </a:gs>
              <a:gs pos="50000">
                <a:srgbClr val="EBAC2D">
                  <a:alpha val="65000"/>
                </a:srgbClr>
              </a:gs>
            </a:gsLst>
            <a:path path="circle">
              <a:fillToRect t="100000" r="100000"/>
            </a:path>
          </a:gradFill>
        </p:spPr>
        <p:txBody>
          <a:bodyPr wrap="square" tIns="0" bIns="0" rtlCol="0" anchor="ctr" anchorCtr="1">
            <a:noAutofit/>
          </a:bodyPr>
          <a:lstStyle/>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r>
              <a:rPr lang="en-US" sz="1000" b="1" dirty="0">
                <a:solidFill>
                  <a:srgbClr val="896919"/>
                </a:solidFill>
                <a:latin typeface="Segoe UI Semibold" panose="020B0702040204020203" pitchFamily="34" charset="0"/>
                <a:cs typeface="Segoe UI Semibold" panose="020B0702040204020203" pitchFamily="34" charset="0"/>
              </a:rPr>
              <a:t>Showed above is our Sales Orders &amp; DIFOT % distribution over time.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November</a:t>
            </a:r>
            <a:r>
              <a:rPr lang="en-US" sz="1000" b="1" dirty="0">
                <a:solidFill>
                  <a:srgbClr val="896919"/>
                </a:solidFill>
                <a:latin typeface="Segoe UI Semibold" panose="020B0702040204020203" pitchFamily="34" charset="0"/>
                <a:cs typeface="Segoe UI Semibold" panose="020B0702040204020203" pitchFamily="34" charset="0"/>
              </a:rPr>
              <a:t> recorded our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bottom</a:t>
            </a:r>
            <a:r>
              <a:rPr lang="en-US" sz="1000" b="1" dirty="0">
                <a:solidFill>
                  <a:srgbClr val="896919"/>
                </a:solidFill>
                <a:latin typeface="Segoe UI Semibold" panose="020B0702040204020203" pitchFamily="34" charset="0"/>
                <a:cs typeface="Segoe UI Semibold" panose="020B0702040204020203" pitchFamily="34" charset="0"/>
              </a:rPr>
              <a:t> value of DIFOT % with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74.69%</a:t>
            </a:r>
            <a:r>
              <a:rPr lang="en-US" sz="1000" b="1" dirty="0">
                <a:solidFill>
                  <a:srgbClr val="896919"/>
                </a:solidFill>
                <a:latin typeface="Segoe UI Semibold" panose="020B0702040204020203" pitchFamily="34" charset="0"/>
                <a:cs typeface="Segoe UI Semibold" panose="020B0702040204020203" pitchFamily="34" charset="0"/>
              </a:rPr>
              <a:t>, were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April</a:t>
            </a:r>
            <a:r>
              <a:rPr lang="en-US" sz="1000" b="1" dirty="0">
                <a:solidFill>
                  <a:srgbClr val="896919"/>
                </a:solidFill>
                <a:latin typeface="Segoe UI Semibold" panose="020B0702040204020203" pitchFamily="34" charset="0"/>
                <a:cs typeface="Segoe UI Semibold" panose="020B0702040204020203" pitchFamily="34" charset="0"/>
              </a:rPr>
              <a:t> recorded the peak with </a:t>
            </a:r>
            <a:r>
              <a:rPr lang="en-US" sz="1000" b="1" dirty="0">
                <a:solidFill>
                  <a:srgbClr val="FF0000"/>
                </a:solidFill>
                <a:latin typeface="Segoe UI Black" panose="020B0A02040204020203" pitchFamily="34" charset="0"/>
                <a:ea typeface="Segoe UI Black" panose="020B0A02040204020203" pitchFamily="34" charset="0"/>
                <a:cs typeface="Segoe UI Semibold" panose="020B0702040204020203" pitchFamily="34" charset="0"/>
              </a:rPr>
              <a:t>75.45%</a:t>
            </a:r>
            <a:r>
              <a:rPr lang="en-US" sz="10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 which was still not enough</a:t>
            </a:r>
            <a:r>
              <a:rPr lang="en-US" sz="1000" b="1" dirty="0">
                <a:solidFill>
                  <a:srgbClr val="896919"/>
                </a:solidFill>
                <a:latin typeface="Segoe UI Semibold" panose="020B0702040204020203" pitchFamily="34" charset="0"/>
                <a:cs typeface="Segoe UI Semibold" panose="020B0702040204020203" pitchFamily="34" charset="0"/>
              </a:rPr>
              <a:t>. In terms of Sales Orders, the volume is almost consistent,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February</a:t>
            </a:r>
            <a:r>
              <a:rPr lang="en-US" sz="1000" b="1" dirty="0">
                <a:solidFill>
                  <a:srgbClr val="896919"/>
                </a:solidFill>
                <a:latin typeface="Segoe UI Semibold" panose="020B0702040204020203" pitchFamily="34" charset="0"/>
                <a:cs typeface="Segoe UI Semibold" panose="020B0702040204020203" pitchFamily="34" charset="0"/>
              </a:rPr>
              <a:t> recorded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38,254 orders</a:t>
            </a:r>
            <a:r>
              <a:rPr lang="en-US" sz="1000" b="1" dirty="0">
                <a:solidFill>
                  <a:srgbClr val="896919"/>
                </a:solidFill>
                <a:latin typeface="Segoe UI Semibold" panose="020B0702040204020203" pitchFamily="34" charset="0"/>
                <a:cs typeface="Segoe UI Semibold" panose="020B0702040204020203" pitchFamily="34" charset="0"/>
              </a:rPr>
              <a:t>, and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October</a:t>
            </a:r>
            <a:r>
              <a:rPr lang="en-US" sz="1000" b="1" dirty="0">
                <a:solidFill>
                  <a:srgbClr val="896919"/>
                </a:solidFill>
                <a:latin typeface="Segoe UI Semibold" panose="020B0702040204020203" pitchFamily="34" charset="0"/>
                <a:cs typeface="Segoe UI Semibold" panose="020B0702040204020203" pitchFamily="34" charset="0"/>
              </a:rPr>
              <a:t> was the highest with </a:t>
            </a:r>
            <a:r>
              <a:rPr lang="en-US" sz="10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42,831 orders</a:t>
            </a:r>
            <a:r>
              <a:rPr lang="en-US" sz="1000" b="1" dirty="0">
                <a:solidFill>
                  <a:srgbClr val="896919"/>
                </a:solidFill>
                <a:latin typeface="Segoe UI Semibold" panose="020B0702040204020203" pitchFamily="34" charset="0"/>
                <a:cs typeface="Segoe UI Semibold" panose="020B0702040204020203" pitchFamily="34" charset="0"/>
              </a:rPr>
              <a:t>. DIFOT % tends to be lower in seasons, which needs to take our attention</a:t>
            </a:r>
          </a:p>
          <a:p>
            <a:pPr algn="ctr"/>
            <a:endParaRPr lang="en-US" sz="1000" b="1" dirty="0">
              <a:solidFill>
                <a:srgbClr val="896919"/>
              </a:solidFill>
              <a:latin typeface="Segoe UI Semibold" panose="020B0702040204020203" pitchFamily="34" charset="0"/>
              <a:cs typeface="Segoe UI Semibold" panose="020B0702040204020203" pitchFamily="34" charset="0"/>
            </a:endParaRPr>
          </a:p>
          <a:p>
            <a:pPr algn="ctr"/>
            <a:endParaRPr lang="en-US" sz="1000" b="1" dirty="0">
              <a:solidFill>
                <a:srgbClr val="896919"/>
              </a:solidFill>
              <a:latin typeface="Segoe UI Semibold" panose="020B0702040204020203" pitchFamily="34" charset="0"/>
              <a:cs typeface="Segoe UI Semibold" panose="020B0702040204020203" pitchFamily="34" charset="0"/>
            </a:endParaRPr>
          </a:p>
        </p:txBody>
      </p:sp>
      <p:cxnSp>
        <p:nvCxnSpPr>
          <p:cNvPr id="33" name="Straight Arrow Connector 32">
            <a:extLst>
              <a:ext uri="{FF2B5EF4-FFF2-40B4-BE49-F238E27FC236}">
                <a16:creationId xmlns:a16="http://schemas.microsoft.com/office/drawing/2014/main" id="{CC93277B-1868-18D7-DCBD-887A6E5194BA}"/>
              </a:ext>
            </a:extLst>
          </p:cNvPr>
          <p:cNvCxnSpPr>
            <a:cxnSpLocks/>
          </p:cNvCxnSpPr>
          <p:nvPr/>
        </p:nvCxnSpPr>
        <p:spPr>
          <a:xfrm flipV="1">
            <a:off x="8739188" y="8344054"/>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1A6CE0A-E515-D7E5-9BD5-62C4E92BA133}"/>
              </a:ext>
            </a:extLst>
          </p:cNvPr>
          <p:cNvCxnSpPr>
            <a:cxnSpLocks/>
          </p:cNvCxnSpPr>
          <p:nvPr/>
        </p:nvCxnSpPr>
        <p:spPr>
          <a:xfrm flipV="1">
            <a:off x="9596438" y="8248600"/>
            <a:ext cx="0" cy="245014"/>
          </a:xfrm>
          <a:prstGeom prst="straightConnector1">
            <a:avLst/>
          </a:prstGeom>
          <a:ln w="19050" cap="rnd">
            <a:solidFill>
              <a:srgbClr val="00B05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DF5F069-2596-C50D-70A7-5B8C65737E38}"/>
              </a:ext>
            </a:extLst>
          </p:cNvPr>
          <p:cNvCxnSpPr>
            <a:cxnSpLocks/>
          </p:cNvCxnSpPr>
          <p:nvPr/>
        </p:nvCxnSpPr>
        <p:spPr>
          <a:xfrm>
            <a:off x="9172574" y="8639833"/>
            <a:ext cx="0" cy="260901"/>
          </a:xfrm>
          <a:prstGeom prst="straightConnector1">
            <a:avLst/>
          </a:prstGeom>
          <a:ln w="19050" cap="rnd">
            <a:solidFill>
              <a:srgbClr val="FF0000"/>
            </a:solidFill>
            <a:round/>
            <a:headEnd type="none" w="sm" len="sm"/>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CB734F1D-8373-03CB-09A5-E3F976C39CF9}"/>
              </a:ext>
            </a:extLst>
          </p:cNvPr>
          <p:cNvGrpSpPr/>
          <p:nvPr/>
        </p:nvGrpSpPr>
        <p:grpSpPr>
          <a:xfrm>
            <a:off x="343448" y="1230331"/>
            <a:ext cx="1970636" cy="5332610"/>
            <a:chOff x="273095" y="1230331"/>
            <a:chExt cx="1970636" cy="5332610"/>
          </a:xfrm>
        </p:grpSpPr>
        <p:sp>
          <p:nvSpPr>
            <p:cNvPr id="37" name="Rectangle: Rounded Corners 36">
              <a:extLst>
                <a:ext uri="{FF2B5EF4-FFF2-40B4-BE49-F238E27FC236}">
                  <a16:creationId xmlns:a16="http://schemas.microsoft.com/office/drawing/2014/main" id="{91A12ED0-5CF6-EB18-80F8-C95855CF3058}"/>
                </a:ext>
              </a:extLst>
            </p:cNvPr>
            <p:cNvSpPr/>
            <p:nvPr/>
          </p:nvSpPr>
          <p:spPr>
            <a:xfrm>
              <a:off x="273095" y="123033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Customers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8" name="Rectangle: Rounded Corners 37">
              <a:extLst>
                <a:ext uri="{FF2B5EF4-FFF2-40B4-BE49-F238E27FC236}">
                  <a16:creationId xmlns:a16="http://schemas.microsoft.com/office/drawing/2014/main" id="{68668A18-7286-3BD2-397F-3D86E2172ED7}"/>
                </a:ext>
              </a:extLst>
            </p:cNvPr>
            <p:cNvSpPr/>
            <p:nvPr/>
          </p:nvSpPr>
          <p:spPr>
            <a:xfrm>
              <a:off x="273095" y="2147215"/>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No. of Sales Orders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39" name="Rectangle: Rounded Corners 38">
              <a:extLst>
                <a:ext uri="{FF2B5EF4-FFF2-40B4-BE49-F238E27FC236}">
                  <a16:creationId xmlns:a16="http://schemas.microsoft.com/office/drawing/2014/main" id="{8BF1F6A1-3793-76A3-BB08-D481795A0B28}"/>
                </a:ext>
              </a:extLst>
            </p:cNvPr>
            <p:cNvSpPr/>
            <p:nvPr/>
          </p:nvSpPr>
          <p:spPr>
            <a:xfrm>
              <a:off x="273095" y="3064099"/>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DIFOT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0" name="Rectangle: Rounded Corners 39">
              <a:extLst>
                <a:ext uri="{FF2B5EF4-FFF2-40B4-BE49-F238E27FC236}">
                  <a16:creationId xmlns:a16="http://schemas.microsoft.com/office/drawing/2014/main" id="{FA729766-3C19-C641-522B-2B9BF2766A43}"/>
                </a:ext>
              </a:extLst>
            </p:cNvPr>
            <p:cNvSpPr/>
            <p:nvPr/>
          </p:nvSpPr>
          <p:spPr>
            <a:xfrm>
              <a:off x="273095" y="3980983"/>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Fill Rate %</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1" name="Rectangle: Rounded Corners 40">
              <a:extLst>
                <a:ext uri="{FF2B5EF4-FFF2-40B4-BE49-F238E27FC236}">
                  <a16:creationId xmlns:a16="http://schemas.microsoft.com/office/drawing/2014/main" id="{AFDA06E0-54F1-50E7-787F-D51AA2D8FB73}"/>
                </a:ext>
              </a:extLst>
            </p:cNvPr>
            <p:cNvSpPr/>
            <p:nvPr/>
          </p:nvSpPr>
          <p:spPr>
            <a:xfrm>
              <a:off x="273095" y="4897867"/>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Orders per Turn</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43" name="Rectangle: Rounded Corners 42">
              <a:extLst>
                <a:ext uri="{FF2B5EF4-FFF2-40B4-BE49-F238E27FC236}">
                  <a16:creationId xmlns:a16="http://schemas.microsoft.com/office/drawing/2014/main" id="{93741C22-D5F0-3AE4-B054-E6E065CD3C38}"/>
                </a:ext>
              </a:extLst>
            </p:cNvPr>
            <p:cNvSpPr/>
            <p:nvPr/>
          </p:nvSpPr>
          <p:spPr>
            <a:xfrm>
              <a:off x="273095" y="5814751"/>
              <a:ext cx="1970636" cy="748190"/>
            </a:xfrm>
            <a:prstGeom prst="roundRect">
              <a:avLst>
                <a:gd name="adj" fmla="val 24539"/>
              </a:avLst>
            </a:prstGeom>
            <a:gradFill flip="none" rotWithShape="1">
              <a:gsLst>
                <a:gs pos="0">
                  <a:srgbClr val="ECD594">
                    <a:alpha val="35000"/>
                  </a:srgbClr>
                </a:gs>
                <a:gs pos="30000">
                  <a:srgbClr val="E6C673"/>
                </a:gs>
                <a:gs pos="70000">
                  <a:srgbClr val="E5C674"/>
                </a:gs>
                <a:gs pos="100000">
                  <a:srgbClr val="F1DD9D">
                    <a:alpha val="35000"/>
                  </a:srgbClr>
                </a:gs>
              </a:gsLst>
              <a:path path="circle">
                <a:fillToRect t="100000" r="100000"/>
              </a:path>
              <a:tileRect l="-100000" b="-100000"/>
            </a:gradFill>
            <a:ln>
              <a:noFill/>
            </a:ln>
            <a:effectLst>
              <a:outerShdw blurRad="254000" sx="102000" sy="102000" algn="ctr" rotWithShape="0">
                <a:srgbClr val="E5C579">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nchorCtr="1"/>
            <a:lstStyle/>
            <a:p>
              <a:pPr algn="ctr"/>
              <a:r>
                <a:rPr lang="en-US" sz="1200" b="1" spc="50" dirty="0">
                  <a:solidFill>
                    <a:srgbClr val="896919"/>
                  </a:solidFill>
                  <a:latin typeface="Segoe UI Semibold" panose="020B0702040204020203" pitchFamily="34" charset="0"/>
                  <a:cs typeface="Segoe UI Semibold" panose="020B0702040204020203" pitchFamily="34" charset="0"/>
                </a:rPr>
                <a:t>Avg Fulfillment Days</a:t>
              </a:r>
            </a:p>
            <a:p>
              <a:pPr algn="ctr"/>
              <a:endParaRPr lang="en-US" sz="1400" b="1" spc="70" dirty="0">
                <a:solidFill>
                  <a:srgbClr val="AA8322"/>
                </a:solidFill>
                <a:latin typeface="Segoe UI Semibold" panose="020B0702040204020203" pitchFamily="34" charset="0"/>
                <a:cs typeface="Segoe UI Semibold" panose="020B0702040204020203" pitchFamily="34" charset="0"/>
              </a:endParaRPr>
            </a:p>
          </p:txBody>
        </p:sp>
        <p:sp>
          <p:nvSpPr>
            <p:cNvPr id="50" name="TextBox 49">
              <a:extLst>
                <a:ext uri="{FF2B5EF4-FFF2-40B4-BE49-F238E27FC236}">
                  <a16:creationId xmlns:a16="http://schemas.microsoft.com/office/drawing/2014/main" id="{9EB67EA8-EC5D-5B4D-25F8-2766DDBD85C8}"/>
                </a:ext>
              </a:extLst>
            </p:cNvPr>
            <p:cNvSpPr txBox="1"/>
            <p:nvPr/>
          </p:nvSpPr>
          <p:spPr>
            <a:xfrm>
              <a:off x="586901" y="1576442"/>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50K</a:t>
              </a:r>
            </a:p>
          </p:txBody>
        </p:sp>
        <p:sp>
          <p:nvSpPr>
            <p:cNvPr id="51" name="TextBox 50">
              <a:extLst>
                <a:ext uri="{FF2B5EF4-FFF2-40B4-BE49-F238E27FC236}">
                  <a16:creationId xmlns:a16="http://schemas.microsoft.com/office/drawing/2014/main" id="{70F92E86-CB97-C592-C9D5-45157BE52DFA}"/>
                </a:ext>
              </a:extLst>
            </p:cNvPr>
            <p:cNvSpPr txBox="1"/>
            <p:nvPr/>
          </p:nvSpPr>
          <p:spPr>
            <a:xfrm>
              <a:off x="586901" y="2493174"/>
              <a:ext cx="1343025" cy="400110"/>
            </a:xfrm>
            <a:prstGeom prst="rect">
              <a:avLst/>
            </a:prstGeom>
            <a:noFill/>
          </p:spPr>
          <p:txBody>
            <a:bodyPr wrap="square" rtlCol="0" anchor="ctr" anchorCtr="1">
              <a:spAutoFit/>
            </a:bodyPr>
            <a:lstStyle/>
            <a:p>
              <a:r>
                <a:rPr lang="en-US" sz="2000" b="1" spc="100" dirty="0">
                  <a:solidFill>
                    <a:srgbClr val="C29524"/>
                  </a:solidFill>
                  <a:latin typeface="Segoe UI Semibold" panose="020B0702040204020203" pitchFamily="34" charset="0"/>
                  <a:cs typeface="Segoe UI Semibold" panose="020B0702040204020203" pitchFamily="34" charset="0"/>
                </a:rPr>
                <a:t>500k</a:t>
              </a:r>
            </a:p>
          </p:txBody>
        </p:sp>
        <p:sp>
          <p:nvSpPr>
            <p:cNvPr id="52" name="TextBox 51">
              <a:extLst>
                <a:ext uri="{FF2B5EF4-FFF2-40B4-BE49-F238E27FC236}">
                  <a16:creationId xmlns:a16="http://schemas.microsoft.com/office/drawing/2014/main" id="{3F0E5D46-BA33-2B7E-FECD-046F4B76C310}"/>
                </a:ext>
              </a:extLst>
            </p:cNvPr>
            <p:cNvSpPr txBox="1"/>
            <p:nvPr/>
          </p:nvSpPr>
          <p:spPr>
            <a:xfrm>
              <a:off x="586901" y="3409464"/>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solidFill>
                    <a:srgbClr val="FF0000"/>
                  </a:solidFill>
                </a:rPr>
                <a:t>75.13%</a:t>
              </a:r>
            </a:p>
          </p:txBody>
        </p:sp>
        <p:sp>
          <p:nvSpPr>
            <p:cNvPr id="53" name="TextBox 52">
              <a:extLst>
                <a:ext uri="{FF2B5EF4-FFF2-40B4-BE49-F238E27FC236}">
                  <a16:creationId xmlns:a16="http://schemas.microsoft.com/office/drawing/2014/main" id="{7942A186-406E-BB72-1CAD-CA9E06CBAA21}"/>
                </a:ext>
              </a:extLst>
            </p:cNvPr>
            <p:cNvSpPr txBox="1"/>
            <p:nvPr/>
          </p:nvSpPr>
          <p:spPr>
            <a:xfrm>
              <a:off x="586901" y="4329061"/>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95.01%</a:t>
              </a:r>
            </a:p>
          </p:txBody>
        </p:sp>
        <p:sp>
          <p:nvSpPr>
            <p:cNvPr id="54" name="TextBox 53">
              <a:extLst>
                <a:ext uri="{FF2B5EF4-FFF2-40B4-BE49-F238E27FC236}">
                  <a16:creationId xmlns:a16="http://schemas.microsoft.com/office/drawing/2014/main" id="{E901C57E-4AE3-FA1E-0A74-C4A19CD84A50}"/>
                </a:ext>
              </a:extLst>
            </p:cNvPr>
            <p:cNvSpPr txBox="1"/>
            <p:nvPr/>
          </p:nvSpPr>
          <p:spPr>
            <a:xfrm>
              <a:off x="586901" y="5243561"/>
              <a:ext cx="1343025" cy="400110"/>
            </a:xfrm>
            <a:prstGeom prst="rect">
              <a:avLst/>
            </a:prstGeom>
            <a:noFill/>
          </p:spPr>
          <p:txBody>
            <a:bodyPr wrap="square" rtlCol="0" anchor="ctr" anchorCtr="1">
              <a:spAutoFit/>
            </a:bodyPr>
            <a:lstStyle>
              <a:defPPr>
                <a:defRPr lang="en-US"/>
              </a:defPPr>
              <a:lvl1pPr>
                <a:defRPr sz="2000" b="1" spc="100">
                  <a:solidFill>
                    <a:srgbClr val="C29524"/>
                  </a:solidFill>
                  <a:latin typeface="Segoe UI Semibold" panose="020B0702040204020203" pitchFamily="34" charset="0"/>
                  <a:cs typeface="Segoe UI Semibold" panose="020B0702040204020203" pitchFamily="34" charset="0"/>
                </a:defRPr>
              </a:lvl1pPr>
            </a:lstStyle>
            <a:p>
              <a:r>
                <a:rPr lang="en-US" dirty="0"/>
                <a:t>39.56K</a:t>
              </a:r>
            </a:p>
          </p:txBody>
        </p:sp>
        <p:sp>
          <p:nvSpPr>
            <p:cNvPr id="55" name="TextBox 54">
              <a:extLst>
                <a:ext uri="{FF2B5EF4-FFF2-40B4-BE49-F238E27FC236}">
                  <a16:creationId xmlns:a16="http://schemas.microsoft.com/office/drawing/2014/main" id="{95048A41-DAC4-E47A-247C-513F275DE7B0}"/>
                </a:ext>
              </a:extLst>
            </p:cNvPr>
            <p:cNvSpPr txBox="1"/>
            <p:nvPr/>
          </p:nvSpPr>
          <p:spPr>
            <a:xfrm>
              <a:off x="586901" y="6159974"/>
              <a:ext cx="1343025" cy="400110"/>
            </a:xfrm>
            <a:prstGeom prst="rect">
              <a:avLst/>
            </a:prstGeom>
            <a:noFill/>
          </p:spPr>
          <p:txBody>
            <a:bodyPr wrap="square" rtlCol="0" anchor="ctr" anchorCtr="1">
              <a:spAutoFit/>
            </a:bodyPr>
            <a:lstStyle/>
            <a:p>
              <a:r>
                <a:rPr lang="en-US" sz="2000" b="1" spc="100" dirty="0">
                  <a:solidFill>
                    <a:srgbClr val="FF0000"/>
                  </a:solidFill>
                  <a:latin typeface="Segoe UI Semibold" panose="020B0702040204020203" pitchFamily="34" charset="0"/>
                  <a:cs typeface="Segoe UI Semibold" panose="020B0702040204020203" pitchFamily="34" charset="0"/>
                </a:rPr>
                <a:t>23.63</a:t>
              </a:r>
            </a:p>
          </p:txBody>
        </p:sp>
      </p:grpSp>
      <p:grpSp>
        <p:nvGrpSpPr>
          <p:cNvPr id="56" name="Group 55">
            <a:extLst>
              <a:ext uri="{FF2B5EF4-FFF2-40B4-BE49-F238E27FC236}">
                <a16:creationId xmlns:a16="http://schemas.microsoft.com/office/drawing/2014/main" id="{87C38BA3-616E-5B6C-D6D0-CCC61A0C4EE5}"/>
              </a:ext>
            </a:extLst>
          </p:cNvPr>
          <p:cNvGrpSpPr/>
          <p:nvPr/>
        </p:nvGrpSpPr>
        <p:grpSpPr>
          <a:xfrm>
            <a:off x="3098435" y="1390895"/>
            <a:ext cx="3084649" cy="5132425"/>
            <a:chOff x="3171008" y="1401254"/>
            <a:chExt cx="3084649" cy="5132425"/>
          </a:xfrm>
        </p:grpSpPr>
        <p:sp>
          <p:nvSpPr>
            <p:cNvPr id="57" name="TextBox 56">
              <a:extLst>
                <a:ext uri="{FF2B5EF4-FFF2-40B4-BE49-F238E27FC236}">
                  <a16:creationId xmlns:a16="http://schemas.microsoft.com/office/drawing/2014/main" id="{8F033347-E4CA-2782-01E8-59D27FB68378}"/>
                </a:ext>
              </a:extLst>
            </p:cNvPr>
            <p:cNvSpPr txBox="1"/>
            <p:nvPr/>
          </p:nvSpPr>
          <p:spPr>
            <a:xfrm>
              <a:off x="3171012" y="1401254"/>
              <a:ext cx="2801615" cy="461665"/>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Number of Customers dealing with CocoaLand</a:t>
              </a:r>
            </a:p>
          </p:txBody>
        </p:sp>
        <p:sp>
          <p:nvSpPr>
            <p:cNvPr id="58" name="TextBox 57">
              <a:extLst>
                <a:ext uri="{FF2B5EF4-FFF2-40B4-BE49-F238E27FC236}">
                  <a16:creationId xmlns:a16="http://schemas.microsoft.com/office/drawing/2014/main" id="{845CABAC-7634-92BF-63B1-F6A2CB2CCED5}"/>
                </a:ext>
              </a:extLst>
            </p:cNvPr>
            <p:cNvSpPr txBox="1"/>
            <p:nvPr/>
          </p:nvSpPr>
          <p:spPr>
            <a:xfrm>
              <a:off x="3171011" y="2372689"/>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ea typeface="Segoe UI Black" panose="020B0A02040204020203" pitchFamily="34" charset="0"/>
                  <a:cs typeface="Segoe UI Semibold" panose="020B0702040204020203" pitchFamily="34" charset="0"/>
                </a:rPr>
                <a:t>Number of Sales Orders across 2025</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6" name="TextBox 75">
              <a:extLst>
                <a:ext uri="{FF2B5EF4-FFF2-40B4-BE49-F238E27FC236}">
                  <a16:creationId xmlns:a16="http://schemas.microsoft.com/office/drawing/2014/main" id="{7E26FF29-6958-0D6D-EEA3-1A6AC93D8F47}"/>
                </a:ext>
              </a:extLst>
            </p:cNvPr>
            <p:cNvSpPr txBox="1"/>
            <p:nvPr/>
          </p:nvSpPr>
          <p:spPr>
            <a:xfrm>
              <a:off x="3171010" y="3120575"/>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Delivery in full &amp; on time rate between CocoaLand and it’s customers, 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85% - 98%</a:t>
              </a:r>
              <a:endPar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7" name="TextBox 76">
              <a:extLst>
                <a:ext uri="{FF2B5EF4-FFF2-40B4-BE49-F238E27FC236}">
                  <a16:creationId xmlns:a16="http://schemas.microsoft.com/office/drawing/2014/main" id="{67BE24B1-5FAA-9B65-47FD-53DD9848D3CF}"/>
                </a:ext>
              </a:extLst>
            </p:cNvPr>
            <p:cNvSpPr txBox="1"/>
            <p:nvPr/>
          </p:nvSpPr>
          <p:spPr>
            <a:xfrm>
              <a:off x="3171010" y="4051675"/>
              <a:ext cx="2801615" cy="646331"/>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Fill Rate % describes the fulfillment rate of sales orders in general,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97% - 99%</a:t>
              </a:r>
              <a:endParaRPr lang="en-US" sz="1200" b="1" dirty="0">
                <a:solidFill>
                  <a:srgbClr val="00B050"/>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78" name="TextBox 77">
              <a:extLst>
                <a:ext uri="{FF2B5EF4-FFF2-40B4-BE49-F238E27FC236}">
                  <a16:creationId xmlns:a16="http://schemas.microsoft.com/office/drawing/2014/main" id="{DFFBC59E-BFB0-7D04-BE0F-055F1582568F}"/>
                </a:ext>
              </a:extLst>
            </p:cNvPr>
            <p:cNvSpPr txBox="1"/>
            <p:nvPr/>
          </p:nvSpPr>
          <p:spPr>
            <a:xfrm>
              <a:off x="3171009" y="5128213"/>
              <a:ext cx="2801615" cy="276999"/>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Sales Orders per inventory turnover</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sp>
          <p:nvSpPr>
            <p:cNvPr id="79" name="TextBox 78">
              <a:extLst>
                <a:ext uri="{FF2B5EF4-FFF2-40B4-BE49-F238E27FC236}">
                  <a16:creationId xmlns:a16="http://schemas.microsoft.com/office/drawing/2014/main" id="{C318DE0C-FF98-F1DB-B09F-7643254BE860}"/>
                </a:ext>
              </a:extLst>
            </p:cNvPr>
            <p:cNvSpPr txBox="1"/>
            <p:nvPr/>
          </p:nvSpPr>
          <p:spPr>
            <a:xfrm>
              <a:off x="3171008" y="5856571"/>
              <a:ext cx="3084649" cy="677108"/>
            </a:xfrm>
            <a:prstGeom prst="rect">
              <a:avLst/>
            </a:prstGeom>
            <a:noFill/>
          </p:spPr>
          <p:txBody>
            <a:bodyPr wrap="square" rtlCol="0">
              <a:spAutoFit/>
            </a:bodyPr>
            <a:lstStyle/>
            <a:p>
              <a:pPr algn="ctr"/>
              <a:r>
                <a:rPr lang="en-US" sz="1200" b="1" dirty="0">
                  <a:solidFill>
                    <a:srgbClr val="896919"/>
                  </a:solidFill>
                  <a:latin typeface="Segoe UI Semibold" panose="020B0702040204020203" pitchFamily="34" charset="0"/>
                  <a:cs typeface="Segoe UI Semibold" panose="020B0702040204020203" pitchFamily="34" charset="0"/>
                </a:rPr>
                <a:t>Avg Fulfillment Days describes how many days do we take on average to deliver a sales order, </a:t>
              </a:r>
              <a:r>
                <a:rPr lang="en-US" sz="1200" b="1" dirty="0">
                  <a:solidFill>
                    <a:srgbClr val="896919"/>
                  </a:solidFill>
                  <a:latin typeface="Segoe UI Black" panose="020B0A02040204020203" pitchFamily="34" charset="0"/>
                  <a:ea typeface="Segoe UI Black" panose="020B0A02040204020203" pitchFamily="34" charset="0"/>
                  <a:cs typeface="Segoe UI Semibold" panose="020B0702040204020203" pitchFamily="34" charset="0"/>
                </a:rPr>
                <a:t>target is </a:t>
              </a:r>
              <a:r>
                <a:rPr lang="en-US" sz="14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rPr>
                <a:t>20% - 21.50%</a:t>
              </a:r>
              <a:endParaRPr lang="en-US" sz="1200" b="1" dirty="0">
                <a:solidFill>
                  <a:srgbClr val="00B050"/>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grpSp>
        <p:nvGrpSpPr>
          <p:cNvPr id="14" name="Group 13">
            <a:extLst>
              <a:ext uri="{FF2B5EF4-FFF2-40B4-BE49-F238E27FC236}">
                <a16:creationId xmlns:a16="http://schemas.microsoft.com/office/drawing/2014/main" id="{204728B2-DAD8-27A8-85C9-AAA5A81EFFA4}"/>
              </a:ext>
            </a:extLst>
          </p:cNvPr>
          <p:cNvGrpSpPr/>
          <p:nvPr/>
        </p:nvGrpSpPr>
        <p:grpSpPr>
          <a:xfrm>
            <a:off x="13620039" y="2373919"/>
            <a:ext cx="1635372" cy="2110157"/>
            <a:chOff x="4839989" y="1871500"/>
            <a:chExt cx="2512020" cy="3241316"/>
          </a:xfrm>
        </p:grpSpPr>
        <p:sp>
          <p:nvSpPr>
            <p:cNvPr id="17" name="Freeform: Shape 16">
              <a:extLst>
                <a:ext uri="{FF2B5EF4-FFF2-40B4-BE49-F238E27FC236}">
                  <a16:creationId xmlns:a16="http://schemas.microsoft.com/office/drawing/2014/main" id="{8374671C-4BB3-ECD5-E642-B99B2F020756}"/>
                </a:ext>
              </a:extLst>
            </p:cNvPr>
            <p:cNvSpPr/>
            <p:nvPr/>
          </p:nvSpPr>
          <p:spPr>
            <a:xfrm>
              <a:off x="4839989" y="1871500"/>
              <a:ext cx="2512020" cy="3241316"/>
            </a:xfrm>
            <a:custGeom>
              <a:avLst/>
              <a:gdLst>
                <a:gd name="csX0" fmla="*/ 243099 w 2512020"/>
                <a:gd name="csY0" fmla="*/ 2998218 h 3241316"/>
                <a:gd name="csX1" fmla="*/ 243099 w 2512020"/>
                <a:gd name="csY1" fmla="*/ 243099 h 3241316"/>
                <a:gd name="csX2" fmla="*/ 1256010 w 2512020"/>
                <a:gd name="csY2" fmla="*/ 243099 h 3241316"/>
                <a:gd name="csX3" fmla="*/ 1256010 w 2512020"/>
                <a:gd name="csY3" fmla="*/ 1093944 h 3241316"/>
                <a:gd name="csX4" fmla="*/ 2268922 w 2512020"/>
                <a:gd name="csY4" fmla="*/ 1093944 h 3241316"/>
                <a:gd name="csX5" fmla="*/ 2268922 w 2512020"/>
                <a:gd name="csY5" fmla="*/ 2998218 h 3241316"/>
                <a:gd name="csX6" fmla="*/ 243099 w 2512020"/>
                <a:gd name="csY6" fmla="*/ 2998218 h 3241316"/>
                <a:gd name="csX7" fmla="*/ 1499109 w 2512020"/>
                <a:gd name="csY7" fmla="*/ 344390 h 3241316"/>
                <a:gd name="csX8" fmla="*/ 2005565 w 2512020"/>
                <a:gd name="csY8" fmla="*/ 850846 h 3241316"/>
                <a:gd name="csX9" fmla="*/ 1499109 w 2512020"/>
                <a:gd name="csY9" fmla="*/ 850846 h 3241316"/>
                <a:gd name="csX10" fmla="*/ 1499109 w 2512020"/>
                <a:gd name="csY10" fmla="*/ 344390 h 3241316"/>
                <a:gd name="csX11" fmla="*/ 1499109 w 2512020"/>
                <a:gd name="csY11" fmla="*/ 0 h 3241316"/>
                <a:gd name="csX12" fmla="*/ 0 w 2512020"/>
                <a:gd name="csY12" fmla="*/ 0 h 3241316"/>
                <a:gd name="csX13" fmla="*/ 0 w 2512020"/>
                <a:gd name="csY13" fmla="*/ 3241317 h 3241316"/>
                <a:gd name="csX14" fmla="*/ 2512021 w 2512020"/>
                <a:gd name="csY14" fmla="*/ 3241317 h 3241316"/>
                <a:gd name="csX15" fmla="*/ 2512021 w 2512020"/>
                <a:gd name="csY15" fmla="*/ 891362 h 3241316"/>
                <a:gd name="csX16" fmla="*/ 1499109 w 2512020"/>
                <a:gd name="csY16" fmla="*/ 0 h 324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512020" h="3241316">
                  <a:moveTo>
                    <a:pt x="243099" y="2998218"/>
                  </a:moveTo>
                  <a:lnTo>
                    <a:pt x="243099" y="243099"/>
                  </a:lnTo>
                  <a:lnTo>
                    <a:pt x="1256010" y="243099"/>
                  </a:lnTo>
                  <a:lnTo>
                    <a:pt x="1256010" y="1093944"/>
                  </a:lnTo>
                  <a:lnTo>
                    <a:pt x="2268922" y="1093944"/>
                  </a:lnTo>
                  <a:lnTo>
                    <a:pt x="2268922" y="2998218"/>
                  </a:lnTo>
                  <a:lnTo>
                    <a:pt x="243099" y="2998218"/>
                  </a:lnTo>
                  <a:close/>
                  <a:moveTo>
                    <a:pt x="1499109" y="344390"/>
                  </a:moveTo>
                  <a:lnTo>
                    <a:pt x="2005565" y="850846"/>
                  </a:lnTo>
                  <a:lnTo>
                    <a:pt x="1499109" y="850846"/>
                  </a:lnTo>
                  <a:lnTo>
                    <a:pt x="1499109" y="344390"/>
                  </a:lnTo>
                  <a:close/>
                  <a:moveTo>
                    <a:pt x="1499109" y="0"/>
                  </a:moveTo>
                  <a:lnTo>
                    <a:pt x="0" y="0"/>
                  </a:lnTo>
                  <a:lnTo>
                    <a:pt x="0" y="3241317"/>
                  </a:lnTo>
                  <a:lnTo>
                    <a:pt x="2512021" y="3241317"/>
                  </a:lnTo>
                  <a:lnTo>
                    <a:pt x="2512021" y="891362"/>
                  </a:lnTo>
                  <a:lnTo>
                    <a:pt x="1499109" y="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8" name="Rectangle 17">
              <a:extLst>
                <a:ext uri="{FF2B5EF4-FFF2-40B4-BE49-F238E27FC236}">
                  <a16:creationId xmlns:a16="http://schemas.microsoft.com/office/drawing/2014/main" id="{0202BABC-E82C-DB79-E6BB-6276C6A0350D}"/>
                </a:ext>
              </a:extLst>
            </p:cNvPr>
            <p:cNvSpPr/>
            <p:nvPr/>
          </p:nvSpPr>
          <p:spPr>
            <a:xfrm>
              <a:off x="5326187" y="3370609"/>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Rectangle 18">
              <a:extLst>
                <a:ext uri="{FF2B5EF4-FFF2-40B4-BE49-F238E27FC236}">
                  <a16:creationId xmlns:a16="http://schemas.microsoft.com/office/drawing/2014/main" id="{0229855E-D639-9DDA-F7FC-1C0635EB1493}"/>
                </a:ext>
              </a:extLst>
            </p:cNvPr>
            <p:cNvSpPr/>
            <p:nvPr/>
          </p:nvSpPr>
          <p:spPr>
            <a:xfrm>
              <a:off x="5326187" y="3046477"/>
              <a:ext cx="526713"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0" name="Rectangle 19">
              <a:extLst>
                <a:ext uri="{FF2B5EF4-FFF2-40B4-BE49-F238E27FC236}">
                  <a16:creationId xmlns:a16="http://schemas.microsoft.com/office/drawing/2014/main" id="{259E2FC3-7451-B642-3095-0E212034B5BD}"/>
                </a:ext>
              </a:extLst>
            </p:cNvPr>
            <p:cNvSpPr/>
            <p:nvPr/>
          </p:nvSpPr>
          <p:spPr>
            <a:xfrm>
              <a:off x="5326187" y="3694741"/>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1" name="Rectangle 20">
              <a:extLst>
                <a:ext uri="{FF2B5EF4-FFF2-40B4-BE49-F238E27FC236}">
                  <a16:creationId xmlns:a16="http://schemas.microsoft.com/office/drawing/2014/main" id="{E9392D47-17B1-9501-3060-824EA2EEC27E}"/>
                </a:ext>
              </a:extLst>
            </p:cNvPr>
            <p:cNvSpPr/>
            <p:nvPr/>
          </p:nvSpPr>
          <p:spPr>
            <a:xfrm>
              <a:off x="5326187" y="4018872"/>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2" name="Rectangle 21">
              <a:extLst>
                <a:ext uri="{FF2B5EF4-FFF2-40B4-BE49-F238E27FC236}">
                  <a16:creationId xmlns:a16="http://schemas.microsoft.com/office/drawing/2014/main" id="{13A417BE-0032-AE5A-F02D-9C6FF30CBF22}"/>
                </a:ext>
              </a:extLst>
            </p:cNvPr>
            <p:cNvSpPr/>
            <p:nvPr/>
          </p:nvSpPr>
          <p:spPr>
            <a:xfrm>
              <a:off x="5326187" y="4343004"/>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381837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5EFB-166D-6D27-2D66-DC0A45173A7E}"/>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ECF36B6-16A6-7CE5-DA7E-609B6479F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36F7BD8B-4E8E-DA54-463C-5D54FE8D2B2B}"/>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9133591A-771D-AB60-7E26-88B677DE64F5}"/>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36CE90E2-AB47-76ED-4EE7-39E7E9413C8A}"/>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5FA9F3DA-476A-5440-B127-4060E937C6DB}"/>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A65D9414-2E8B-1AF7-3F6E-1D48EDA238DE}"/>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B6488230-8919-A842-B42A-F2A642184724}"/>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B11956CE-D094-260E-6894-F42FE0702A78}"/>
              </a:ext>
            </a:extLst>
          </p:cNvPr>
          <p:cNvSpPr txBox="1"/>
          <p:nvPr/>
        </p:nvSpPr>
        <p:spPr>
          <a:xfrm>
            <a:off x="196645" y="-679898"/>
            <a:ext cx="4933950" cy="584775"/>
          </a:xfrm>
          <a:prstGeom prst="rect">
            <a:avLst/>
          </a:prstGeom>
          <a:noFill/>
        </p:spPr>
        <p:txBody>
          <a:bodyPr wrap="square" rtlCol="0">
            <a:spAutoFit/>
          </a:bodyPr>
          <a:lstStyle/>
          <a:p>
            <a:r>
              <a:rPr lang="en-US" sz="3200" b="1" dirty="0">
                <a:solidFill>
                  <a:srgbClr val="F6BB00">
                    <a:alpha val="10000"/>
                  </a:srgbClr>
                </a:solidFill>
              </a:rPr>
              <a:t>Action Plan</a:t>
            </a:r>
          </a:p>
        </p:txBody>
      </p:sp>
      <p:sp>
        <p:nvSpPr>
          <p:cNvPr id="10" name="TextBox 9">
            <a:extLst>
              <a:ext uri="{FF2B5EF4-FFF2-40B4-BE49-F238E27FC236}">
                <a16:creationId xmlns:a16="http://schemas.microsoft.com/office/drawing/2014/main" id="{DD450C02-69F7-8690-CDEB-1DB12B706877}"/>
              </a:ext>
            </a:extLst>
          </p:cNvPr>
          <p:cNvSpPr txBox="1"/>
          <p:nvPr/>
        </p:nvSpPr>
        <p:spPr>
          <a:xfrm>
            <a:off x="196644" y="141353"/>
            <a:ext cx="624225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Business </a:t>
            </a:r>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Recommendations</a:t>
            </a:r>
          </a:p>
        </p:txBody>
      </p:sp>
      <p:sp>
        <p:nvSpPr>
          <p:cNvPr id="11" name="TextBox 10">
            <a:extLst>
              <a:ext uri="{FF2B5EF4-FFF2-40B4-BE49-F238E27FC236}">
                <a16:creationId xmlns:a16="http://schemas.microsoft.com/office/drawing/2014/main" id="{EAD60A9F-2BD1-5507-28FE-62C5BBAD958C}"/>
              </a:ext>
            </a:extLst>
          </p:cNvPr>
          <p:cNvSpPr txBox="1"/>
          <p:nvPr/>
        </p:nvSpPr>
        <p:spPr>
          <a:xfrm>
            <a:off x="196644" y="630883"/>
            <a:ext cx="6242255"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Action Plan</a:t>
            </a:r>
          </a:p>
        </p:txBody>
      </p:sp>
      <p:sp>
        <p:nvSpPr>
          <p:cNvPr id="15" name="Isosceles Triangle 14">
            <a:extLst>
              <a:ext uri="{FF2B5EF4-FFF2-40B4-BE49-F238E27FC236}">
                <a16:creationId xmlns:a16="http://schemas.microsoft.com/office/drawing/2014/main" id="{4270D497-5603-3BD6-943B-5E3AE31B6FF3}"/>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8" name="TextBox 17">
            <a:extLst>
              <a:ext uri="{FF2B5EF4-FFF2-40B4-BE49-F238E27FC236}">
                <a16:creationId xmlns:a16="http://schemas.microsoft.com/office/drawing/2014/main" id="{56EA9CED-010D-61D1-84E2-80FA8CBA8459}"/>
              </a:ext>
            </a:extLst>
          </p:cNvPr>
          <p:cNvSpPr txBox="1"/>
          <p:nvPr/>
        </p:nvSpPr>
        <p:spPr>
          <a:xfrm>
            <a:off x="196644" y="1081120"/>
            <a:ext cx="9503915" cy="5574988"/>
          </a:xfrm>
          <a:prstGeom prst="rect">
            <a:avLst/>
          </a:prstGeom>
          <a:noFill/>
        </p:spPr>
        <p:txBody>
          <a:bodyPr wrap="square" rtlCol="0" anchor="ctr">
            <a:spAutoFit/>
          </a:bodyPr>
          <a:lstStyle/>
          <a:p>
            <a:pPr algn="just">
              <a:lnSpc>
                <a:spcPct val="150000"/>
              </a:lnSpc>
            </a:pP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1.</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We need to rely more on known reputations for high quality performances of suppliers before doing business with them, and not just rely on international certifications.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Efficiency is key when dealing with Suppliers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a:r>
          </a:p>
          <a:p>
            <a:pPr algn="just">
              <a:lnSpc>
                <a:spcPct val="150000"/>
              </a:lnSpc>
            </a:pPr>
            <a:b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b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2.</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Our operations are not lean enough, especially in terms of procurement.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Process Waste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(Order &amp; Procurement Waste) &amp;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Defect Rate %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are essentially a low supplier quality reasons.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Reorder Rate %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is due to our internal lean operations, specifically due to poor inventory planning, and when purchase orders arrive and get into quality checks &amp; reviews before acceptance.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A lean FMCG operational plan with world-class targets and KPIs has to be set</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a:r>
            <a:endPar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endParaRPr>
          </a:p>
          <a:p>
            <a:pPr algn="just">
              <a:lnSpc>
                <a:spcPct val="150000"/>
              </a:lnSpc>
            </a:pPr>
            <a:b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br>
            <a:endPar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endParaRPr>
          </a:p>
        </p:txBody>
      </p:sp>
      <p:grpSp>
        <p:nvGrpSpPr>
          <p:cNvPr id="5" name="Group 4">
            <a:extLst>
              <a:ext uri="{FF2B5EF4-FFF2-40B4-BE49-F238E27FC236}">
                <a16:creationId xmlns:a16="http://schemas.microsoft.com/office/drawing/2014/main" id="{820B0058-4B13-3832-D9C9-C1F6D246A985}"/>
              </a:ext>
            </a:extLst>
          </p:cNvPr>
          <p:cNvGrpSpPr/>
          <p:nvPr/>
        </p:nvGrpSpPr>
        <p:grpSpPr>
          <a:xfrm>
            <a:off x="10359984" y="2373919"/>
            <a:ext cx="1635372" cy="2110157"/>
            <a:chOff x="4839989" y="1871500"/>
            <a:chExt cx="2512020" cy="3241316"/>
          </a:xfrm>
        </p:grpSpPr>
        <p:sp>
          <p:nvSpPr>
            <p:cNvPr id="13" name="Freeform: Shape 12">
              <a:extLst>
                <a:ext uri="{FF2B5EF4-FFF2-40B4-BE49-F238E27FC236}">
                  <a16:creationId xmlns:a16="http://schemas.microsoft.com/office/drawing/2014/main" id="{23178BB1-EED0-1C63-32A8-5A682C0F1F15}"/>
                </a:ext>
              </a:extLst>
            </p:cNvPr>
            <p:cNvSpPr/>
            <p:nvPr/>
          </p:nvSpPr>
          <p:spPr>
            <a:xfrm>
              <a:off x="4839989" y="1871500"/>
              <a:ext cx="2512020" cy="3241316"/>
            </a:xfrm>
            <a:custGeom>
              <a:avLst/>
              <a:gdLst>
                <a:gd name="csX0" fmla="*/ 243099 w 2512020"/>
                <a:gd name="csY0" fmla="*/ 2998218 h 3241316"/>
                <a:gd name="csX1" fmla="*/ 243099 w 2512020"/>
                <a:gd name="csY1" fmla="*/ 243099 h 3241316"/>
                <a:gd name="csX2" fmla="*/ 1256010 w 2512020"/>
                <a:gd name="csY2" fmla="*/ 243099 h 3241316"/>
                <a:gd name="csX3" fmla="*/ 1256010 w 2512020"/>
                <a:gd name="csY3" fmla="*/ 1093944 h 3241316"/>
                <a:gd name="csX4" fmla="*/ 2268922 w 2512020"/>
                <a:gd name="csY4" fmla="*/ 1093944 h 3241316"/>
                <a:gd name="csX5" fmla="*/ 2268922 w 2512020"/>
                <a:gd name="csY5" fmla="*/ 2998218 h 3241316"/>
                <a:gd name="csX6" fmla="*/ 243099 w 2512020"/>
                <a:gd name="csY6" fmla="*/ 2998218 h 3241316"/>
                <a:gd name="csX7" fmla="*/ 1499109 w 2512020"/>
                <a:gd name="csY7" fmla="*/ 344390 h 3241316"/>
                <a:gd name="csX8" fmla="*/ 2005565 w 2512020"/>
                <a:gd name="csY8" fmla="*/ 850846 h 3241316"/>
                <a:gd name="csX9" fmla="*/ 1499109 w 2512020"/>
                <a:gd name="csY9" fmla="*/ 850846 h 3241316"/>
                <a:gd name="csX10" fmla="*/ 1499109 w 2512020"/>
                <a:gd name="csY10" fmla="*/ 344390 h 3241316"/>
                <a:gd name="csX11" fmla="*/ 1499109 w 2512020"/>
                <a:gd name="csY11" fmla="*/ 0 h 3241316"/>
                <a:gd name="csX12" fmla="*/ 0 w 2512020"/>
                <a:gd name="csY12" fmla="*/ 0 h 3241316"/>
                <a:gd name="csX13" fmla="*/ 0 w 2512020"/>
                <a:gd name="csY13" fmla="*/ 3241317 h 3241316"/>
                <a:gd name="csX14" fmla="*/ 2512021 w 2512020"/>
                <a:gd name="csY14" fmla="*/ 3241317 h 3241316"/>
                <a:gd name="csX15" fmla="*/ 2512021 w 2512020"/>
                <a:gd name="csY15" fmla="*/ 891362 h 3241316"/>
                <a:gd name="csX16" fmla="*/ 1499109 w 2512020"/>
                <a:gd name="csY16" fmla="*/ 0 h 324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512020" h="3241316">
                  <a:moveTo>
                    <a:pt x="243099" y="2998218"/>
                  </a:moveTo>
                  <a:lnTo>
                    <a:pt x="243099" y="243099"/>
                  </a:lnTo>
                  <a:lnTo>
                    <a:pt x="1256010" y="243099"/>
                  </a:lnTo>
                  <a:lnTo>
                    <a:pt x="1256010" y="1093944"/>
                  </a:lnTo>
                  <a:lnTo>
                    <a:pt x="2268922" y="1093944"/>
                  </a:lnTo>
                  <a:lnTo>
                    <a:pt x="2268922" y="2998218"/>
                  </a:lnTo>
                  <a:lnTo>
                    <a:pt x="243099" y="2998218"/>
                  </a:lnTo>
                  <a:close/>
                  <a:moveTo>
                    <a:pt x="1499109" y="344390"/>
                  </a:moveTo>
                  <a:lnTo>
                    <a:pt x="2005565" y="850846"/>
                  </a:lnTo>
                  <a:lnTo>
                    <a:pt x="1499109" y="850846"/>
                  </a:lnTo>
                  <a:lnTo>
                    <a:pt x="1499109" y="344390"/>
                  </a:lnTo>
                  <a:close/>
                  <a:moveTo>
                    <a:pt x="1499109" y="0"/>
                  </a:moveTo>
                  <a:lnTo>
                    <a:pt x="0" y="0"/>
                  </a:lnTo>
                  <a:lnTo>
                    <a:pt x="0" y="3241317"/>
                  </a:lnTo>
                  <a:lnTo>
                    <a:pt x="2512021" y="3241317"/>
                  </a:lnTo>
                  <a:lnTo>
                    <a:pt x="2512021" y="891362"/>
                  </a:lnTo>
                  <a:lnTo>
                    <a:pt x="1499109" y="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4" name="Rectangle 13">
              <a:extLst>
                <a:ext uri="{FF2B5EF4-FFF2-40B4-BE49-F238E27FC236}">
                  <a16:creationId xmlns:a16="http://schemas.microsoft.com/office/drawing/2014/main" id="{EB9E4653-A76E-0103-4DCC-BC4BA47658AA}"/>
                </a:ext>
              </a:extLst>
            </p:cNvPr>
            <p:cNvSpPr/>
            <p:nvPr/>
          </p:nvSpPr>
          <p:spPr>
            <a:xfrm>
              <a:off x="5326187" y="3370609"/>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7" name="Rectangle 16">
              <a:extLst>
                <a:ext uri="{FF2B5EF4-FFF2-40B4-BE49-F238E27FC236}">
                  <a16:creationId xmlns:a16="http://schemas.microsoft.com/office/drawing/2014/main" id="{D61A9001-3E5A-E23E-C6D1-6D046FD375D7}"/>
                </a:ext>
              </a:extLst>
            </p:cNvPr>
            <p:cNvSpPr/>
            <p:nvPr/>
          </p:nvSpPr>
          <p:spPr>
            <a:xfrm>
              <a:off x="5326187" y="3046477"/>
              <a:ext cx="526713"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Rectangle 18">
              <a:extLst>
                <a:ext uri="{FF2B5EF4-FFF2-40B4-BE49-F238E27FC236}">
                  <a16:creationId xmlns:a16="http://schemas.microsoft.com/office/drawing/2014/main" id="{C18AD58B-4700-7140-889F-B65C24E08F30}"/>
                </a:ext>
              </a:extLst>
            </p:cNvPr>
            <p:cNvSpPr/>
            <p:nvPr/>
          </p:nvSpPr>
          <p:spPr>
            <a:xfrm>
              <a:off x="5326187" y="3694741"/>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0" name="Rectangle 19">
              <a:extLst>
                <a:ext uri="{FF2B5EF4-FFF2-40B4-BE49-F238E27FC236}">
                  <a16:creationId xmlns:a16="http://schemas.microsoft.com/office/drawing/2014/main" id="{32C13D01-5523-EB4F-3D72-EB854C0EC7D0}"/>
                </a:ext>
              </a:extLst>
            </p:cNvPr>
            <p:cNvSpPr/>
            <p:nvPr/>
          </p:nvSpPr>
          <p:spPr>
            <a:xfrm>
              <a:off x="5326187" y="4018872"/>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1" name="Rectangle 20">
              <a:extLst>
                <a:ext uri="{FF2B5EF4-FFF2-40B4-BE49-F238E27FC236}">
                  <a16:creationId xmlns:a16="http://schemas.microsoft.com/office/drawing/2014/main" id="{C3A9E3C7-F776-B6CF-8CCE-9D309296EBC5}"/>
                </a:ext>
              </a:extLst>
            </p:cNvPr>
            <p:cNvSpPr/>
            <p:nvPr/>
          </p:nvSpPr>
          <p:spPr>
            <a:xfrm>
              <a:off x="5326187" y="4343004"/>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580986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16F66-4D8C-4059-B36F-D317C63906A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391FEC0-3535-412C-E8F9-376E04992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B68EEA7-C9BA-9AA4-CBBD-2E117AFDA215}"/>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890DE21E-D183-2D3C-7EB0-85A6BFF2DEA4}"/>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067D8A4D-5F15-B51A-EE71-737B632217F5}"/>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2FFE427C-7884-8B17-F1D8-DB882CF4570A}"/>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A6B7844E-34A1-BAD2-4C4D-8218888B75D5}"/>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60D5CFAC-63F6-DCCD-6102-6E93B7474A86}"/>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D1FA73D1-3A05-3405-3B4F-AEA74B4D713C}"/>
              </a:ext>
            </a:extLst>
          </p:cNvPr>
          <p:cNvSpPr txBox="1"/>
          <p:nvPr/>
        </p:nvSpPr>
        <p:spPr>
          <a:xfrm>
            <a:off x="196645" y="-679898"/>
            <a:ext cx="4933950" cy="584775"/>
          </a:xfrm>
          <a:prstGeom prst="rect">
            <a:avLst/>
          </a:prstGeom>
          <a:noFill/>
        </p:spPr>
        <p:txBody>
          <a:bodyPr wrap="square" rtlCol="0">
            <a:spAutoFit/>
          </a:bodyPr>
          <a:lstStyle/>
          <a:p>
            <a:r>
              <a:rPr lang="en-US" sz="3200" b="1" dirty="0">
                <a:solidFill>
                  <a:srgbClr val="F6BB00">
                    <a:alpha val="10000"/>
                  </a:srgbClr>
                </a:solidFill>
              </a:rPr>
              <a:t>Action Plan</a:t>
            </a:r>
          </a:p>
        </p:txBody>
      </p:sp>
      <p:sp>
        <p:nvSpPr>
          <p:cNvPr id="10" name="TextBox 9">
            <a:extLst>
              <a:ext uri="{FF2B5EF4-FFF2-40B4-BE49-F238E27FC236}">
                <a16:creationId xmlns:a16="http://schemas.microsoft.com/office/drawing/2014/main" id="{CFC0CD48-44EC-28CE-6275-EAD1E7B3A6C9}"/>
              </a:ext>
            </a:extLst>
          </p:cNvPr>
          <p:cNvSpPr txBox="1"/>
          <p:nvPr/>
        </p:nvSpPr>
        <p:spPr>
          <a:xfrm>
            <a:off x="196644" y="141353"/>
            <a:ext cx="624225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Business </a:t>
            </a:r>
            <a:r>
              <a:rPr lang="en-US" sz="3200" b="1" spc="50"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Recommendations</a:t>
            </a:r>
          </a:p>
        </p:txBody>
      </p:sp>
      <p:sp>
        <p:nvSpPr>
          <p:cNvPr id="11" name="TextBox 10">
            <a:extLst>
              <a:ext uri="{FF2B5EF4-FFF2-40B4-BE49-F238E27FC236}">
                <a16:creationId xmlns:a16="http://schemas.microsoft.com/office/drawing/2014/main" id="{1A08EAD5-7885-7CAC-CFDA-55C8ADC9020D}"/>
              </a:ext>
            </a:extLst>
          </p:cNvPr>
          <p:cNvSpPr txBox="1"/>
          <p:nvPr/>
        </p:nvSpPr>
        <p:spPr>
          <a:xfrm>
            <a:off x="196644" y="630883"/>
            <a:ext cx="6242255"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Action Plan</a:t>
            </a:r>
          </a:p>
        </p:txBody>
      </p:sp>
      <p:sp>
        <p:nvSpPr>
          <p:cNvPr id="15" name="Isosceles Triangle 14">
            <a:extLst>
              <a:ext uri="{FF2B5EF4-FFF2-40B4-BE49-F238E27FC236}">
                <a16:creationId xmlns:a16="http://schemas.microsoft.com/office/drawing/2014/main" id="{9F51097A-89A0-2421-EE5D-122B1BD8509C}"/>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8" name="TextBox 17">
            <a:extLst>
              <a:ext uri="{FF2B5EF4-FFF2-40B4-BE49-F238E27FC236}">
                <a16:creationId xmlns:a16="http://schemas.microsoft.com/office/drawing/2014/main" id="{A18C2359-174D-290C-D43A-F8C5F45C13C7}"/>
              </a:ext>
            </a:extLst>
          </p:cNvPr>
          <p:cNvSpPr txBox="1"/>
          <p:nvPr/>
        </p:nvSpPr>
        <p:spPr>
          <a:xfrm>
            <a:off x="196644" y="1093562"/>
            <a:ext cx="9869297" cy="5217134"/>
          </a:xfrm>
          <a:prstGeom prst="rect">
            <a:avLst/>
          </a:prstGeom>
          <a:noFill/>
        </p:spPr>
        <p:txBody>
          <a:bodyPr wrap="square" rtlCol="0" anchor="ctr">
            <a:spAutoFit/>
          </a:bodyPr>
          <a:lstStyle/>
          <a:p>
            <a:pPr algn="just">
              <a:lnSpc>
                <a:spcPct val="150000"/>
              </a:lnSpc>
            </a:pPr>
            <a:r>
              <a:rPr lang="en-US" sz="16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3.</a:t>
            </a:r>
            <a:r>
              <a:rPr lang="en-US" sz="16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We are gaining results of poor planning and weak estimation of regional sales for each warehouse. Also, shrinkage % is slightly higher than expected. </a:t>
            </a:r>
            <a:r>
              <a:rPr lang="en-US" sz="16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A new estimation of warehouse capacity needs per warehouse has to be initiated, and the decision of adding supporting warehouses or expanding the existing ones should be taken dependently. Also, quality checks, supervision, and review processes have to be more serious to control inventory shrinkage %</a:t>
            </a:r>
            <a:r>
              <a:rPr lang="en-US" sz="16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a:r>
          </a:p>
          <a:p>
            <a:pPr algn="just">
              <a:lnSpc>
                <a:spcPct val="150000"/>
              </a:lnSpc>
            </a:pPr>
            <a:br>
              <a:rPr lang="en-US" sz="16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br>
            <a:r>
              <a:rPr lang="en-US" sz="16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4.</a:t>
            </a:r>
            <a:r>
              <a:rPr lang="en-US" sz="16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Our sales delivery &amp; fulfillment process needs honest and revolutionary actions, our numbers are down compared to our targets and world-class estimations by far. Most of our customers have suffered from delayed deliveries. </a:t>
            </a:r>
            <a:r>
              <a:rPr lang="en-US" sz="16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Checking our Air, Land, Sea delivery assets and compare them to our business needs is essential at this time to consider expanding our delivery assets in order to speed up our delivery process, and fulfill orders in time. As an addition, high quality standards have to be set on our delivery process for package safety and completeness, and firms internal regulations can be discussed with ER and HR departments to enhance our package delivery department’s performance.</a:t>
            </a:r>
          </a:p>
        </p:txBody>
      </p:sp>
      <p:grpSp>
        <p:nvGrpSpPr>
          <p:cNvPr id="69" name="Group 68">
            <a:extLst>
              <a:ext uri="{FF2B5EF4-FFF2-40B4-BE49-F238E27FC236}">
                <a16:creationId xmlns:a16="http://schemas.microsoft.com/office/drawing/2014/main" id="{F41A6AAB-7F0D-0D54-1F6C-56BF6F9FC060}"/>
              </a:ext>
            </a:extLst>
          </p:cNvPr>
          <p:cNvGrpSpPr/>
          <p:nvPr/>
        </p:nvGrpSpPr>
        <p:grpSpPr>
          <a:xfrm>
            <a:off x="10359984" y="2373919"/>
            <a:ext cx="1635372" cy="2110157"/>
            <a:chOff x="4839989" y="1871500"/>
            <a:chExt cx="2512020" cy="3241316"/>
          </a:xfrm>
        </p:grpSpPr>
        <p:sp>
          <p:nvSpPr>
            <p:cNvPr id="63" name="Freeform: Shape 62">
              <a:extLst>
                <a:ext uri="{FF2B5EF4-FFF2-40B4-BE49-F238E27FC236}">
                  <a16:creationId xmlns:a16="http://schemas.microsoft.com/office/drawing/2014/main" id="{35F6FB0C-70D3-FC21-9812-08B0F988CC6C}"/>
                </a:ext>
              </a:extLst>
            </p:cNvPr>
            <p:cNvSpPr/>
            <p:nvPr/>
          </p:nvSpPr>
          <p:spPr>
            <a:xfrm>
              <a:off x="4839989" y="1871500"/>
              <a:ext cx="2512020" cy="3241316"/>
            </a:xfrm>
            <a:custGeom>
              <a:avLst/>
              <a:gdLst>
                <a:gd name="csX0" fmla="*/ 243099 w 2512020"/>
                <a:gd name="csY0" fmla="*/ 2998218 h 3241316"/>
                <a:gd name="csX1" fmla="*/ 243099 w 2512020"/>
                <a:gd name="csY1" fmla="*/ 243099 h 3241316"/>
                <a:gd name="csX2" fmla="*/ 1256010 w 2512020"/>
                <a:gd name="csY2" fmla="*/ 243099 h 3241316"/>
                <a:gd name="csX3" fmla="*/ 1256010 w 2512020"/>
                <a:gd name="csY3" fmla="*/ 1093944 h 3241316"/>
                <a:gd name="csX4" fmla="*/ 2268922 w 2512020"/>
                <a:gd name="csY4" fmla="*/ 1093944 h 3241316"/>
                <a:gd name="csX5" fmla="*/ 2268922 w 2512020"/>
                <a:gd name="csY5" fmla="*/ 2998218 h 3241316"/>
                <a:gd name="csX6" fmla="*/ 243099 w 2512020"/>
                <a:gd name="csY6" fmla="*/ 2998218 h 3241316"/>
                <a:gd name="csX7" fmla="*/ 1499109 w 2512020"/>
                <a:gd name="csY7" fmla="*/ 344390 h 3241316"/>
                <a:gd name="csX8" fmla="*/ 2005565 w 2512020"/>
                <a:gd name="csY8" fmla="*/ 850846 h 3241316"/>
                <a:gd name="csX9" fmla="*/ 1499109 w 2512020"/>
                <a:gd name="csY9" fmla="*/ 850846 h 3241316"/>
                <a:gd name="csX10" fmla="*/ 1499109 w 2512020"/>
                <a:gd name="csY10" fmla="*/ 344390 h 3241316"/>
                <a:gd name="csX11" fmla="*/ 1499109 w 2512020"/>
                <a:gd name="csY11" fmla="*/ 0 h 3241316"/>
                <a:gd name="csX12" fmla="*/ 0 w 2512020"/>
                <a:gd name="csY12" fmla="*/ 0 h 3241316"/>
                <a:gd name="csX13" fmla="*/ 0 w 2512020"/>
                <a:gd name="csY13" fmla="*/ 3241317 h 3241316"/>
                <a:gd name="csX14" fmla="*/ 2512021 w 2512020"/>
                <a:gd name="csY14" fmla="*/ 3241317 h 3241316"/>
                <a:gd name="csX15" fmla="*/ 2512021 w 2512020"/>
                <a:gd name="csY15" fmla="*/ 891362 h 3241316"/>
                <a:gd name="csX16" fmla="*/ 1499109 w 2512020"/>
                <a:gd name="csY16" fmla="*/ 0 h 3241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512020" h="3241316">
                  <a:moveTo>
                    <a:pt x="243099" y="2998218"/>
                  </a:moveTo>
                  <a:lnTo>
                    <a:pt x="243099" y="243099"/>
                  </a:lnTo>
                  <a:lnTo>
                    <a:pt x="1256010" y="243099"/>
                  </a:lnTo>
                  <a:lnTo>
                    <a:pt x="1256010" y="1093944"/>
                  </a:lnTo>
                  <a:lnTo>
                    <a:pt x="2268922" y="1093944"/>
                  </a:lnTo>
                  <a:lnTo>
                    <a:pt x="2268922" y="2998218"/>
                  </a:lnTo>
                  <a:lnTo>
                    <a:pt x="243099" y="2998218"/>
                  </a:lnTo>
                  <a:close/>
                  <a:moveTo>
                    <a:pt x="1499109" y="344390"/>
                  </a:moveTo>
                  <a:lnTo>
                    <a:pt x="2005565" y="850846"/>
                  </a:lnTo>
                  <a:lnTo>
                    <a:pt x="1499109" y="850846"/>
                  </a:lnTo>
                  <a:lnTo>
                    <a:pt x="1499109" y="344390"/>
                  </a:lnTo>
                  <a:close/>
                  <a:moveTo>
                    <a:pt x="1499109" y="0"/>
                  </a:moveTo>
                  <a:lnTo>
                    <a:pt x="0" y="0"/>
                  </a:lnTo>
                  <a:lnTo>
                    <a:pt x="0" y="3241317"/>
                  </a:lnTo>
                  <a:lnTo>
                    <a:pt x="2512021" y="3241317"/>
                  </a:lnTo>
                  <a:lnTo>
                    <a:pt x="2512021" y="891362"/>
                  </a:lnTo>
                  <a:lnTo>
                    <a:pt x="1499109" y="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64" name="Rectangle 63">
              <a:extLst>
                <a:ext uri="{FF2B5EF4-FFF2-40B4-BE49-F238E27FC236}">
                  <a16:creationId xmlns:a16="http://schemas.microsoft.com/office/drawing/2014/main" id="{5DEBC6C8-D0C5-479E-004F-39E68C0E3F55}"/>
                </a:ext>
              </a:extLst>
            </p:cNvPr>
            <p:cNvSpPr/>
            <p:nvPr/>
          </p:nvSpPr>
          <p:spPr>
            <a:xfrm>
              <a:off x="5326187" y="3370609"/>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65" name="Rectangle 64">
              <a:extLst>
                <a:ext uri="{FF2B5EF4-FFF2-40B4-BE49-F238E27FC236}">
                  <a16:creationId xmlns:a16="http://schemas.microsoft.com/office/drawing/2014/main" id="{69F2181A-DE84-700E-1483-0E2170521D59}"/>
                </a:ext>
              </a:extLst>
            </p:cNvPr>
            <p:cNvSpPr/>
            <p:nvPr/>
          </p:nvSpPr>
          <p:spPr>
            <a:xfrm>
              <a:off x="5326187" y="3046477"/>
              <a:ext cx="526713"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66" name="Rectangle 65">
              <a:extLst>
                <a:ext uri="{FF2B5EF4-FFF2-40B4-BE49-F238E27FC236}">
                  <a16:creationId xmlns:a16="http://schemas.microsoft.com/office/drawing/2014/main" id="{44AAD541-B39B-951F-12B5-81B13BC1A578}"/>
                </a:ext>
              </a:extLst>
            </p:cNvPr>
            <p:cNvSpPr/>
            <p:nvPr/>
          </p:nvSpPr>
          <p:spPr>
            <a:xfrm>
              <a:off x="5326187" y="3694741"/>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67" name="Rectangle 66">
              <a:extLst>
                <a:ext uri="{FF2B5EF4-FFF2-40B4-BE49-F238E27FC236}">
                  <a16:creationId xmlns:a16="http://schemas.microsoft.com/office/drawing/2014/main" id="{3475C6DE-CC91-5AE4-F87E-D4B3DE5BF3AA}"/>
                </a:ext>
              </a:extLst>
            </p:cNvPr>
            <p:cNvSpPr/>
            <p:nvPr/>
          </p:nvSpPr>
          <p:spPr>
            <a:xfrm>
              <a:off x="5326187" y="4018872"/>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68" name="Rectangle 67">
              <a:extLst>
                <a:ext uri="{FF2B5EF4-FFF2-40B4-BE49-F238E27FC236}">
                  <a16:creationId xmlns:a16="http://schemas.microsoft.com/office/drawing/2014/main" id="{3956B825-93D2-C513-CB57-D7EAC4C45447}"/>
                </a:ext>
              </a:extLst>
            </p:cNvPr>
            <p:cNvSpPr/>
            <p:nvPr/>
          </p:nvSpPr>
          <p:spPr>
            <a:xfrm>
              <a:off x="5326187" y="4343004"/>
              <a:ext cx="1539625" cy="162065"/>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2024681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5C75-8E4E-ECD9-F1C5-D92F8D20C71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D8E7538-0BC7-7014-2AA1-22AB5DBB36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50AC4C85-6840-9E5B-E55B-907CA0414911}"/>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E8FC1985-7CE6-F908-D368-3034EC511C13}"/>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AB3763FE-4072-3ADF-21F3-B991970E0DCE}"/>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E7AFA428-8AC5-50E6-3B02-04F2D28E06DC}"/>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C79B9D34-405D-B21E-79AD-00AEFE2A1188}"/>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37E9E423-B034-7663-7119-79E5E06E68CE}"/>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6BB10712-5D39-66F5-BAC5-11CEFA42D16F}"/>
              </a:ext>
            </a:extLst>
          </p:cNvPr>
          <p:cNvSpPr txBox="1"/>
          <p:nvPr/>
        </p:nvSpPr>
        <p:spPr>
          <a:xfrm>
            <a:off x="196645" y="-679898"/>
            <a:ext cx="4933950" cy="584775"/>
          </a:xfrm>
          <a:prstGeom prst="rect">
            <a:avLst/>
          </a:prstGeom>
          <a:noFill/>
        </p:spPr>
        <p:txBody>
          <a:bodyPr wrap="square" rtlCol="0">
            <a:spAutoFit/>
          </a:bodyPr>
          <a:lstStyle/>
          <a:p>
            <a:r>
              <a:rPr lang="en-US" sz="3200" b="1" dirty="0">
                <a:solidFill>
                  <a:srgbClr val="F6BB00">
                    <a:alpha val="10000"/>
                  </a:srgbClr>
                </a:solidFill>
              </a:rPr>
              <a:t>Action Plan</a:t>
            </a:r>
          </a:p>
        </p:txBody>
      </p:sp>
      <p:sp>
        <p:nvSpPr>
          <p:cNvPr id="10" name="TextBox 9">
            <a:extLst>
              <a:ext uri="{FF2B5EF4-FFF2-40B4-BE49-F238E27FC236}">
                <a16:creationId xmlns:a16="http://schemas.microsoft.com/office/drawing/2014/main" id="{9F038049-3524-1183-BB6A-B6A463697D2E}"/>
              </a:ext>
            </a:extLst>
          </p:cNvPr>
          <p:cNvSpPr txBox="1"/>
          <p:nvPr/>
        </p:nvSpPr>
        <p:spPr>
          <a:xfrm>
            <a:off x="196644" y="-712252"/>
            <a:ext cx="6242255" cy="584775"/>
          </a:xfrm>
          <a:prstGeom prst="rect">
            <a:avLst/>
          </a:prstGeom>
          <a:noFill/>
        </p:spPr>
        <p:txBody>
          <a:bodyPr wrap="square" rtlCol="0">
            <a:spAutoFit/>
          </a:bodyPr>
          <a:lstStyle/>
          <a:p>
            <a:r>
              <a:rPr lang="en-US" sz="3200" b="1" dirty="0">
                <a:solidFill>
                  <a:srgbClr val="F6BB00">
                    <a:alpha val="10000"/>
                  </a:srgbClr>
                </a:solidFill>
              </a:rPr>
              <a:t>2026 Forecasts as per Action Plan</a:t>
            </a:r>
          </a:p>
        </p:txBody>
      </p:sp>
      <p:sp>
        <p:nvSpPr>
          <p:cNvPr id="11" name="TextBox 10">
            <a:extLst>
              <a:ext uri="{FF2B5EF4-FFF2-40B4-BE49-F238E27FC236}">
                <a16:creationId xmlns:a16="http://schemas.microsoft.com/office/drawing/2014/main" id="{F02E6165-4BB1-42C0-7F1F-554BBC9EBC7B}"/>
              </a:ext>
            </a:extLst>
          </p:cNvPr>
          <p:cNvSpPr txBox="1"/>
          <p:nvPr/>
        </p:nvSpPr>
        <p:spPr>
          <a:xfrm>
            <a:off x="196644" y="141352"/>
            <a:ext cx="624225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Action Plan</a:t>
            </a:r>
          </a:p>
        </p:txBody>
      </p:sp>
      <p:sp>
        <p:nvSpPr>
          <p:cNvPr id="13" name="TextBox 12">
            <a:extLst>
              <a:ext uri="{FF2B5EF4-FFF2-40B4-BE49-F238E27FC236}">
                <a16:creationId xmlns:a16="http://schemas.microsoft.com/office/drawing/2014/main" id="{CB53F01C-2023-52BE-AA44-8F59B2580B72}"/>
              </a:ext>
            </a:extLst>
          </p:cNvPr>
          <p:cNvSpPr txBox="1"/>
          <p:nvPr/>
        </p:nvSpPr>
        <p:spPr>
          <a:xfrm>
            <a:off x="196644" y="630883"/>
            <a:ext cx="7471482"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2026 Forecasting as per the Action Plan</a:t>
            </a:r>
          </a:p>
        </p:txBody>
      </p:sp>
      <p:sp>
        <p:nvSpPr>
          <p:cNvPr id="14" name="Isosceles Triangle 13">
            <a:extLst>
              <a:ext uri="{FF2B5EF4-FFF2-40B4-BE49-F238E27FC236}">
                <a16:creationId xmlns:a16="http://schemas.microsoft.com/office/drawing/2014/main" id="{354F4D8E-1A84-8CC7-34A3-3347DB2DDA3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5" name="TextBox 14">
            <a:extLst>
              <a:ext uri="{FF2B5EF4-FFF2-40B4-BE49-F238E27FC236}">
                <a16:creationId xmlns:a16="http://schemas.microsoft.com/office/drawing/2014/main" id="{ABDD3738-95DA-614F-9D2E-3A50F1640E8D}"/>
              </a:ext>
            </a:extLst>
          </p:cNvPr>
          <p:cNvSpPr txBox="1"/>
          <p:nvPr/>
        </p:nvSpPr>
        <p:spPr>
          <a:xfrm>
            <a:off x="196645" y="1215658"/>
            <a:ext cx="8486274" cy="6740307"/>
          </a:xfrm>
          <a:prstGeom prst="rect">
            <a:avLst/>
          </a:prstGeom>
          <a:noFill/>
        </p:spPr>
        <p:txBody>
          <a:bodyPr wrap="square" rtlCol="0" anchor="ctr">
            <a:spAutoFit/>
          </a:bodyPr>
          <a:lstStyle/>
          <a:p>
            <a:pPr algn="just"/>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Days 1–30</a:t>
            </a:r>
            <a:r>
              <a:rPr lang="en-US" sz="2400" b="1" dirty="0">
                <a:solidFill>
                  <a:srgbClr val="C29524"/>
                </a:solidFill>
                <a:latin typeface="Segoe UI Semibold" panose="020B0702040204020203" pitchFamily="34" charset="0"/>
                <a:cs typeface="Segoe UI Semibold" panose="020B0702040204020203" pitchFamily="34" charset="0"/>
              </a:rPr>
              <a:t>: Diagnose &amp; Protect (Immediate Containment)</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pPr algn="just"/>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Supplier &amp; Procurement</a:t>
            </a:r>
            <a:r>
              <a:rPr lang="en-US" sz="2400" b="1" dirty="0">
                <a:solidFill>
                  <a:srgbClr val="C29524"/>
                </a:solidFill>
                <a:latin typeface="Segoe UI Semibold" panose="020B0702040204020203" pitchFamily="34" charset="0"/>
                <a:cs typeface="Segoe UI Semibold" panose="020B0702040204020203" pitchFamily="34" charset="0"/>
              </a:rPr>
              <a:t>: Audit the top 20% of suppliers by volume. Stop onboarding based solely on certificates; mandate a historical quality check.</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pPr algn="just"/>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Warehouse &amp; Inventory</a:t>
            </a:r>
            <a:r>
              <a:rPr lang="en-US" sz="2400" b="1" dirty="0">
                <a:solidFill>
                  <a:srgbClr val="C29524"/>
                </a:solidFill>
                <a:latin typeface="Segoe UI Semibold" panose="020B0702040204020203" pitchFamily="34" charset="0"/>
                <a:cs typeface="Segoe UI Semibold" panose="020B0702040204020203" pitchFamily="34" charset="0"/>
              </a:rPr>
              <a:t>: Implement immediate physical access controls in high-shrinkage zones. Cross-reference regional sales history against current warehouse space shortages.</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pPr algn="just"/>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Sales &amp; Logistics</a:t>
            </a:r>
            <a:r>
              <a:rPr lang="en-US" sz="2400" b="1" dirty="0">
                <a:solidFill>
                  <a:srgbClr val="C29524"/>
                </a:solidFill>
                <a:latin typeface="Segoe UI Semibold" panose="020B0702040204020203" pitchFamily="34" charset="0"/>
                <a:cs typeface="Segoe UI Semibold" panose="020B0702040204020203" pitchFamily="34" charset="0"/>
              </a:rPr>
              <a:t>: Map delivery bottlenecks. Identify which specific routes or transport modes (Air, Land, Sea) are causing the majority of customer delays.</a:t>
            </a:r>
            <a:br>
              <a:rPr lang="en-US" sz="2400" b="1" dirty="0">
                <a:solidFill>
                  <a:srgbClr val="C29524"/>
                </a:solidFill>
                <a:latin typeface="Segoe UI Semibold" panose="020B0702040204020203" pitchFamily="34" charset="0"/>
                <a:cs typeface="Segoe UI Semibold" panose="020B0702040204020203" pitchFamily="34" charset="0"/>
              </a:rPr>
            </a:b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pPr algn="just"/>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p:txBody>
      </p:sp>
      <p:grpSp>
        <p:nvGrpSpPr>
          <p:cNvPr id="5" name="Group 4">
            <a:extLst>
              <a:ext uri="{FF2B5EF4-FFF2-40B4-BE49-F238E27FC236}">
                <a16:creationId xmlns:a16="http://schemas.microsoft.com/office/drawing/2014/main" id="{B16E6007-F14B-52E7-F577-DA61577FFAE0}"/>
              </a:ext>
            </a:extLst>
          </p:cNvPr>
          <p:cNvGrpSpPr/>
          <p:nvPr/>
        </p:nvGrpSpPr>
        <p:grpSpPr>
          <a:xfrm>
            <a:off x="9157914" y="2365994"/>
            <a:ext cx="1647659" cy="2126012"/>
            <a:chOff x="5107709" y="2392880"/>
            <a:chExt cx="2009440" cy="2592826"/>
          </a:xfrm>
        </p:grpSpPr>
        <p:sp>
          <p:nvSpPr>
            <p:cNvPr id="17" name="Freeform: Shape 16">
              <a:extLst>
                <a:ext uri="{FF2B5EF4-FFF2-40B4-BE49-F238E27FC236}">
                  <a16:creationId xmlns:a16="http://schemas.microsoft.com/office/drawing/2014/main" id="{4B8693CB-BF3F-6C90-06CE-9C3799593380}"/>
                </a:ext>
              </a:extLst>
            </p:cNvPr>
            <p:cNvSpPr/>
            <p:nvPr/>
          </p:nvSpPr>
          <p:spPr>
            <a:xfrm>
              <a:off x="5107709" y="2392880"/>
              <a:ext cx="2009440" cy="2592826"/>
            </a:xfrm>
            <a:custGeom>
              <a:avLst/>
              <a:gdLst>
                <a:gd name="csX0" fmla="*/ 194462 w 2009440"/>
                <a:gd name="csY0" fmla="*/ 194462 h 2592826"/>
                <a:gd name="csX1" fmla="*/ 1814979 w 2009440"/>
                <a:gd name="csY1" fmla="*/ 194462 h 2592826"/>
                <a:gd name="csX2" fmla="*/ 1814979 w 2009440"/>
                <a:gd name="csY2" fmla="*/ 2398365 h 2592826"/>
                <a:gd name="csX3" fmla="*/ 194462 w 2009440"/>
                <a:gd name="csY3" fmla="*/ 2398365 h 2592826"/>
                <a:gd name="csX4" fmla="*/ 194462 w 2009440"/>
                <a:gd name="csY4" fmla="*/ 194462 h 2592826"/>
                <a:gd name="csX5" fmla="*/ 0 w 2009440"/>
                <a:gd name="csY5" fmla="*/ 2592827 h 2592826"/>
                <a:gd name="csX6" fmla="*/ 2009441 w 2009440"/>
                <a:gd name="csY6" fmla="*/ 2592827 h 2592826"/>
                <a:gd name="csX7" fmla="*/ 2009441 w 2009440"/>
                <a:gd name="csY7" fmla="*/ 0 h 2592826"/>
                <a:gd name="csX8" fmla="*/ 0 w 2009440"/>
                <a:gd name="csY8" fmla="*/ 0 h 2592826"/>
                <a:gd name="csX9" fmla="*/ 0 w 2009440"/>
                <a:gd name="csY9" fmla="*/ 2592827 h 2592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009440" h="2592826">
                  <a:moveTo>
                    <a:pt x="194462" y="194462"/>
                  </a:moveTo>
                  <a:lnTo>
                    <a:pt x="1814979" y="194462"/>
                  </a:lnTo>
                  <a:lnTo>
                    <a:pt x="1814979" y="2398365"/>
                  </a:lnTo>
                  <a:lnTo>
                    <a:pt x="194462" y="2398365"/>
                  </a:lnTo>
                  <a:lnTo>
                    <a:pt x="194462" y="194462"/>
                  </a:lnTo>
                  <a:close/>
                  <a:moveTo>
                    <a:pt x="0" y="2592827"/>
                  </a:moveTo>
                  <a:lnTo>
                    <a:pt x="2009441" y="2592827"/>
                  </a:lnTo>
                  <a:lnTo>
                    <a:pt x="2009441" y="0"/>
                  </a:lnTo>
                  <a:lnTo>
                    <a:pt x="0" y="0"/>
                  </a:lnTo>
                  <a:lnTo>
                    <a:pt x="0" y="2592827"/>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8" name="Rectangle 17">
              <a:extLst>
                <a:ext uri="{FF2B5EF4-FFF2-40B4-BE49-F238E27FC236}">
                  <a16:creationId xmlns:a16="http://schemas.microsoft.com/office/drawing/2014/main" id="{C2F9615E-A540-B970-6770-69BF66B0B54E}"/>
                </a:ext>
              </a:extLst>
            </p:cNvPr>
            <p:cNvSpPr/>
            <p:nvPr/>
          </p:nvSpPr>
          <p:spPr>
            <a:xfrm>
              <a:off x="5529044" y="2781804"/>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Rectangle 18">
              <a:extLst>
                <a:ext uri="{FF2B5EF4-FFF2-40B4-BE49-F238E27FC236}">
                  <a16:creationId xmlns:a16="http://schemas.microsoft.com/office/drawing/2014/main" id="{C7A19FAB-5CB9-2237-6A2E-5B009696D01C}"/>
                </a:ext>
              </a:extLst>
            </p:cNvPr>
            <p:cNvSpPr/>
            <p:nvPr/>
          </p:nvSpPr>
          <p:spPr>
            <a:xfrm>
              <a:off x="6047609" y="2846625"/>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0" name="Rectangle 29">
              <a:extLst>
                <a:ext uri="{FF2B5EF4-FFF2-40B4-BE49-F238E27FC236}">
                  <a16:creationId xmlns:a16="http://schemas.microsoft.com/office/drawing/2014/main" id="{2676137B-D32B-707A-D2FB-0910A1711294}"/>
                </a:ext>
              </a:extLst>
            </p:cNvPr>
            <p:cNvSpPr/>
            <p:nvPr/>
          </p:nvSpPr>
          <p:spPr>
            <a:xfrm>
              <a:off x="5529044" y="3300370"/>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1" name="Rectangle 30">
              <a:extLst>
                <a:ext uri="{FF2B5EF4-FFF2-40B4-BE49-F238E27FC236}">
                  <a16:creationId xmlns:a16="http://schemas.microsoft.com/office/drawing/2014/main" id="{E653636F-1412-B4B2-E4B6-BB4967828D73}"/>
                </a:ext>
              </a:extLst>
            </p:cNvPr>
            <p:cNvSpPr/>
            <p:nvPr/>
          </p:nvSpPr>
          <p:spPr>
            <a:xfrm>
              <a:off x="6047609" y="3365190"/>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2" name="Rectangle 31">
              <a:extLst>
                <a:ext uri="{FF2B5EF4-FFF2-40B4-BE49-F238E27FC236}">
                  <a16:creationId xmlns:a16="http://schemas.microsoft.com/office/drawing/2014/main" id="{CB8C4931-0918-661A-2686-041B15C6A030}"/>
                </a:ext>
              </a:extLst>
            </p:cNvPr>
            <p:cNvSpPr/>
            <p:nvPr/>
          </p:nvSpPr>
          <p:spPr>
            <a:xfrm>
              <a:off x="5529044" y="3818935"/>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3" name="Rectangle 32">
              <a:extLst>
                <a:ext uri="{FF2B5EF4-FFF2-40B4-BE49-F238E27FC236}">
                  <a16:creationId xmlns:a16="http://schemas.microsoft.com/office/drawing/2014/main" id="{D529849F-A3F4-F7A2-8B79-3C30414BA7AD}"/>
                </a:ext>
              </a:extLst>
            </p:cNvPr>
            <p:cNvSpPr/>
            <p:nvPr/>
          </p:nvSpPr>
          <p:spPr>
            <a:xfrm>
              <a:off x="6047609" y="3883756"/>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4" name="Rectangle 33">
              <a:extLst>
                <a:ext uri="{FF2B5EF4-FFF2-40B4-BE49-F238E27FC236}">
                  <a16:creationId xmlns:a16="http://schemas.microsoft.com/office/drawing/2014/main" id="{60940EDF-E373-CA91-3365-9F70A6AA988E}"/>
                </a:ext>
              </a:extLst>
            </p:cNvPr>
            <p:cNvSpPr/>
            <p:nvPr/>
          </p:nvSpPr>
          <p:spPr>
            <a:xfrm>
              <a:off x="5529044" y="4337500"/>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5" name="Rectangle 34">
              <a:extLst>
                <a:ext uri="{FF2B5EF4-FFF2-40B4-BE49-F238E27FC236}">
                  <a16:creationId xmlns:a16="http://schemas.microsoft.com/office/drawing/2014/main" id="{2EE72D65-8132-840F-EA72-A450A09C0F71}"/>
                </a:ext>
              </a:extLst>
            </p:cNvPr>
            <p:cNvSpPr/>
            <p:nvPr/>
          </p:nvSpPr>
          <p:spPr>
            <a:xfrm>
              <a:off x="6047609" y="4402321"/>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2208961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3BA78-6110-E33E-5E5E-5498DBFAA2D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C33357B1-3075-825E-6447-DCEEA15851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4745E5B9-A968-84F2-5AF9-66B7CDA75AC4}"/>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291F0443-80FC-9236-8780-7962B543631B}"/>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4E84B51B-A7FF-CBFD-B234-7AAE05D5C02F}"/>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8A60563F-4127-EA20-2F03-AD22C8190613}"/>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B180007D-2694-7DF8-3BC2-22425A681D4F}"/>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6C42A176-70D3-8536-D989-BBBA8DAF54A9}"/>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C88A83FD-12E9-796D-475E-677E67052FFF}"/>
              </a:ext>
            </a:extLst>
          </p:cNvPr>
          <p:cNvSpPr txBox="1"/>
          <p:nvPr/>
        </p:nvSpPr>
        <p:spPr>
          <a:xfrm>
            <a:off x="196645" y="-679898"/>
            <a:ext cx="4933950" cy="584775"/>
          </a:xfrm>
          <a:prstGeom prst="rect">
            <a:avLst/>
          </a:prstGeom>
          <a:noFill/>
        </p:spPr>
        <p:txBody>
          <a:bodyPr wrap="square" rtlCol="0">
            <a:spAutoFit/>
          </a:bodyPr>
          <a:lstStyle/>
          <a:p>
            <a:r>
              <a:rPr lang="en-US" sz="3200" b="1" dirty="0">
                <a:solidFill>
                  <a:srgbClr val="F6BB00">
                    <a:alpha val="10000"/>
                  </a:srgbClr>
                </a:solidFill>
              </a:rPr>
              <a:t>Action Plan</a:t>
            </a:r>
          </a:p>
        </p:txBody>
      </p:sp>
      <p:sp>
        <p:nvSpPr>
          <p:cNvPr id="10" name="TextBox 9">
            <a:extLst>
              <a:ext uri="{FF2B5EF4-FFF2-40B4-BE49-F238E27FC236}">
                <a16:creationId xmlns:a16="http://schemas.microsoft.com/office/drawing/2014/main" id="{7876F61A-4C32-E6FD-D5E9-EA166D2DBE20}"/>
              </a:ext>
            </a:extLst>
          </p:cNvPr>
          <p:cNvSpPr txBox="1"/>
          <p:nvPr/>
        </p:nvSpPr>
        <p:spPr>
          <a:xfrm>
            <a:off x="196644" y="-712252"/>
            <a:ext cx="6242255" cy="584775"/>
          </a:xfrm>
          <a:prstGeom prst="rect">
            <a:avLst/>
          </a:prstGeom>
          <a:noFill/>
        </p:spPr>
        <p:txBody>
          <a:bodyPr wrap="square" rtlCol="0">
            <a:spAutoFit/>
          </a:bodyPr>
          <a:lstStyle/>
          <a:p>
            <a:r>
              <a:rPr lang="en-US" sz="3200" b="1" dirty="0">
                <a:solidFill>
                  <a:srgbClr val="F6BB00">
                    <a:alpha val="10000"/>
                  </a:srgbClr>
                </a:solidFill>
              </a:rPr>
              <a:t>2026 Forecasts as per Action Plan</a:t>
            </a:r>
          </a:p>
        </p:txBody>
      </p:sp>
      <p:sp>
        <p:nvSpPr>
          <p:cNvPr id="11" name="TextBox 10">
            <a:extLst>
              <a:ext uri="{FF2B5EF4-FFF2-40B4-BE49-F238E27FC236}">
                <a16:creationId xmlns:a16="http://schemas.microsoft.com/office/drawing/2014/main" id="{4D28CF74-2D8F-5D0B-B446-2CFB75949938}"/>
              </a:ext>
            </a:extLst>
          </p:cNvPr>
          <p:cNvSpPr txBox="1"/>
          <p:nvPr/>
        </p:nvSpPr>
        <p:spPr>
          <a:xfrm>
            <a:off x="196644" y="141352"/>
            <a:ext cx="624225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Action Plan</a:t>
            </a:r>
          </a:p>
        </p:txBody>
      </p:sp>
      <p:sp>
        <p:nvSpPr>
          <p:cNvPr id="13" name="TextBox 12">
            <a:extLst>
              <a:ext uri="{FF2B5EF4-FFF2-40B4-BE49-F238E27FC236}">
                <a16:creationId xmlns:a16="http://schemas.microsoft.com/office/drawing/2014/main" id="{7FF75407-E124-0A4A-090E-A6B9C2091BC0}"/>
              </a:ext>
            </a:extLst>
          </p:cNvPr>
          <p:cNvSpPr txBox="1"/>
          <p:nvPr/>
        </p:nvSpPr>
        <p:spPr>
          <a:xfrm>
            <a:off x="196644" y="630883"/>
            <a:ext cx="7471482"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2026 Forecasting as per the Action Plan</a:t>
            </a:r>
          </a:p>
        </p:txBody>
      </p:sp>
      <p:sp>
        <p:nvSpPr>
          <p:cNvPr id="14" name="Isosceles Triangle 13">
            <a:extLst>
              <a:ext uri="{FF2B5EF4-FFF2-40B4-BE49-F238E27FC236}">
                <a16:creationId xmlns:a16="http://schemas.microsoft.com/office/drawing/2014/main" id="{E63BFA1A-201C-A60F-4D27-09F1B11C6895}"/>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sp>
        <p:nvSpPr>
          <p:cNvPr id="15" name="TextBox 14">
            <a:extLst>
              <a:ext uri="{FF2B5EF4-FFF2-40B4-BE49-F238E27FC236}">
                <a16:creationId xmlns:a16="http://schemas.microsoft.com/office/drawing/2014/main" id="{5A71365E-BE3A-92E8-4C44-034F5A934174}"/>
              </a:ext>
            </a:extLst>
          </p:cNvPr>
          <p:cNvSpPr txBox="1"/>
          <p:nvPr/>
        </p:nvSpPr>
        <p:spPr>
          <a:xfrm>
            <a:off x="196645" y="1212547"/>
            <a:ext cx="8486274" cy="5632311"/>
          </a:xfrm>
          <a:prstGeom prst="rect">
            <a:avLst/>
          </a:prstGeom>
          <a:noFill/>
        </p:spPr>
        <p:txBody>
          <a:bodyPr wrap="square" rtlCol="0" anchor="ctr">
            <a:spAutoFit/>
          </a:bodyPr>
          <a:lstStyle/>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Days 31–60</a:t>
            </a:r>
            <a:r>
              <a:rPr lang="en-US" sz="2400" b="1" dirty="0">
                <a:solidFill>
                  <a:srgbClr val="C29524"/>
                </a:solidFill>
                <a:latin typeface="Segoe UI Semibold" panose="020B0702040204020203" pitchFamily="34" charset="0"/>
                <a:cs typeface="Segoe UI Semibold" panose="020B0702040204020203" pitchFamily="34" charset="0"/>
              </a:rPr>
              <a:t>: Optimize &amp; Tighten (Process Overhaul)</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Supplier &amp; Procurement</a:t>
            </a:r>
            <a:r>
              <a:rPr lang="en-US" sz="2400" b="1" dirty="0">
                <a:solidFill>
                  <a:srgbClr val="C29524"/>
                </a:solidFill>
                <a:latin typeface="Segoe UI Semibold" panose="020B0702040204020203" pitchFamily="34" charset="0"/>
                <a:cs typeface="Segoe UI Semibold" panose="020B0702040204020203" pitchFamily="34" charset="0"/>
              </a:rPr>
              <a:t>: Launch a streamlined, digital Purchase Order (PO) approval workflow to slash internal lead times and prevent emergency reorders. </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Warehouse &amp; Inventory</a:t>
            </a:r>
            <a:r>
              <a:rPr lang="en-US" sz="2400" b="1" dirty="0">
                <a:solidFill>
                  <a:srgbClr val="C29524"/>
                </a:solidFill>
                <a:latin typeface="Segoe UI Semibold" panose="020B0702040204020203" pitchFamily="34" charset="0"/>
                <a:cs typeface="Segoe UI Semibold" panose="020B0702040204020203" pitchFamily="34" charset="0"/>
              </a:rPr>
              <a:t>: Deploy localized Demand Sensing. Transition warehouse picking rules to strict Expiration-First-Out (EFO/FIFO) to optimize space.</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Sales &amp; Logistics</a:t>
            </a:r>
            <a:r>
              <a:rPr lang="en-US" sz="2400" b="1" dirty="0">
                <a:solidFill>
                  <a:srgbClr val="C29524"/>
                </a:solidFill>
                <a:latin typeface="Segoe UI Semibold" panose="020B0702040204020203" pitchFamily="34" charset="0"/>
                <a:cs typeface="Segoe UI Semibold" panose="020B0702040204020203" pitchFamily="34" charset="0"/>
              </a:rPr>
              <a:t>: Introduce stricter transport safety and delivery speed regulations via HR and Employee Relations (ER). Run a cost-benefit analysis on asset expansion vs. third-party logistics (3PL) outsourcing.</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p:txBody>
      </p:sp>
      <p:grpSp>
        <p:nvGrpSpPr>
          <p:cNvPr id="5" name="Group 4">
            <a:extLst>
              <a:ext uri="{FF2B5EF4-FFF2-40B4-BE49-F238E27FC236}">
                <a16:creationId xmlns:a16="http://schemas.microsoft.com/office/drawing/2014/main" id="{1D5F60C8-7E96-27A7-A7B5-5415B91CFC52}"/>
              </a:ext>
            </a:extLst>
          </p:cNvPr>
          <p:cNvGrpSpPr/>
          <p:nvPr/>
        </p:nvGrpSpPr>
        <p:grpSpPr>
          <a:xfrm>
            <a:off x="9157914" y="2365994"/>
            <a:ext cx="1647659" cy="2126012"/>
            <a:chOff x="5107709" y="2392880"/>
            <a:chExt cx="2009440" cy="2592826"/>
          </a:xfrm>
        </p:grpSpPr>
        <p:sp>
          <p:nvSpPr>
            <p:cNvPr id="17" name="Freeform: Shape 16">
              <a:extLst>
                <a:ext uri="{FF2B5EF4-FFF2-40B4-BE49-F238E27FC236}">
                  <a16:creationId xmlns:a16="http://schemas.microsoft.com/office/drawing/2014/main" id="{749C2D27-F30D-6C87-5414-B3E14D42EA4A}"/>
                </a:ext>
              </a:extLst>
            </p:cNvPr>
            <p:cNvSpPr/>
            <p:nvPr/>
          </p:nvSpPr>
          <p:spPr>
            <a:xfrm>
              <a:off x="5107709" y="2392880"/>
              <a:ext cx="2009440" cy="2592826"/>
            </a:xfrm>
            <a:custGeom>
              <a:avLst/>
              <a:gdLst>
                <a:gd name="csX0" fmla="*/ 194462 w 2009440"/>
                <a:gd name="csY0" fmla="*/ 194462 h 2592826"/>
                <a:gd name="csX1" fmla="*/ 1814979 w 2009440"/>
                <a:gd name="csY1" fmla="*/ 194462 h 2592826"/>
                <a:gd name="csX2" fmla="*/ 1814979 w 2009440"/>
                <a:gd name="csY2" fmla="*/ 2398365 h 2592826"/>
                <a:gd name="csX3" fmla="*/ 194462 w 2009440"/>
                <a:gd name="csY3" fmla="*/ 2398365 h 2592826"/>
                <a:gd name="csX4" fmla="*/ 194462 w 2009440"/>
                <a:gd name="csY4" fmla="*/ 194462 h 2592826"/>
                <a:gd name="csX5" fmla="*/ 0 w 2009440"/>
                <a:gd name="csY5" fmla="*/ 2592827 h 2592826"/>
                <a:gd name="csX6" fmla="*/ 2009441 w 2009440"/>
                <a:gd name="csY6" fmla="*/ 2592827 h 2592826"/>
                <a:gd name="csX7" fmla="*/ 2009441 w 2009440"/>
                <a:gd name="csY7" fmla="*/ 0 h 2592826"/>
                <a:gd name="csX8" fmla="*/ 0 w 2009440"/>
                <a:gd name="csY8" fmla="*/ 0 h 2592826"/>
                <a:gd name="csX9" fmla="*/ 0 w 2009440"/>
                <a:gd name="csY9" fmla="*/ 2592827 h 2592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009440" h="2592826">
                  <a:moveTo>
                    <a:pt x="194462" y="194462"/>
                  </a:moveTo>
                  <a:lnTo>
                    <a:pt x="1814979" y="194462"/>
                  </a:lnTo>
                  <a:lnTo>
                    <a:pt x="1814979" y="2398365"/>
                  </a:lnTo>
                  <a:lnTo>
                    <a:pt x="194462" y="2398365"/>
                  </a:lnTo>
                  <a:lnTo>
                    <a:pt x="194462" y="194462"/>
                  </a:lnTo>
                  <a:close/>
                  <a:moveTo>
                    <a:pt x="0" y="2592827"/>
                  </a:moveTo>
                  <a:lnTo>
                    <a:pt x="2009441" y="2592827"/>
                  </a:lnTo>
                  <a:lnTo>
                    <a:pt x="2009441" y="0"/>
                  </a:lnTo>
                  <a:lnTo>
                    <a:pt x="0" y="0"/>
                  </a:lnTo>
                  <a:lnTo>
                    <a:pt x="0" y="2592827"/>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8" name="Rectangle 17">
              <a:extLst>
                <a:ext uri="{FF2B5EF4-FFF2-40B4-BE49-F238E27FC236}">
                  <a16:creationId xmlns:a16="http://schemas.microsoft.com/office/drawing/2014/main" id="{020B2D6E-C97E-292C-9513-962E01CDB7BB}"/>
                </a:ext>
              </a:extLst>
            </p:cNvPr>
            <p:cNvSpPr/>
            <p:nvPr/>
          </p:nvSpPr>
          <p:spPr>
            <a:xfrm>
              <a:off x="5529044" y="2781804"/>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9" name="Rectangle 18">
              <a:extLst>
                <a:ext uri="{FF2B5EF4-FFF2-40B4-BE49-F238E27FC236}">
                  <a16:creationId xmlns:a16="http://schemas.microsoft.com/office/drawing/2014/main" id="{B3D0A7EA-35CB-5947-1E20-051FFFD961E1}"/>
                </a:ext>
              </a:extLst>
            </p:cNvPr>
            <p:cNvSpPr/>
            <p:nvPr/>
          </p:nvSpPr>
          <p:spPr>
            <a:xfrm>
              <a:off x="6047609" y="2846625"/>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0" name="Rectangle 29">
              <a:extLst>
                <a:ext uri="{FF2B5EF4-FFF2-40B4-BE49-F238E27FC236}">
                  <a16:creationId xmlns:a16="http://schemas.microsoft.com/office/drawing/2014/main" id="{4D43BDE2-2A9A-B7E3-1CA4-346AA9715CD6}"/>
                </a:ext>
              </a:extLst>
            </p:cNvPr>
            <p:cNvSpPr/>
            <p:nvPr/>
          </p:nvSpPr>
          <p:spPr>
            <a:xfrm>
              <a:off x="5529044" y="3300370"/>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1" name="Rectangle 30">
              <a:extLst>
                <a:ext uri="{FF2B5EF4-FFF2-40B4-BE49-F238E27FC236}">
                  <a16:creationId xmlns:a16="http://schemas.microsoft.com/office/drawing/2014/main" id="{8262C717-ADFB-C440-B0CC-4899C3F40D69}"/>
                </a:ext>
              </a:extLst>
            </p:cNvPr>
            <p:cNvSpPr/>
            <p:nvPr/>
          </p:nvSpPr>
          <p:spPr>
            <a:xfrm>
              <a:off x="6047609" y="3365190"/>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2" name="Rectangle 31">
              <a:extLst>
                <a:ext uri="{FF2B5EF4-FFF2-40B4-BE49-F238E27FC236}">
                  <a16:creationId xmlns:a16="http://schemas.microsoft.com/office/drawing/2014/main" id="{38AD320D-FF24-9762-E846-CA719232753A}"/>
                </a:ext>
              </a:extLst>
            </p:cNvPr>
            <p:cNvSpPr/>
            <p:nvPr/>
          </p:nvSpPr>
          <p:spPr>
            <a:xfrm>
              <a:off x="5529044" y="3818935"/>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3" name="Rectangle 32">
              <a:extLst>
                <a:ext uri="{FF2B5EF4-FFF2-40B4-BE49-F238E27FC236}">
                  <a16:creationId xmlns:a16="http://schemas.microsoft.com/office/drawing/2014/main" id="{D75AEF99-DA96-11BE-5662-552B93FB61CC}"/>
                </a:ext>
              </a:extLst>
            </p:cNvPr>
            <p:cNvSpPr/>
            <p:nvPr/>
          </p:nvSpPr>
          <p:spPr>
            <a:xfrm>
              <a:off x="6047609" y="3883756"/>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4" name="Rectangle 33">
              <a:extLst>
                <a:ext uri="{FF2B5EF4-FFF2-40B4-BE49-F238E27FC236}">
                  <a16:creationId xmlns:a16="http://schemas.microsoft.com/office/drawing/2014/main" id="{7F1644BB-3CAA-DA4C-6412-2F668737D5BC}"/>
                </a:ext>
              </a:extLst>
            </p:cNvPr>
            <p:cNvSpPr/>
            <p:nvPr/>
          </p:nvSpPr>
          <p:spPr>
            <a:xfrm>
              <a:off x="5529044" y="4337500"/>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35" name="Rectangle 34">
              <a:extLst>
                <a:ext uri="{FF2B5EF4-FFF2-40B4-BE49-F238E27FC236}">
                  <a16:creationId xmlns:a16="http://schemas.microsoft.com/office/drawing/2014/main" id="{8C9AF095-C4FB-95CA-95E0-5DA9E6402A79}"/>
                </a:ext>
              </a:extLst>
            </p:cNvPr>
            <p:cNvSpPr/>
            <p:nvPr/>
          </p:nvSpPr>
          <p:spPr>
            <a:xfrm>
              <a:off x="6047609" y="4402321"/>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Tree>
    <p:extLst>
      <p:ext uri="{BB962C8B-B14F-4D97-AF65-F5344CB8AC3E}">
        <p14:creationId xmlns:p14="http://schemas.microsoft.com/office/powerpoint/2010/main" val="571826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FB80A-B66E-C8BA-48A5-48C29C44CCE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19B68D4-B4C3-922C-23FE-E135AFBEA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pic>
        <p:nvPicPr>
          <p:cNvPr id="3" name="Picture 2">
            <a:extLst>
              <a:ext uri="{FF2B5EF4-FFF2-40B4-BE49-F238E27FC236}">
                <a16:creationId xmlns:a16="http://schemas.microsoft.com/office/drawing/2014/main" id="{CF79A2FC-27B5-70F0-C527-C9E84638588E}"/>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sp>
        <p:nvSpPr>
          <p:cNvPr id="12" name="TextBox 11">
            <a:extLst>
              <a:ext uri="{FF2B5EF4-FFF2-40B4-BE49-F238E27FC236}">
                <a16:creationId xmlns:a16="http://schemas.microsoft.com/office/drawing/2014/main" id="{FB9E2465-02C5-5FFF-0C2A-D1F074204BC3}"/>
              </a:ext>
            </a:extLst>
          </p:cNvPr>
          <p:cNvSpPr txBox="1"/>
          <p:nvPr/>
        </p:nvSpPr>
        <p:spPr>
          <a:xfrm>
            <a:off x="196645" y="-710330"/>
            <a:ext cx="4933950" cy="584775"/>
          </a:xfrm>
          <a:prstGeom prst="rect">
            <a:avLst/>
          </a:prstGeom>
          <a:noFill/>
        </p:spPr>
        <p:txBody>
          <a:bodyPr wrap="square" rtlCol="0">
            <a:spAutoFit/>
          </a:bodyPr>
          <a:lstStyle/>
          <a:p>
            <a:r>
              <a:rPr lang="en-US" sz="3200" b="1" dirty="0">
                <a:solidFill>
                  <a:srgbClr val="F6BB00">
                    <a:alpha val="18000"/>
                  </a:srgbClr>
                </a:solidFill>
              </a:rPr>
              <a:t>Agenda</a:t>
            </a:r>
          </a:p>
        </p:txBody>
      </p:sp>
      <p:sp>
        <p:nvSpPr>
          <p:cNvPr id="16" name="TextBox 15">
            <a:extLst>
              <a:ext uri="{FF2B5EF4-FFF2-40B4-BE49-F238E27FC236}">
                <a16:creationId xmlns:a16="http://schemas.microsoft.com/office/drawing/2014/main" id="{CA6F055C-E212-2FFF-6242-FDB0D23726D2}"/>
              </a:ext>
            </a:extLst>
          </p:cNvPr>
          <p:cNvSpPr txBox="1"/>
          <p:nvPr/>
        </p:nvSpPr>
        <p:spPr>
          <a:xfrm>
            <a:off x="159694" y="-720254"/>
            <a:ext cx="4933950" cy="584775"/>
          </a:xfrm>
          <a:prstGeom prst="rect">
            <a:avLst/>
          </a:prstGeom>
          <a:noFill/>
        </p:spPr>
        <p:txBody>
          <a:bodyPr wrap="square" rtlCol="0">
            <a:spAutoFit/>
          </a:bodyPr>
          <a:lstStyle/>
          <a:p>
            <a:r>
              <a:rPr lang="en-US" sz="3200" b="1" dirty="0">
                <a:solidFill>
                  <a:srgbClr val="F6BB00">
                    <a:alpha val="10000"/>
                  </a:srgbClr>
                </a:solidFill>
              </a:rPr>
              <a:t>Problem Statement</a:t>
            </a:r>
          </a:p>
        </p:txBody>
      </p:sp>
      <p:sp>
        <p:nvSpPr>
          <p:cNvPr id="4" name="TextBox 3">
            <a:extLst>
              <a:ext uri="{FF2B5EF4-FFF2-40B4-BE49-F238E27FC236}">
                <a16:creationId xmlns:a16="http://schemas.microsoft.com/office/drawing/2014/main" id="{79E613B9-EC07-66F9-9922-29A065E35A5F}"/>
              </a:ext>
            </a:extLst>
          </p:cNvPr>
          <p:cNvSpPr txBox="1"/>
          <p:nvPr/>
        </p:nvSpPr>
        <p:spPr>
          <a:xfrm>
            <a:off x="196645" y="-671007"/>
            <a:ext cx="4933950" cy="584775"/>
          </a:xfrm>
          <a:prstGeom prst="rect">
            <a:avLst/>
          </a:prstGeom>
          <a:noFill/>
        </p:spPr>
        <p:txBody>
          <a:bodyPr wrap="square" rtlCol="0">
            <a:spAutoFit/>
          </a:bodyPr>
          <a:lstStyle/>
          <a:p>
            <a:r>
              <a:rPr lang="en-US" sz="3200" b="1" dirty="0">
                <a:solidFill>
                  <a:srgbClr val="F6BB00">
                    <a:alpha val="10000"/>
                  </a:srgbClr>
                </a:solidFill>
              </a:rPr>
              <a:t>The What Happened Phase</a:t>
            </a:r>
          </a:p>
        </p:txBody>
      </p:sp>
      <p:sp>
        <p:nvSpPr>
          <p:cNvPr id="9" name="TextBox 8">
            <a:extLst>
              <a:ext uri="{FF2B5EF4-FFF2-40B4-BE49-F238E27FC236}">
                <a16:creationId xmlns:a16="http://schemas.microsoft.com/office/drawing/2014/main" id="{CF10043A-8A55-4821-B509-6CF05534BA50}"/>
              </a:ext>
            </a:extLst>
          </p:cNvPr>
          <p:cNvSpPr txBox="1"/>
          <p:nvPr/>
        </p:nvSpPr>
        <p:spPr>
          <a:xfrm>
            <a:off x="196645" y="-601670"/>
            <a:ext cx="4933950" cy="584775"/>
          </a:xfrm>
          <a:prstGeom prst="rect">
            <a:avLst/>
          </a:prstGeom>
          <a:noFill/>
        </p:spPr>
        <p:txBody>
          <a:bodyPr wrap="square" rtlCol="0">
            <a:spAutoFit/>
          </a:bodyPr>
          <a:lstStyle/>
          <a:p>
            <a:r>
              <a:rPr lang="en-US" sz="3200" b="1" dirty="0">
                <a:solidFill>
                  <a:srgbClr val="F6BB00">
                    <a:alpha val="10000"/>
                  </a:srgbClr>
                </a:solidFill>
              </a:rPr>
              <a:t>Dashboard Snapshot</a:t>
            </a:r>
          </a:p>
        </p:txBody>
      </p:sp>
      <p:sp>
        <p:nvSpPr>
          <p:cNvPr id="6" name="TextBox 5">
            <a:extLst>
              <a:ext uri="{FF2B5EF4-FFF2-40B4-BE49-F238E27FC236}">
                <a16:creationId xmlns:a16="http://schemas.microsoft.com/office/drawing/2014/main" id="{DF7F6BB6-CACC-4A1A-347F-B6059164E35E}"/>
              </a:ext>
            </a:extLst>
          </p:cNvPr>
          <p:cNvSpPr txBox="1"/>
          <p:nvPr/>
        </p:nvSpPr>
        <p:spPr>
          <a:xfrm>
            <a:off x="196645" y="-640993"/>
            <a:ext cx="4933950" cy="584775"/>
          </a:xfrm>
          <a:prstGeom prst="rect">
            <a:avLst/>
          </a:prstGeom>
          <a:noFill/>
        </p:spPr>
        <p:txBody>
          <a:bodyPr wrap="square" rtlCol="0">
            <a:spAutoFit/>
          </a:bodyPr>
          <a:lstStyle/>
          <a:p>
            <a:r>
              <a:rPr lang="en-US" sz="3200" b="1" dirty="0">
                <a:solidFill>
                  <a:srgbClr val="F6BB00">
                    <a:alpha val="10000"/>
                  </a:srgbClr>
                </a:solidFill>
              </a:rPr>
              <a:t>Key Insights &amp; Conclusions</a:t>
            </a:r>
          </a:p>
        </p:txBody>
      </p:sp>
      <p:sp>
        <p:nvSpPr>
          <p:cNvPr id="8" name="TextBox 7">
            <a:extLst>
              <a:ext uri="{FF2B5EF4-FFF2-40B4-BE49-F238E27FC236}">
                <a16:creationId xmlns:a16="http://schemas.microsoft.com/office/drawing/2014/main" id="{D84815ED-704E-7CC4-BD05-880423A2445F}"/>
              </a:ext>
            </a:extLst>
          </p:cNvPr>
          <p:cNvSpPr txBox="1"/>
          <p:nvPr/>
        </p:nvSpPr>
        <p:spPr>
          <a:xfrm>
            <a:off x="196645" y="-679898"/>
            <a:ext cx="4933950" cy="584775"/>
          </a:xfrm>
          <a:prstGeom prst="rect">
            <a:avLst/>
          </a:prstGeom>
          <a:noFill/>
        </p:spPr>
        <p:txBody>
          <a:bodyPr wrap="square" rtlCol="0">
            <a:spAutoFit/>
          </a:bodyPr>
          <a:lstStyle/>
          <a:p>
            <a:r>
              <a:rPr lang="en-US" sz="3200" b="1" dirty="0">
                <a:solidFill>
                  <a:srgbClr val="F6BB00">
                    <a:alpha val="10000"/>
                  </a:srgbClr>
                </a:solidFill>
              </a:rPr>
              <a:t>Action Plan</a:t>
            </a:r>
          </a:p>
        </p:txBody>
      </p:sp>
      <p:sp>
        <p:nvSpPr>
          <p:cNvPr id="10" name="TextBox 9">
            <a:extLst>
              <a:ext uri="{FF2B5EF4-FFF2-40B4-BE49-F238E27FC236}">
                <a16:creationId xmlns:a16="http://schemas.microsoft.com/office/drawing/2014/main" id="{F938B206-998C-2BA7-08C6-E8EF9BED2986}"/>
              </a:ext>
            </a:extLst>
          </p:cNvPr>
          <p:cNvSpPr txBox="1"/>
          <p:nvPr/>
        </p:nvSpPr>
        <p:spPr>
          <a:xfrm>
            <a:off x="196644" y="-712252"/>
            <a:ext cx="6242255" cy="584775"/>
          </a:xfrm>
          <a:prstGeom prst="rect">
            <a:avLst/>
          </a:prstGeom>
          <a:noFill/>
        </p:spPr>
        <p:txBody>
          <a:bodyPr wrap="square" rtlCol="0">
            <a:spAutoFit/>
          </a:bodyPr>
          <a:lstStyle/>
          <a:p>
            <a:r>
              <a:rPr lang="en-US" sz="3200" b="1" dirty="0">
                <a:solidFill>
                  <a:srgbClr val="F6BB00">
                    <a:alpha val="10000"/>
                  </a:srgbClr>
                </a:solidFill>
              </a:rPr>
              <a:t>2026 Forecasts as per Action Plan</a:t>
            </a:r>
          </a:p>
        </p:txBody>
      </p:sp>
      <p:sp>
        <p:nvSpPr>
          <p:cNvPr id="11" name="TextBox 10">
            <a:extLst>
              <a:ext uri="{FF2B5EF4-FFF2-40B4-BE49-F238E27FC236}">
                <a16:creationId xmlns:a16="http://schemas.microsoft.com/office/drawing/2014/main" id="{0245C3E8-3678-47D5-84DC-3C739D9CC8B3}"/>
              </a:ext>
            </a:extLst>
          </p:cNvPr>
          <p:cNvSpPr txBox="1"/>
          <p:nvPr/>
        </p:nvSpPr>
        <p:spPr>
          <a:xfrm>
            <a:off x="196644" y="141352"/>
            <a:ext cx="6242255"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Action Plan</a:t>
            </a:r>
          </a:p>
        </p:txBody>
      </p:sp>
      <p:sp>
        <p:nvSpPr>
          <p:cNvPr id="13" name="TextBox 12">
            <a:extLst>
              <a:ext uri="{FF2B5EF4-FFF2-40B4-BE49-F238E27FC236}">
                <a16:creationId xmlns:a16="http://schemas.microsoft.com/office/drawing/2014/main" id="{B0F208CA-E37A-4BE4-8F47-CB1C351496D1}"/>
              </a:ext>
            </a:extLst>
          </p:cNvPr>
          <p:cNvSpPr txBox="1"/>
          <p:nvPr/>
        </p:nvSpPr>
        <p:spPr>
          <a:xfrm>
            <a:off x="196644" y="630883"/>
            <a:ext cx="7471482"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Thank You!</a:t>
            </a:r>
          </a:p>
        </p:txBody>
      </p:sp>
      <p:sp>
        <p:nvSpPr>
          <p:cNvPr id="14" name="Isosceles Triangle 13">
            <a:extLst>
              <a:ext uri="{FF2B5EF4-FFF2-40B4-BE49-F238E27FC236}">
                <a16:creationId xmlns:a16="http://schemas.microsoft.com/office/drawing/2014/main" id="{F2F01A2F-AE81-E09E-FAA9-A5C5FBBFC5BC}"/>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grpSp>
        <p:nvGrpSpPr>
          <p:cNvPr id="29" name="Group 28">
            <a:extLst>
              <a:ext uri="{FF2B5EF4-FFF2-40B4-BE49-F238E27FC236}">
                <a16:creationId xmlns:a16="http://schemas.microsoft.com/office/drawing/2014/main" id="{B3C3CB94-2DBA-2514-C3C3-2A6AA996AF05}"/>
              </a:ext>
            </a:extLst>
          </p:cNvPr>
          <p:cNvGrpSpPr/>
          <p:nvPr/>
        </p:nvGrpSpPr>
        <p:grpSpPr>
          <a:xfrm>
            <a:off x="9157914" y="2365994"/>
            <a:ext cx="1647659" cy="2126012"/>
            <a:chOff x="5107709" y="2392880"/>
            <a:chExt cx="2009440" cy="2592826"/>
          </a:xfrm>
        </p:grpSpPr>
        <p:sp>
          <p:nvSpPr>
            <p:cNvPr id="20" name="Freeform: Shape 19">
              <a:extLst>
                <a:ext uri="{FF2B5EF4-FFF2-40B4-BE49-F238E27FC236}">
                  <a16:creationId xmlns:a16="http://schemas.microsoft.com/office/drawing/2014/main" id="{718968D7-F797-918A-CF8E-B878D6DD4C8D}"/>
                </a:ext>
              </a:extLst>
            </p:cNvPr>
            <p:cNvSpPr/>
            <p:nvPr/>
          </p:nvSpPr>
          <p:spPr>
            <a:xfrm>
              <a:off x="5107709" y="2392880"/>
              <a:ext cx="2009440" cy="2592826"/>
            </a:xfrm>
            <a:custGeom>
              <a:avLst/>
              <a:gdLst>
                <a:gd name="csX0" fmla="*/ 194462 w 2009440"/>
                <a:gd name="csY0" fmla="*/ 194462 h 2592826"/>
                <a:gd name="csX1" fmla="*/ 1814979 w 2009440"/>
                <a:gd name="csY1" fmla="*/ 194462 h 2592826"/>
                <a:gd name="csX2" fmla="*/ 1814979 w 2009440"/>
                <a:gd name="csY2" fmla="*/ 2398365 h 2592826"/>
                <a:gd name="csX3" fmla="*/ 194462 w 2009440"/>
                <a:gd name="csY3" fmla="*/ 2398365 h 2592826"/>
                <a:gd name="csX4" fmla="*/ 194462 w 2009440"/>
                <a:gd name="csY4" fmla="*/ 194462 h 2592826"/>
                <a:gd name="csX5" fmla="*/ 0 w 2009440"/>
                <a:gd name="csY5" fmla="*/ 2592827 h 2592826"/>
                <a:gd name="csX6" fmla="*/ 2009441 w 2009440"/>
                <a:gd name="csY6" fmla="*/ 2592827 h 2592826"/>
                <a:gd name="csX7" fmla="*/ 2009441 w 2009440"/>
                <a:gd name="csY7" fmla="*/ 0 h 2592826"/>
                <a:gd name="csX8" fmla="*/ 0 w 2009440"/>
                <a:gd name="csY8" fmla="*/ 0 h 2592826"/>
                <a:gd name="csX9" fmla="*/ 0 w 2009440"/>
                <a:gd name="csY9" fmla="*/ 2592827 h 25928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009440" h="2592826">
                  <a:moveTo>
                    <a:pt x="194462" y="194462"/>
                  </a:moveTo>
                  <a:lnTo>
                    <a:pt x="1814979" y="194462"/>
                  </a:lnTo>
                  <a:lnTo>
                    <a:pt x="1814979" y="2398365"/>
                  </a:lnTo>
                  <a:lnTo>
                    <a:pt x="194462" y="2398365"/>
                  </a:lnTo>
                  <a:lnTo>
                    <a:pt x="194462" y="194462"/>
                  </a:lnTo>
                  <a:close/>
                  <a:moveTo>
                    <a:pt x="0" y="2592827"/>
                  </a:moveTo>
                  <a:lnTo>
                    <a:pt x="2009441" y="2592827"/>
                  </a:lnTo>
                  <a:lnTo>
                    <a:pt x="2009441" y="0"/>
                  </a:lnTo>
                  <a:lnTo>
                    <a:pt x="0" y="0"/>
                  </a:lnTo>
                  <a:lnTo>
                    <a:pt x="0" y="2592827"/>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1" name="Rectangle 20">
              <a:extLst>
                <a:ext uri="{FF2B5EF4-FFF2-40B4-BE49-F238E27FC236}">
                  <a16:creationId xmlns:a16="http://schemas.microsoft.com/office/drawing/2014/main" id="{DADF8103-9791-CB23-A2DA-72066ED07BD3}"/>
                </a:ext>
              </a:extLst>
            </p:cNvPr>
            <p:cNvSpPr/>
            <p:nvPr/>
          </p:nvSpPr>
          <p:spPr>
            <a:xfrm>
              <a:off x="5529044" y="2781804"/>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2" name="Rectangle 21">
              <a:extLst>
                <a:ext uri="{FF2B5EF4-FFF2-40B4-BE49-F238E27FC236}">
                  <a16:creationId xmlns:a16="http://schemas.microsoft.com/office/drawing/2014/main" id="{B02EDC3E-FA7E-A4FD-E7F5-699B13B75B45}"/>
                </a:ext>
              </a:extLst>
            </p:cNvPr>
            <p:cNvSpPr/>
            <p:nvPr/>
          </p:nvSpPr>
          <p:spPr>
            <a:xfrm>
              <a:off x="6047609" y="2846625"/>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3" name="Rectangle 22">
              <a:extLst>
                <a:ext uri="{FF2B5EF4-FFF2-40B4-BE49-F238E27FC236}">
                  <a16:creationId xmlns:a16="http://schemas.microsoft.com/office/drawing/2014/main" id="{E6ADD625-87C3-83D0-882F-59B44196F0C0}"/>
                </a:ext>
              </a:extLst>
            </p:cNvPr>
            <p:cNvSpPr/>
            <p:nvPr/>
          </p:nvSpPr>
          <p:spPr>
            <a:xfrm>
              <a:off x="5529044" y="3300370"/>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4" name="Rectangle 23">
              <a:extLst>
                <a:ext uri="{FF2B5EF4-FFF2-40B4-BE49-F238E27FC236}">
                  <a16:creationId xmlns:a16="http://schemas.microsoft.com/office/drawing/2014/main" id="{C4313EDA-308A-D0B7-3811-442BAC97E926}"/>
                </a:ext>
              </a:extLst>
            </p:cNvPr>
            <p:cNvSpPr/>
            <p:nvPr/>
          </p:nvSpPr>
          <p:spPr>
            <a:xfrm>
              <a:off x="6047609" y="3365190"/>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5" name="Rectangle 24">
              <a:extLst>
                <a:ext uri="{FF2B5EF4-FFF2-40B4-BE49-F238E27FC236}">
                  <a16:creationId xmlns:a16="http://schemas.microsoft.com/office/drawing/2014/main" id="{A7824D08-9110-BAAA-FAD4-5C3478ED9123}"/>
                </a:ext>
              </a:extLst>
            </p:cNvPr>
            <p:cNvSpPr/>
            <p:nvPr/>
          </p:nvSpPr>
          <p:spPr>
            <a:xfrm>
              <a:off x="5529044" y="3818935"/>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6" name="Rectangle 25">
              <a:extLst>
                <a:ext uri="{FF2B5EF4-FFF2-40B4-BE49-F238E27FC236}">
                  <a16:creationId xmlns:a16="http://schemas.microsoft.com/office/drawing/2014/main" id="{E16CAF43-8A31-3DF7-AAFD-9D10A411967E}"/>
                </a:ext>
              </a:extLst>
            </p:cNvPr>
            <p:cNvSpPr/>
            <p:nvPr/>
          </p:nvSpPr>
          <p:spPr>
            <a:xfrm>
              <a:off x="6047609" y="3883756"/>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7" name="Rectangle 26">
              <a:extLst>
                <a:ext uri="{FF2B5EF4-FFF2-40B4-BE49-F238E27FC236}">
                  <a16:creationId xmlns:a16="http://schemas.microsoft.com/office/drawing/2014/main" id="{A2377046-DDBC-C3E2-8482-631881B91AC1}"/>
                </a:ext>
              </a:extLst>
            </p:cNvPr>
            <p:cNvSpPr/>
            <p:nvPr/>
          </p:nvSpPr>
          <p:spPr>
            <a:xfrm>
              <a:off x="5529044" y="4337500"/>
              <a:ext cx="259282" cy="259282"/>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28" name="Rectangle 27">
              <a:extLst>
                <a:ext uri="{FF2B5EF4-FFF2-40B4-BE49-F238E27FC236}">
                  <a16:creationId xmlns:a16="http://schemas.microsoft.com/office/drawing/2014/main" id="{489C3323-5B5E-698A-5170-9496CA9DD771}"/>
                </a:ext>
              </a:extLst>
            </p:cNvPr>
            <p:cNvSpPr/>
            <p:nvPr/>
          </p:nvSpPr>
          <p:spPr>
            <a:xfrm>
              <a:off x="6047609" y="4402321"/>
              <a:ext cx="648206" cy="129641"/>
            </a:xfrm>
            <a:prstGeom prst="rect">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
        <p:nvSpPr>
          <p:cNvPr id="19" name="Graphic 17" descr="Help with solid fill">
            <a:extLst>
              <a:ext uri="{FF2B5EF4-FFF2-40B4-BE49-F238E27FC236}">
                <a16:creationId xmlns:a16="http://schemas.microsoft.com/office/drawing/2014/main" id="{CE28A38E-5443-130A-C418-3A3E33CB1A18}"/>
              </a:ext>
            </a:extLst>
          </p:cNvPr>
          <p:cNvSpPr/>
          <p:nvPr/>
        </p:nvSpPr>
        <p:spPr>
          <a:xfrm>
            <a:off x="12927072" y="2388233"/>
            <a:ext cx="2080005" cy="2080005"/>
          </a:xfrm>
          <a:custGeom>
            <a:avLst/>
            <a:gdLst>
              <a:gd name="csX0" fmla="*/ 1040003 w 2080005"/>
              <a:gd name="csY0" fmla="*/ 0 h 2080005"/>
              <a:gd name="csX1" fmla="*/ 0 w 2080005"/>
              <a:gd name="csY1" fmla="*/ 1040003 h 2080005"/>
              <a:gd name="csX2" fmla="*/ 1040003 w 2080005"/>
              <a:gd name="csY2" fmla="*/ 2080005 h 2080005"/>
              <a:gd name="csX3" fmla="*/ 2080005 w 2080005"/>
              <a:gd name="csY3" fmla="*/ 1040003 h 2080005"/>
              <a:gd name="csX4" fmla="*/ 1040003 w 2080005"/>
              <a:gd name="csY4" fmla="*/ 0 h 2080005"/>
              <a:gd name="csX5" fmla="*/ 1040003 w 2080005"/>
              <a:gd name="csY5" fmla="*/ 1806320 h 2080005"/>
              <a:gd name="csX6" fmla="*/ 903160 w 2080005"/>
              <a:gd name="csY6" fmla="*/ 1669478 h 2080005"/>
              <a:gd name="csX7" fmla="*/ 1040003 w 2080005"/>
              <a:gd name="csY7" fmla="*/ 1532635 h 2080005"/>
              <a:gd name="csX8" fmla="*/ 1176845 w 2080005"/>
              <a:gd name="csY8" fmla="*/ 1669478 h 2080005"/>
              <a:gd name="csX9" fmla="*/ 1040003 w 2080005"/>
              <a:gd name="csY9" fmla="*/ 1806320 h 2080005"/>
              <a:gd name="csX10" fmla="*/ 1122108 w 2080005"/>
              <a:gd name="csY10" fmla="*/ 1171371 h 2080005"/>
              <a:gd name="csX11" fmla="*/ 1122108 w 2080005"/>
              <a:gd name="csY11" fmla="*/ 1423162 h 2080005"/>
              <a:gd name="csX12" fmla="*/ 957897 w 2080005"/>
              <a:gd name="csY12" fmla="*/ 1423162 h 2080005"/>
              <a:gd name="csX13" fmla="*/ 957897 w 2080005"/>
              <a:gd name="csY13" fmla="*/ 1012634 h 2080005"/>
              <a:gd name="csX14" fmla="*/ 1040003 w 2080005"/>
              <a:gd name="csY14" fmla="*/ 1012634 h 2080005"/>
              <a:gd name="csX15" fmla="*/ 1341056 w 2080005"/>
              <a:gd name="csY15" fmla="*/ 738949 h 2080005"/>
              <a:gd name="csX16" fmla="*/ 1040003 w 2080005"/>
              <a:gd name="csY16" fmla="*/ 437896 h 2080005"/>
              <a:gd name="csX17" fmla="*/ 738949 w 2080005"/>
              <a:gd name="csY17" fmla="*/ 738949 h 2080005"/>
              <a:gd name="csX18" fmla="*/ 574738 w 2080005"/>
              <a:gd name="csY18" fmla="*/ 738949 h 2080005"/>
              <a:gd name="csX19" fmla="*/ 1040003 w 2080005"/>
              <a:gd name="csY19" fmla="*/ 273685 h 2080005"/>
              <a:gd name="csX20" fmla="*/ 1505267 w 2080005"/>
              <a:gd name="csY20" fmla="*/ 738949 h 2080005"/>
              <a:gd name="csX21" fmla="*/ 1122108 w 2080005"/>
              <a:gd name="csY21" fmla="*/ 1171371 h 2080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080005" h="2080005">
                <a:moveTo>
                  <a:pt x="1040003" y="0"/>
                </a:moveTo>
                <a:cubicBezTo>
                  <a:pt x="465264" y="0"/>
                  <a:pt x="0" y="465264"/>
                  <a:pt x="0" y="1040003"/>
                </a:cubicBezTo>
                <a:cubicBezTo>
                  <a:pt x="0" y="1614741"/>
                  <a:pt x="465264" y="2080005"/>
                  <a:pt x="1040003" y="2080005"/>
                </a:cubicBezTo>
                <a:cubicBezTo>
                  <a:pt x="1614741" y="2080005"/>
                  <a:pt x="2080005" y="1614741"/>
                  <a:pt x="2080005" y="1040003"/>
                </a:cubicBezTo>
                <a:cubicBezTo>
                  <a:pt x="2080005" y="465264"/>
                  <a:pt x="1614741" y="0"/>
                  <a:pt x="1040003" y="0"/>
                </a:cubicBezTo>
                <a:close/>
                <a:moveTo>
                  <a:pt x="1040003" y="1806320"/>
                </a:moveTo>
                <a:cubicBezTo>
                  <a:pt x="963371" y="1806320"/>
                  <a:pt x="903160" y="1746110"/>
                  <a:pt x="903160" y="1669478"/>
                </a:cubicBezTo>
                <a:cubicBezTo>
                  <a:pt x="903160" y="1592846"/>
                  <a:pt x="963371" y="1532635"/>
                  <a:pt x="1040003" y="1532635"/>
                </a:cubicBezTo>
                <a:cubicBezTo>
                  <a:pt x="1116634" y="1532635"/>
                  <a:pt x="1176845" y="1592846"/>
                  <a:pt x="1176845" y="1669478"/>
                </a:cubicBezTo>
                <a:cubicBezTo>
                  <a:pt x="1176845" y="1746110"/>
                  <a:pt x="1116634" y="1806320"/>
                  <a:pt x="1040003" y="1806320"/>
                </a:cubicBezTo>
                <a:close/>
                <a:moveTo>
                  <a:pt x="1122108" y="1171371"/>
                </a:moveTo>
                <a:cubicBezTo>
                  <a:pt x="1122108" y="1242530"/>
                  <a:pt x="1122108" y="1423162"/>
                  <a:pt x="1122108" y="1423162"/>
                </a:cubicBezTo>
                <a:lnTo>
                  <a:pt x="957897" y="1423162"/>
                </a:lnTo>
                <a:lnTo>
                  <a:pt x="957897" y="1012634"/>
                </a:lnTo>
                <a:lnTo>
                  <a:pt x="1040003" y="1012634"/>
                </a:lnTo>
                <a:cubicBezTo>
                  <a:pt x="1223372" y="1012634"/>
                  <a:pt x="1341056" y="905897"/>
                  <a:pt x="1341056" y="738949"/>
                </a:cubicBezTo>
                <a:cubicBezTo>
                  <a:pt x="1341056" y="566528"/>
                  <a:pt x="1212424" y="437896"/>
                  <a:pt x="1040003" y="437896"/>
                </a:cubicBezTo>
                <a:cubicBezTo>
                  <a:pt x="851160" y="437896"/>
                  <a:pt x="738949" y="550107"/>
                  <a:pt x="738949" y="738949"/>
                </a:cubicBezTo>
                <a:lnTo>
                  <a:pt x="574738" y="738949"/>
                </a:lnTo>
                <a:cubicBezTo>
                  <a:pt x="574738" y="459791"/>
                  <a:pt x="760844" y="273685"/>
                  <a:pt x="1040003" y="273685"/>
                </a:cubicBezTo>
                <a:cubicBezTo>
                  <a:pt x="1300003" y="273685"/>
                  <a:pt x="1505267" y="478949"/>
                  <a:pt x="1505267" y="738949"/>
                </a:cubicBezTo>
                <a:cubicBezTo>
                  <a:pt x="1505267" y="971581"/>
                  <a:pt x="1352003" y="1138529"/>
                  <a:pt x="1122108" y="1171371"/>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5" name="TextBox 4">
            <a:extLst>
              <a:ext uri="{FF2B5EF4-FFF2-40B4-BE49-F238E27FC236}">
                <a16:creationId xmlns:a16="http://schemas.microsoft.com/office/drawing/2014/main" id="{AE721C2A-24BD-05FA-B319-81E546A586F9}"/>
              </a:ext>
            </a:extLst>
          </p:cNvPr>
          <p:cNvSpPr txBox="1"/>
          <p:nvPr/>
        </p:nvSpPr>
        <p:spPr>
          <a:xfrm>
            <a:off x="196645" y="471495"/>
            <a:ext cx="8486274" cy="5632311"/>
          </a:xfrm>
          <a:prstGeom prst="rect">
            <a:avLst/>
          </a:prstGeom>
          <a:noFill/>
        </p:spPr>
        <p:txBody>
          <a:bodyPr wrap="square" rtlCol="0" anchor="ctr">
            <a:spAutoFit/>
          </a:bodyPr>
          <a:lstStyle/>
          <a:p>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Days 61–90</a:t>
            </a:r>
            <a:r>
              <a:rPr lang="en-US" sz="2400" b="1" dirty="0">
                <a:solidFill>
                  <a:srgbClr val="C29524"/>
                </a:solidFill>
                <a:latin typeface="Segoe UI Semibold" panose="020B0702040204020203" pitchFamily="34" charset="0"/>
                <a:cs typeface="Segoe UI Semibold" panose="020B0702040204020203" pitchFamily="34" charset="0"/>
              </a:rPr>
              <a:t>: Scale &amp; Automate (World-Class Stabilization)</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Supplier &amp; Procurement</a:t>
            </a:r>
            <a:r>
              <a:rPr lang="en-US" sz="2400" b="1" dirty="0">
                <a:solidFill>
                  <a:srgbClr val="C29524"/>
                </a:solidFill>
                <a:latin typeface="Segoe UI Semibold" panose="020B0702040204020203" pitchFamily="34" charset="0"/>
                <a:cs typeface="Segoe UI Semibold" panose="020B0702040204020203" pitchFamily="34" charset="0"/>
              </a:rPr>
              <a:t>: Integrate Supplier Quality Tracking directly into your ERP platform for automated, real-time performance evaluation. </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Warehouse &amp; Inventory</a:t>
            </a:r>
            <a:r>
              <a:rPr lang="en-US" sz="2400" b="1" dirty="0">
                <a:solidFill>
                  <a:srgbClr val="C29524"/>
                </a:solidFill>
                <a:latin typeface="Segoe UI Semibold" panose="020B0702040204020203" pitchFamily="34" charset="0"/>
                <a:cs typeface="Segoe UI Semibold" panose="020B0702040204020203" pitchFamily="34" charset="0"/>
              </a:rPr>
              <a:t>: Finalize warehouse footprint expansion decisions (expanding existing structures vs. establishing satellite support warehouses).</a:t>
            </a:r>
            <a:br>
              <a:rPr lang="en-US" sz="2400" b="1" dirty="0">
                <a:solidFill>
                  <a:srgbClr val="C29524"/>
                </a:solidFill>
                <a:latin typeface="Segoe UI Semibold" panose="020B0702040204020203" pitchFamily="34" charset="0"/>
                <a:cs typeface="Segoe UI Semibold" panose="020B0702040204020203" pitchFamily="34" charset="0"/>
              </a:rPr>
            </a:br>
            <a:endParaRPr lang="en-US" sz="2400" b="1" dirty="0">
              <a:solidFill>
                <a:srgbClr val="C29524"/>
              </a:solidFill>
              <a:latin typeface="Segoe UI Semibold" panose="020B0702040204020203" pitchFamily="34" charset="0"/>
              <a:cs typeface="Segoe UI Semibold" panose="020B0702040204020203" pitchFamily="34" charset="0"/>
            </a:endParaRPr>
          </a:p>
          <a:p>
            <a:r>
              <a:rPr lang="en-US" sz="24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Sales &amp; Logistics</a:t>
            </a:r>
            <a:r>
              <a:rPr lang="en-US" sz="2400" b="1" dirty="0">
                <a:solidFill>
                  <a:srgbClr val="C29524"/>
                </a:solidFill>
                <a:latin typeface="Segoe UI Semibold" panose="020B0702040204020203" pitchFamily="34" charset="0"/>
                <a:cs typeface="Segoe UI Semibold" panose="020B0702040204020203" pitchFamily="34" charset="0"/>
              </a:rPr>
              <a:t>: Roll out an updated fleet mix. Deploy dynamic route optimization software to secure on-time, in-full deliveries. </a:t>
            </a:r>
          </a:p>
        </p:txBody>
      </p:sp>
    </p:spTree>
    <p:extLst>
      <p:ext uri="{BB962C8B-B14F-4D97-AF65-F5344CB8AC3E}">
        <p14:creationId xmlns:p14="http://schemas.microsoft.com/office/powerpoint/2010/main" val="126001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7BF9AB-7CD3-E8DE-A00A-0DCFB563226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0E1CFDB-A2B4-D684-712C-23EBF67135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70441229-404F-A4E6-43E6-56C2B30AB5B2}"/>
              </a:ext>
            </a:extLst>
          </p:cNvPr>
          <p:cNvSpPr txBox="1"/>
          <p:nvPr/>
        </p:nvSpPr>
        <p:spPr>
          <a:xfrm>
            <a:off x="196644" y="141352"/>
            <a:ext cx="9040346"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2026 Forecasting as per the Action Plan</a:t>
            </a:r>
          </a:p>
        </p:txBody>
      </p:sp>
      <p:sp>
        <p:nvSpPr>
          <p:cNvPr id="8" name="TextBox 7">
            <a:extLst>
              <a:ext uri="{FF2B5EF4-FFF2-40B4-BE49-F238E27FC236}">
                <a16:creationId xmlns:a16="http://schemas.microsoft.com/office/drawing/2014/main" id="{63DE8239-6439-5371-F6B4-C4F13B5B53F1}"/>
              </a:ext>
            </a:extLst>
          </p:cNvPr>
          <p:cNvSpPr txBox="1"/>
          <p:nvPr/>
        </p:nvSpPr>
        <p:spPr>
          <a:xfrm>
            <a:off x="196644" y="630883"/>
            <a:ext cx="7471482" cy="584775"/>
          </a:xfrm>
          <a:prstGeom prst="rect">
            <a:avLst/>
          </a:prstGeom>
          <a:noFill/>
        </p:spPr>
        <p:txBody>
          <a:bodyPr wrap="square" rtlCol="0">
            <a:spAutoFit/>
          </a:bodyPr>
          <a:lstStyle/>
          <a:p>
            <a:r>
              <a:rPr lang="en-US" sz="3200" b="1" dirty="0">
                <a:solidFill>
                  <a:srgbClr val="BC8F00">
                    <a:alpha val="8000"/>
                  </a:srgbClr>
                </a:solidFill>
                <a:latin typeface="Segoe UI Semibold" panose="020B0702040204020203" pitchFamily="34" charset="0"/>
                <a:cs typeface="Segoe UI Semibold" panose="020B0702040204020203" pitchFamily="34" charset="0"/>
              </a:rPr>
              <a:t>Thank You!</a:t>
            </a:r>
          </a:p>
        </p:txBody>
      </p:sp>
      <p:sp>
        <p:nvSpPr>
          <p:cNvPr id="4" name="Isosceles Triangle 3">
            <a:extLst>
              <a:ext uri="{FF2B5EF4-FFF2-40B4-BE49-F238E27FC236}">
                <a16:creationId xmlns:a16="http://schemas.microsoft.com/office/drawing/2014/main" id="{F9D0D155-B7F5-24FE-030E-B94AFC52B3B2}"/>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pic>
        <p:nvPicPr>
          <p:cNvPr id="9" name="Picture 8">
            <a:extLst>
              <a:ext uri="{FF2B5EF4-FFF2-40B4-BE49-F238E27FC236}">
                <a16:creationId xmlns:a16="http://schemas.microsoft.com/office/drawing/2014/main" id="{41235E34-29DF-7ACF-B54E-9913FDB19F07}"/>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grpSp>
        <p:nvGrpSpPr>
          <p:cNvPr id="10" name="Group 9">
            <a:extLst>
              <a:ext uri="{FF2B5EF4-FFF2-40B4-BE49-F238E27FC236}">
                <a16:creationId xmlns:a16="http://schemas.microsoft.com/office/drawing/2014/main" id="{1044B489-8283-3491-4C81-24FFCE4696D7}"/>
              </a:ext>
            </a:extLst>
          </p:cNvPr>
          <p:cNvGrpSpPr/>
          <p:nvPr/>
        </p:nvGrpSpPr>
        <p:grpSpPr>
          <a:xfrm>
            <a:off x="4840960" y="-7405819"/>
            <a:ext cx="2510080" cy="2830595"/>
            <a:chOff x="5757848" y="3048000"/>
            <a:chExt cx="675717" cy="762000"/>
          </a:xfrm>
        </p:grpSpPr>
        <p:sp>
          <p:nvSpPr>
            <p:cNvPr id="11" name="Oval 10">
              <a:extLst>
                <a:ext uri="{FF2B5EF4-FFF2-40B4-BE49-F238E27FC236}">
                  <a16:creationId xmlns:a16="http://schemas.microsoft.com/office/drawing/2014/main" id="{BF388771-562D-782D-16F4-E1E909B9A5F7}"/>
                </a:ext>
              </a:extLst>
            </p:cNvPr>
            <p:cNvSpPr/>
            <p:nvPr/>
          </p:nvSpPr>
          <p:spPr>
            <a:xfrm>
              <a:off x="5843587" y="3310890"/>
              <a:ext cx="171450" cy="171450"/>
            </a:xfrm>
            <a:prstGeom prst="ellips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2" name="Freeform: Shape 11">
              <a:extLst>
                <a:ext uri="{FF2B5EF4-FFF2-40B4-BE49-F238E27FC236}">
                  <a16:creationId xmlns:a16="http://schemas.microsoft.com/office/drawing/2014/main" id="{20F87750-E572-833A-697E-64DED585246E}"/>
                </a:ext>
              </a:extLst>
            </p:cNvPr>
            <p:cNvSpPr/>
            <p:nvPr/>
          </p:nvSpPr>
          <p:spPr>
            <a:xfrm>
              <a:off x="5986462" y="3638550"/>
              <a:ext cx="342913" cy="171450"/>
            </a:xfrm>
            <a:custGeom>
              <a:avLst/>
              <a:gdLst>
                <a:gd name="csX0" fmla="*/ 342900 w 342913"/>
                <a:gd name="csY0" fmla="*/ 171450 h 171450"/>
                <a:gd name="csX1" fmla="*/ 342900 w 342913"/>
                <a:gd name="csY1" fmla="*/ 85725 h 171450"/>
                <a:gd name="csX2" fmla="*/ 325755 w 342913"/>
                <a:gd name="csY2" fmla="*/ 51435 h 171450"/>
                <a:gd name="csX3" fmla="*/ 241935 w 342913"/>
                <a:gd name="csY3" fmla="*/ 11430 h 171450"/>
                <a:gd name="csX4" fmla="*/ 171450 w 342913"/>
                <a:gd name="csY4" fmla="*/ 0 h 171450"/>
                <a:gd name="csX5" fmla="*/ 100965 w 342913"/>
                <a:gd name="csY5" fmla="*/ 11430 h 171450"/>
                <a:gd name="csX6" fmla="*/ 17145 w 342913"/>
                <a:gd name="csY6" fmla="*/ 51435 h 171450"/>
                <a:gd name="csX7" fmla="*/ 0 w 342913"/>
                <a:gd name="csY7" fmla="*/ 85725 h 171450"/>
                <a:gd name="csX8" fmla="*/ 0 w 342913"/>
                <a:gd name="csY8" fmla="*/ 171450 h 171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2913" h="171450">
                  <a:moveTo>
                    <a:pt x="342900" y="171450"/>
                  </a:moveTo>
                  <a:lnTo>
                    <a:pt x="342900" y="85725"/>
                  </a:lnTo>
                  <a:cubicBezTo>
                    <a:pt x="343252" y="72153"/>
                    <a:pt x="336823" y="59297"/>
                    <a:pt x="325755" y="51435"/>
                  </a:cubicBezTo>
                  <a:cubicBezTo>
                    <a:pt x="301081" y="32123"/>
                    <a:pt x="272467" y="18466"/>
                    <a:pt x="241935" y="11430"/>
                  </a:cubicBezTo>
                  <a:cubicBezTo>
                    <a:pt x="219043" y="4548"/>
                    <a:pt x="195344" y="706"/>
                    <a:pt x="171450" y="0"/>
                  </a:cubicBezTo>
                  <a:cubicBezTo>
                    <a:pt x="147499" y="74"/>
                    <a:pt x="123712" y="3931"/>
                    <a:pt x="100965" y="11430"/>
                  </a:cubicBezTo>
                  <a:cubicBezTo>
                    <a:pt x="70866" y="19669"/>
                    <a:pt x="42481" y="33217"/>
                    <a:pt x="17145" y="51435"/>
                  </a:cubicBezTo>
                  <a:cubicBezTo>
                    <a:pt x="6399" y="59568"/>
                    <a:pt x="59" y="72248"/>
                    <a:pt x="0" y="85725"/>
                  </a:cubicBezTo>
                  <a:lnTo>
                    <a:pt x="0" y="17145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3" name="Oval 12">
              <a:extLst>
                <a:ext uri="{FF2B5EF4-FFF2-40B4-BE49-F238E27FC236}">
                  <a16:creationId xmlns:a16="http://schemas.microsoft.com/office/drawing/2014/main" id="{E6A5FDC3-FD42-FC5D-84C3-7C4958B8DC16}"/>
                </a:ext>
              </a:extLst>
            </p:cNvPr>
            <p:cNvSpPr/>
            <p:nvPr/>
          </p:nvSpPr>
          <p:spPr>
            <a:xfrm>
              <a:off x="6072187" y="3444240"/>
              <a:ext cx="171450" cy="171449"/>
            </a:xfrm>
            <a:prstGeom prst="ellips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4" name="Freeform: Shape 13">
              <a:extLst>
                <a:ext uri="{FF2B5EF4-FFF2-40B4-BE49-F238E27FC236}">
                  <a16:creationId xmlns:a16="http://schemas.microsoft.com/office/drawing/2014/main" id="{96C1F783-D12B-7FEC-6520-C89BE1EA7383}"/>
                </a:ext>
              </a:extLst>
            </p:cNvPr>
            <p:cNvSpPr/>
            <p:nvPr/>
          </p:nvSpPr>
          <p:spPr>
            <a:xfrm>
              <a:off x="5757848" y="3505200"/>
              <a:ext cx="310528" cy="171450"/>
            </a:xfrm>
            <a:custGeom>
              <a:avLst/>
              <a:gdLst>
                <a:gd name="csX0" fmla="*/ 222899 w 310528"/>
                <a:gd name="csY0" fmla="*/ 154305 h 171450"/>
                <a:gd name="csX1" fmla="*/ 222899 w 310528"/>
                <a:gd name="csY1" fmla="*/ 154305 h 171450"/>
                <a:gd name="csX2" fmla="*/ 310529 w 310528"/>
                <a:gd name="csY2" fmla="*/ 110490 h 171450"/>
                <a:gd name="csX3" fmla="*/ 276239 w 310528"/>
                <a:gd name="csY3" fmla="*/ 26670 h 171450"/>
                <a:gd name="csX4" fmla="*/ 276239 w 310528"/>
                <a:gd name="csY4" fmla="*/ 22860 h 171450"/>
                <a:gd name="csX5" fmla="*/ 241949 w 310528"/>
                <a:gd name="csY5" fmla="*/ 11430 h 171450"/>
                <a:gd name="csX6" fmla="*/ 171464 w 310528"/>
                <a:gd name="csY6" fmla="*/ 0 h 171450"/>
                <a:gd name="csX7" fmla="*/ 100979 w 310528"/>
                <a:gd name="csY7" fmla="*/ 11430 h 171450"/>
                <a:gd name="csX8" fmla="*/ 17159 w 310528"/>
                <a:gd name="csY8" fmla="*/ 51435 h 171450"/>
                <a:gd name="csX9" fmla="*/ 14 w 310528"/>
                <a:gd name="csY9" fmla="*/ 85725 h 171450"/>
                <a:gd name="csX10" fmla="*/ 14 w 310528"/>
                <a:gd name="csY10" fmla="*/ 171450 h 171450"/>
                <a:gd name="csX11" fmla="*/ 205754 w 310528"/>
                <a:gd name="csY11" fmla="*/ 171450 h 171450"/>
                <a:gd name="csX12" fmla="*/ 222899 w 310528"/>
                <a:gd name="csY12" fmla="*/ 154305 h 171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0528" h="171450">
                  <a:moveTo>
                    <a:pt x="222899" y="154305"/>
                  </a:moveTo>
                  <a:lnTo>
                    <a:pt x="222899" y="154305"/>
                  </a:lnTo>
                  <a:cubicBezTo>
                    <a:pt x="249644" y="135218"/>
                    <a:pt x="279211" y="120434"/>
                    <a:pt x="310529" y="110490"/>
                  </a:cubicBezTo>
                  <a:cubicBezTo>
                    <a:pt x="288868" y="87919"/>
                    <a:pt x="276608" y="57951"/>
                    <a:pt x="276239" y="26670"/>
                  </a:cubicBezTo>
                  <a:lnTo>
                    <a:pt x="276239" y="22860"/>
                  </a:lnTo>
                  <a:cubicBezTo>
                    <a:pt x="265111" y="18198"/>
                    <a:pt x="253648" y="14377"/>
                    <a:pt x="241949" y="11430"/>
                  </a:cubicBezTo>
                  <a:cubicBezTo>
                    <a:pt x="219056" y="4548"/>
                    <a:pt x="195358" y="705"/>
                    <a:pt x="171464" y="0"/>
                  </a:cubicBezTo>
                  <a:cubicBezTo>
                    <a:pt x="147513" y="73"/>
                    <a:pt x="123725" y="3931"/>
                    <a:pt x="100979" y="11430"/>
                  </a:cubicBezTo>
                  <a:cubicBezTo>
                    <a:pt x="71185" y="20474"/>
                    <a:pt x="42928" y="33960"/>
                    <a:pt x="17159" y="51435"/>
                  </a:cubicBezTo>
                  <a:cubicBezTo>
                    <a:pt x="6091" y="59297"/>
                    <a:pt x="-338" y="72153"/>
                    <a:pt x="14" y="85725"/>
                  </a:cubicBezTo>
                  <a:lnTo>
                    <a:pt x="14" y="171450"/>
                  </a:lnTo>
                  <a:lnTo>
                    <a:pt x="205754" y="171450"/>
                  </a:lnTo>
                  <a:cubicBezTo>
                    <a:pt x="210476" y="164823"/>
                    <a:pt x="216271" y="159028"/>
                    <a:pt x="222899" y="154305"/>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5" name="Freeform: Shape 14">
              <a:extLst>
                <a:ext uri="{FF2B5EF4-FFF2-40B4-BE49-F238E27FC236}">
                  <a16:creationId xmlns:a16="http://schemas.microsoft.com/office/drawing/2014/main" id="{4374604B-4408-E7E2-25F6-E7BFF233F06D}"/>
                </a:ext>
              </a:extLst>
            </p:cNvPr>
            <p:cNvSpPr/>
            <p:nvPr/>
          </p:nvSpPr>
          <p:spPr>
            <a:xfrm>
              <a:off x="6034083" y="3048000"/>
              <a:ext cx="399482" cy="366140"/>
            </a:xfrm>
            <a:custGeom>
              <a:avLst/>
              <a:gdLst>
                <a:gd name="csX0" fmla="*/ 379575 w 399482"/>
                <a:gd name="csY0" fmla="*/ 0 h 366140"/>
                <a:gd name="csX1" fmla="*/ 19816 w 399482"/>
                <a:gd name="csY1" fmla="*/ 0 h 366140"/>
                <a:gd name="csX2" fmla="*/ 4 w 399482"/>
                <a:gd name="csY2" fmla="*/ 20098 h 366140"/>
                <a:gd name="csX3" fmla="*/ 4 w 399482"/>
                <a:gd name="csY3" fmla="*/ 265367 h 366140"/>
                <a:gd name="csX4" fmla="*/ 19620 w 399482"/>
                <a:gd name="csY4" fmla="*/ 285747 h 366140"/>
                <a:gd name="csX5" fmla="*/ 19816 w 399482"/>
                <a:gd name="csY5" fmla="*/ 285750 h 366140"/>
                <a:gd name="csX6" fmla="*/ 76966 w 399482"/>
                <a:gd name="csY6" fmla="*/ 285750 h 366140"/>
                <a:gd name="csX7" fmla="*/ 76966 w 399482"/>
                <a:gd name="csY7" fmla="*/ 366141 h 366140"/>
                <a:gd name="csX8" fmla="*/ 155928 w 399482"/>
                <a:gd name="csY8" fmla="*/ 285750 h 366140"/>
                <a:gd name="csX9" fmla="*/ 379575 w 399482"/>
                <a:gd name="csY9" fmla="*/ 285750 h 366140"/>
                <a:gd name="csX10" fmla="*/ 399482 w 399482"/>
                <a:gd name="csY10" fmla="*/ 265652 h 366140"/>
                <a:gd name="csX11" fmla="*/ 399482 w 399482"/>
                <a:gd name="csY11" fmla="*/ 20098 h 366140"/>
                <a:gd name="csX12" fmla="*/ 379575 w 399482"/>
                <a:gd name="csY12" fmla="*/ 0 h 366140"/>
                <a:gd name="csX13" fmla="*/ 198028 w 399482"/>
                <a:gd name="csY13" fmla="*/ 250031 h 366140"/>
                <a:gd name="csX14" fmla="*/ 176885 w 399482"/>
                <a:gd name="csY14" fmla="*/ 228884 h 366140"/>
                <a:gd name="csX15" fmla="*/ 198032 w 399482"/>
                <a:gd name="csY15" fmla="*/ 207740 h 366140"/>
                <a:gd name="csX16" fmla="*/ 219174 w 399482"/>
                <a:gd name="csY16" fmla="*/ 228600 h 366140"/>
                <a:gd name="csX17" fmla="*/ 198509 w 399482"/>
                <a:gd name="csY17" fmla="*/ 250028 h 366140"/>
                <a:gd name="csX18" fmla="*/ 198028 w 399482"/>
                <a:gd name="csY18" fmla="*/ 250031 h 366140"/>
                <a:gd name="csX19" fmla="*/ 211649 w 399482"/>
                <a:gd name="csY19" fmla="*/ 162878 h 366140"/>
                <a:gd name="csX20" fmla="*/ 211649 w 399482"/>
                <a:gd name="csY20" fmla="*/ 192881 h 366140"/>
                <a:gd name="csX21" fmla="*/ 184503 w 399482"/>
                <a:gd name="csY21" fmla="*/ 192881 h 366140"/>
                <a:gd name="csX22" fmla="*/ 184503 w 399482"/>
                <a:gd name="csY22" fmla="*/ 136779 h 366140"/>
                <a:gd name="csX23" fmla="*/ 198028 w 399482"/>
                <a:gd name="csY23" fmla="*/ 136779 h 366140"/>
                <a:gd name="csX24" fmla="*/ 236890 w 399482"/>
                <a:gd name="csY24" fmla="*/ 101727 h 366140"/>
                <a:gd name="csX25" fmla="*/ 199471 w 399482"/>
                <a:gd name="csY25" fmla="*/ 62958 h 366140"/>
                <a:gd name="csX26" fmla="*/ 198028 w 399482"/>
                <a:gd name="csY26" fmla="*/ 62960 h 366140"/>
                <a:gd name="csX27" fmla="*/ 159262 w 399482"/>
                <a:gd name="csY27" fmla="*/ 95135 h 366140"/>
                <a:gd name="csX28" fmla="*/ 159262 w 399482"/>
                <a:gd name="csY28" fmla="*/ 101727 h 366140"/>
                <a:gd name="csX29" fmla="*/ 159262 w 399482"/>
                <a:gd name="csY29" fmla="*/ 104108 h 366140"/>
                <a:gd name="csX30" fmla="*/ 132115 w 399482"/>
                <a:gd name="csY30" fmla="*/ 104108 h 366140"/>
                <a:gd name="csX31" fmla="*/ 132115 w 399482"/>
                <a:gd name="csY31" fmla="*/ 101727 h 366140"/>
                <a:gd name="csX32" fmla="*/ 190668 w 399482"/>
                <a:gd name="csY32" fmla="*/ 35724 h 366140"/>
                <a:gd name="csX33" fmla="*/ 198028 w 399482"/>
                <a:gd name="csY33" fmla="*/ 35719 h 366140"/>
                <a:gd name="csX34" fmla="*/ 264037 w 399482"/>
                <a:gd name="csY34" fmla="*/ 100194 h 366140"/>
                <a:gd name="csX35" fmla="*/ 264037 w 399482"/>
                <a:gd name="csY35" fmla="*/ 101727 h 366140"/>
                <a:gd name="csX36" fmla="*/ 211649 w 399482"/>
                <a:gd name="csY36" fmla="*/ 162878 h 366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399482" h="366140">
                  <a:moveTo>
                    <a:pt x="379575" y="0"/>
                  </a:moveTo>
                  <a:lnTo>
                    <a:pt x="19816" y="0"/>
                  </a:lnTo>
                  <a:cubicBezTo>
                    <a:pt x="8806" y="105"/>
                    <a:pt x="-50" y="9088"/>
                    <a:pt x="4" y="20098"/>
                  </a:cubicBezTo>
                  <a:lnTo>
                    <a:pt x="4" y="265367"/>
                  </a:lnTo>
                  <a:cubicBezTo>
                    <a:pt x="-207" y="276412"/>
                    <a:pt x="8575" y="285537"/>
                    <a:pt x="19620" y="285747"/>
                  </a:cubicBezTo>
                  <a:cubicBezTo>
                    <a:pt x="19685" y="285748"/>
                    <a:pt x="19751" y="285749"/>
                    <a:pt x="19816" y="285750"/>
                  </a:cubicBezTo>
                  <a:lnTo>
                    <a:pt x="76966" y="285750"/>
                  </a:lnTo>
                  <a:lnTo>
                    <a:pt x="76966" y="366141"/>
                  </a:lnTo>
                  <a:lnTo>
                    <a:pt x="155928" y="285750"/>
                  </a:lnTo>
                  <a:lnTo>
                    <a:pt x="379575" y="285750"/>
                  </a:lnTo>
                  <a:cubicBezTo>
                    <a:pt x="390600" y="285645"/>
                    <a:pt x="399482" y="276678"/>
                    <a:pt x="399482" y="265652"/>
                  </a:cubicBezTo>
                  <a:lnTo>
                    <a:pt x="399482" y="20098"/>
                  </a:lnTo>
                  <a:cubicBezTo>
                    <a:pt x="399483" y="9072"/>
                    <a:pt x="390600" y="104"/>
                    <a:pt x="379575" y="0"/>
                  </a:cubicBezTo>
                  <a:close/>
                  <a:moveTo>
                    <a:pt x="198028" y="250031"/>
                  </a:moveTo>
                  <a:cubicBezTo>
                    <a:pt x="186350" y="250030"/>
                    <a:pt x="176884" y="240562"/>
                    <a:pt x="176885" y="228884"/>
                  </a:cubicBezTo>
                  <a:cubicBezTo>
                    <a:pt x="176886" y="217205"/>
                    <a:pt x="186354" y="207739"/>
                    <a:pt x="198032" y="207740"/>
                  </a:cubicBezTo>
                  <a:cubicBezTo>
                    <a:pt x="209598" y="207741"/>
                    <a:pt x="219018" y="217035"/>
                    <a:pt x="219174" y="228600"/>
                  </a:cubicBezTo>
                  <a:cubicBezTo>
                    <a:pt x="219384" y="240223"/>
                    <a:pt x="210132" y="249818"/>
                    <a:pt x="198509" y="250028"/>
                  </a:cubicBezTo>
                  <a:cubicBezTo>
                    <a:pt x="198349" y="250031"/>
                    <a:pt x="198188" y="250032"/>
                    <a:pt x="198028" y="250031"/>
                  </a:cubicBezTo>
                  <a:close/>
                  <a:moveTo>
                    <a:pt x="211649" y="162878"/>
                  </a:moveTo>
                  <a:lnTo>
                    <a:pt x="211649" y="192881"/>
                  </a:lnTo>
                  <a:lnTo>
                    <a:pt x="184503" y="192881"/>
                  </a:lnTo>
                  <a:lnTo>
                    <a:pt x="184503" y="136779"/>
                  </a:lnTo>
                  <a:lnTo>
                    <a:pt x="198028" y="136779"/>
                  </a:lnTo>
                  <a:cubicBezTo>
                    <a:pt x="221650" y="136779"/>
                    <a:pt x="236890" y="122968"/>
                    <a:pt x="236890" y="101727"/>
                  </a:cubicBezTo>
                  <a:cubicBezTo>
                    <a:pt x="237263" y="80688"/>
                    <a:pt x="220509" y="63331"/>
                    <a:pt x="199471" y="62958"/>
                  </a:cubicBezTo>
                  <a:cubicBezTo>
                    <a:pt x="198990" y="62950"/>
                    <a:pt x="198509" y="62951"/>
                    <a:pt x="198028" y="62960"/>
                  </a:cubicBezTo>
                  <a:cubicBezTo>
                    <a:pt x="178438" y="61140"/>
                    <a:pt x="161082" y="75545"/>
                    <a:pt x="159262" y="95135"/>
                  </a:cubicBezTo>
                  <a:cubicBezTo>
                    <a:pt x="159058" y="97327"/>
                    <a:pt x="159058" y="99534"/>
                    <a:pt x="159262" y="101727"/>
                  </a:cubicBezTo>
                  <a:lnTo>
                    <a:pt x="159262" y="104108"/>
                  </a:lnTo>
                  <a:lnTo>
                    <a:pt x="132115" y="104108"/>
                  </a:lnTo>
                  <a:lnTo>
                    <a:pt x="132115" y="101727"/>
                  </a:lnTo>
                  <a:cubicBezTo>
                    <a:pt x="130058" y="67332"/>
                    <a:pt x="156273" y="37782"/>
                    <a:pt x="190668" y="35724"/>
                  </a:cubicBezTo>
                  <a:cubicBezTo>
                    <a:pt x="193119" y="35578"/>
                    <a:pt x="195577" y="35576"/>
                    <a:pt x="198028" y="35719"/>
                  </a:cubicBezTo>
                  <a:cubicBezTo>
                    <a:pt x="234061" y="35296"/>
                    <a:pt x="263614" y="64162"/>
                    <a:pt x="264037" y="100194"/>
                  </a:cubicBezTo>
                  <a:cubicBezTo>
                    <a:pt x="264042" y="100705"/>
                    <a:pt x="264042" y="101216"/>
                    <a:pt x="264037" y="101727"/>
                  </a:cubicBezTo>
                  <a:cubicBezTo>
                    <a:pt x="264962" y="132572"/>
                    <a:pt x="242271" y="159059"/>
                    <a:pt x="211649" y="162878"/>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
        <p:nvSpPr>
          <p:cNvPr id="16" name="TextBox 15">
            <a:extLst>
              <a:ext uri="{FF2B5EF4-FFF2-40B4-BE49-F238E27FC236}">
                <a16:creationId xmlns:a16="http://schemas.microsoft.com/office/drawing/2014/main" id="{3C06C70F-439C-90B6-23FB-94AABEC4B590}"/>
              </a:ext>
            </a:extLst>
          </p:cNvPr>
          <p:cNvSpPr txBox="1"/>
          <p:nvPr/>
        </p:nvSpPr>
        <p:spPr>
          <a:xfrm>
            <a:off x="1304925" y="11580280"/>
            <a:ext cx="9582150" cy="1323439"/>
          </a:xfrm>
          <a:prstGeom prst="rect">
            <a:avLst/>
          </a:prstGeom>
          <a:noFill/>
        </p:spPr>
        <p:txBody>
          <a:bodyPr wrap="square" rtlCol="0">
            <a:spAutoFit/>
          </a:bodyPr>
          <a:lstStyle/>
          <a:p>
            <a:pPr algn="ctr"/>
            <a:r>
              <a:rPr lang="en-US" sz="80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Black" panose="020B0A02040204020203" pitchFamily="34" charset="0"/>
                <a:ea typeface="Segoe UI Black" panose="020B0A02040204020203" pitchFamily="34" charset="0"/>
                <a:cs typeface="Segoe UI Semibold" panose="020B0702040204020203" pitchFamily="34" charset="0"/>
              </a:rPr>
              <a:t>Q &amp; A</a:t>
            </a:r>
          </a:p>
        </p:txBody>
      </p:sp>
      <p:sp>
        <p:nvSpPr>
          <p:cNvPr id="17" name="TextBox 16">
            <a:extLst>
              <a:ext uri="{FF2B5EF4-FFF2-40B4-BE49-F238E27FC236}">
                <a16:creationId xmlns:a16="http://schemas.microsoft.com/office/drawing/2014/main" id="{EB3B8518-2D70-1BAF-A23E-66205559A907}"/>
              </a:ext>
            </a:extLst>
          </p:cNvPr>
          <p:cNvSpPr txBox="1"/>
          <p:nvPr/>
        </p:nvSpPr>
        <p:spPr>
          <a:xfrm>
            <a:off x="196645" y="1090105"/>
            <a:ext cx="8486274" cy="5574988"/>
          </a:xfrm>
          <a:prstGeom prst="rect">
            <a:avLst/>
          </a:prstGeom>
          <a:noFill/>
        </p:spPr>
        <p:txBody>
          <a:bodyPr wrap="square" rtlCol="0" anchor="ctr">
            <a:spAutoFit/>
          </a:bodyPr>
          <a:lstStyle/>
          <a:p>
            <a:pPr algn="just">
              <a:lnSpc>
                <a:spcPct val="150000"/>
              </a:lnSpc>
            </a:pP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We decided to use stiff technical methodologies to ensure a smooth analytics performance, and correct measures &amp; calculations. We established an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ETL Pipeline</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with a well orchestrated data warehousing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Medallion</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technique, starting by extracting and collecting our data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(Bronze)</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moving to staging schema in SQL database for data cleaning &amp; preprocessing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(Silver)</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and finally with the warehouse schema in SQL database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(Gold) </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were we created our final form tables with the suitable data types,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fact &amp; dimension tables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classification for a neat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star schema</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model,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primary &amp; foreign keys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assignment for each table, and creating </a:t>
            </a:r>
            <a:r>
              <a:rPr lang="en-US" sz="2000" b="1" dirty="0">
                <a:solidFill>
                  <a:srgbClr val="C29524"/>
                </a:solidFill>
                <a:latin typeface="Segoe UI Black" panose="020B0A02040204020203" pitchFamily="34" charset="0"/>
                <a:ea typeface="Segoe UI Black" panose="020B0A02040204020203" pitchFamily="34" charset="0"/>
                <a:cs typeface="Segoe UI Semibold" panose="020B0702040204020203" pitchFamily="34" charset="0"/>
              </a:rPr>
              <a:t>surrogate keys &amp; indexes</a:t>
            </a:r>
            <a:r>
              <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rPr>
              <a:t> for an overall performance optimization of the final report production.</a:t>
            </a:r>
          </a:p>
          <a:p>
            <a:pPr algn="just">
              <a:lnSpc>
                <a:spcPct val="150000"/>
              </a:lnSpc>
            </a:pPr>
            <a:endParaRPr lang="en-US" sz="2000" b="1" dirty="0">
              <a:solidFill>
                <a:srgbClr val="C29524"/>
              </a:solidFill>
              <a:latin typeface="Segoe UI Semibold" panose="020B0702040204020203" pitchFamily="34" charset="0"/>
              <a:ea typeface="Segoe UI Black" panose="020B0A02040204020203" pitchFamily="34" charset="0"/>
              <a:cs typeface="Segoe UI Semibold" panose="020B0702040204020203" pitchFamily="34" charset="0"/>
            </a:endParaRPr>
          </a:p>
        </p:txBody>
      </p:sp>
      <p:sp>
        <p:nvSpPr>
          <p:cNvPr id="3" name="Graphic 17" descr="Help with solid fill">
            <a:extLst>
              <a:ext uri="{FF2B5EF4-FFF2-40B4-BE49-F238E27FC236}">
                <a16:creationId xmlns:a16="http://schemas.microsoft.com/office/drawing/2014/main" id="{C4205A80-E111-1471-800C-863F3883B705}"/>
              </a:ext>
            </a:extLst>
          </p:cNvPr>
          <p:cNvSpPr/>
          <p:nvPr/>
        </p:nvSpPr>
        <p:spPr>
          <a:xfrm>
            <a:off x="8993864" y="2388233"/>
            <a:ext cx="2080005" cy="2080005"/>
          </a:xfrm>
          <a:custGeom>
            <a:avLst/>
            <a:gdLst>
              <a:gd name="csX0" fmla="*/ 1040003 w 2080005"/>
              <a:gd name="csY0" fmla="*/ 0 h 2080005"/>
              <a:gd name="csX1" fmla="*/ 0 w 2080005"/>
              <a:gd name="csY1" fmla="*/ 1040003 h 2080005"/>
              <a:gd name="csX2" fmla="*/ 1040003 w 2080005"/>
              <a:gd name="csY2" fmla="*/ 2080005 h 2080005"/>
              <a:gd name="csX3" fmla="*/ 2080005 w 2080005"/>
              <a:gd name="csY3" fmla="*/ 1040003 h 2080005"/>
              <a:gd name="csX4" fmla="*/ 1040003 w 2080005"/>
              <a:gd name="csY4" fmla="*/ 0 h 2080005"/>
              <a:gd name="csX5" fmla="*/ 1040003 w 2080005"/>
              <a:gd name="csY5" fmla="*/ 1806320 h 2080005"/>
              <a:gd name="csX6" fmla="*/ 903160 w 2080005"/>
              <a:gd name="csY6" fmla="*/ 1669478 h 2080005"/>
              <a:gd name="csX7" fmla="*/ 1040003 w 2080005"/>
              <a:gd name="csY7" fmla="*/ 1532635 h 2080005"/>
              <a:gd name="csX8" fmla="*/ 1176845 w 2080005"/>
              <a:gd name="csY8" fmla="*/ 1669478 h 2080005"/>
              <a:gd name="csX9" fmla="*/ 1040003 w 2080005"/>
              <a:gd name="csY9" fmla="*/ 1806320 h 2080005"/>
              <a:gd name="csX10" fmla="*/ 1122108 w 2080005"/>
              <a:gd name="csY10" fmla="*/ 1171371 h 2080005"/>
              <a:gd name="csX11" fmla="*/ 1122108 w 2080005"/>
              <a:gd name="csY11" fmla="*/ 1423162 h 2080005"/>
              <a:gd name="csX12" fmla="*/ 957897 w 2080005"/>
              <a:gd name="csY12" fmla="*/ 1423162 h 2080005"/>
              <a:gd name="csX13" fmla="*/ 957897 w 2080005"/>
              <a:gd name="csY13" fmla="*/ 1012634 h 2080005"/>
              <a:gd name="csX14" fmla="*/ 1040003 w 2080005"/>
              <a:gd name="csY14" fmla="*/ 1012634 h 2080005"/>
              <a:gd name="csX15" fmla="*/ 1341056 w 2080005"/>
              <a:gd name="csY15" fmla="*/ 738949 h 2080005"/>
              <a:gd name="csX16" fmla="*/ 1040003 w 2080005"/>
              <a:gd name="csY16" fmla="*/ 437896 h 2080005"/>
              <a:gd name="csX17" fmla="*/ 738949 w 2080005"/>
              <a:gd name="csY17" fmla="*/ 738949 h 2080005"/>
              <a:gd name="csX18" fmla="*/ 574738 w 2080005"/>
              <a:gd name="csY18" fmla="*/ 738949 h 2080005"/>
              <a:gd name="csX19" fmla="*/ 1040003 w 2080005"/>
              <a:gd name="csY19" fmla="*/ 273685 h 2080005"/>
              <a:gd name="csX20" fmla="*/ 1505267 w 2080005"/>
              <a:gd name="csY20" fmla="*/ 738949 h 2080005"/>
              <a:gd name="csX21" fmla="*/ 1122108 w 2080005"/>
              <a:gd name="csY21" fmla="*/ 1171371 h 20800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2080005" h="2080005">
                <a:moveTo>
                  <a:pt x="1040003" y="0"/>
                </a:moveTo>
                <a:cubicBezTo>
                  <a:pt x="465264" y="0"/>
                  <a:pt x="0" y="465264"/>
                  <a:pt x="0" y="1040003"/>
                </a:cubicBezTo>
                <a:cubicBezTo>
                  <a:pt x="0" y="1614741"/>
                  <a:pt x="465264" y="2080005"/>
                  <a:pt x="1040003" y="2080005"/>
                </a:cubicBezTo>
                <a:cubicBezTo>
                  <a:pt x="1614741" y="2080005"/>
                  <a:pt x="2080005" y="1614741"/>
                  <a:pt x="2080005" y="1040003"/>
                </a:cubicBezTo>
                <a:cubicBezTo>
                  <a:pt x="2080005" y="465264"/>
                  <a:pt x="1614741" y="0"/>
                  <a:pt x="1040003" y="0"/>
                </a:cubicBezTo>
                <a:close/>
                <a:moveTo>
                  <a:pt x="1040003" y="1806320"/>
                </a:moveTo>
                <a:cubicBezTo>
                  <a:pt x="963371" y="1806320"/>
                  <a:pt x="903160" y="1746110"/>
                  <a:pt x="903160" y="1669478"/>
                </a:cubicBezTo>
                <a:cubicBezTo>
                  <a:pt x="903160" y="1592846"/>
                  <a:pt x="963371" y="1532635"/>
                  <a:pt x="1040003" y="1532635"/>
                </a:cubicBezTo>
                <a:cubicBezTo>
                  <a:pt x="1116634" y="1532635"/>
                  <a:pt x="1176845" y="1592846"/>
                  <a:pt x="1176845" y="1669478"/>
                </a:cubicBezTo>
                <a:cubicBezTo>
                  <a:pt x="1176845" y="1746110"/>
                  <a:pt x="1116634" y="1806320"/>
                  <a:pt x="1040003" y="1806320"/>
                </a:cubicBezTo>
                <a:close/>
                <a:moveTo>
                  <a:pt x="1122108" y="1171371"/>
                </a:moveTo>
                <a:cubicBezTo>
                  <a:pt x="1122108" y="1242530"/>
                  <a:pt x="1122108" y="1423162"/>
                  <a:pt x="1122108" y="1423162"/>
                </a:cubicBezTo>
                <a:lnTo>
                  <a:pt x="957897" y="1423162"/>
                </a:lnTo>
                <a:lnTo>
                  <a:pt x="957897" y="1012634"/>
                </a:lnTo>
                <a:lnTo>
                  <a:pt x="1040003" y="1012634"/>
                </a:lnTo>
                <a:cubicBezTo>
                  <a:pt x="1223372" y="1012634"/>
                  <a:pt x="1341056" y="905897"/>
                  <a:pt x="1341056" y="738949"/>
                </a:cubicBezTo>
                <a:cubicBezTo>
                  <a:pt x="1341056" y="566528"/>
                  <a:pt x="1212424" y="437896"/>
                  <a:pt x="1040003" y="437896"/>
                </a:cubicBezTo>
                <a:cubicBezTo>
                  <a:pt x="851160" y="437896"/>
                  <a:pt x="738949" y="550107"/>
                  <a:pt x="738949" y="738949"/>
                </a:cubicBezTo>
                <a:lnTo>
                  <a:pt x="574738" y="738949"/>
                </a:lnTo>
                <a:cubicBezTo>
                  <a:pt x="574738" y="459791"/>
                  <a:pt x="760844" y="273685"/>
                  <a:pt x="1040003" y="273685"/>
                </a:cubicBezTo>
                <a:cubicBezTo>
                  <a:pt x="1300003" y="273685"/>
                  <a:pt x="1505267" y="478949"/>
                  <a:pt x="1505267" y="738949"/>
                </a:cubicBezTo>
                <a:cubicBezTo>
                  <a:pt x="1505267" y="971581"/>
                  <a:pt x="1352003" y="1138529"/>
                  <a:pt x="1122108" y="1171371"/>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Tree>
    <p:extLst>
      <p:ext uri="{BB962C8B-B14F-4D97-AF65-F5344CB8AC3E}">
        <p14:creationId xmlns:p14="http://schemas.microsoft.com/office/powerpoint/2010/main" val="219880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5000">
        <p159:morph option="byObject"/>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50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1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8BA85-36A7-7889-E162-49811278B8D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57D1ACA-4A90-7B76-0A79-0DF3FA48B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4EF725C8-1DE0-9F38-4BA2-5FD66A169876}"/>
              </a:ext>
            </a:extLst>
          </p:cNvPr>
          <p:cNvSpPr txBox="1"/>
          <p:nvPr/>
        </p:nvSpPr>
        <p:spPr>
          <a:xfrm>
            <a:off x="196644" y="141352"/>
            <a:ext cx="9040346" cy="584775"/>
          </a:xfrm>
          <a:prstGeom prst="rect">
            <a:avLst/>
          </a:prstGeom>
          <a:noFill/>
        </p:spPr>
        <p:txBody>
          <a:bodyPr wrap="square" rtlCol="0">
            <a:spAutoFit/>
          </a:bodyPr>
          <a:lstStyle/>
          <a:p>
            <a:r>
              <a:rPr lang="en-US" sz="32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Semibold" panose="020B0702040204020203" pitchFamily="34" charset="0"/>
                <a:cs typeface="Segoe UI Semibold" panose="020B0702040204020203" pitchFamily="34" charset="0"/>
              </a:rPr>
              <a:t>Thank You!</a:t>
            </a:r>
          </a:p>
        </p:txBody>
      </p:sp>
      <p:sp>
        <p:nvSpPr>
          <p:cNvPr id="4" name="Isosceles Triangle 3">
            <a:extLst>
              <a:ext uri="{FF2B5EF4-FFF2-40B4-BE49-F238E27FC236}">
                <a16:creationId xmlns:a16="http://schemas.microsoft.com/office/drawing/2014/main" id="{A3A64E12-E6F2-CC46-094E-9F92B4123A9C}"/>
              </a:ext>
            </a:extLst>
          </p:cNvPr>
          <p:cNvSpPr/>
          <p:nvPr/>
        </p:nvSpPr>
        <p:spPr>
          <a:xfrm rot="5400000">
            <a:off x="-45058" y="358876"/>
            <a:ext cx="286761" cy="196645"/>
          </a:xfrm>
          <a:prstGeom prst="triangl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lumMod val="75000"/>
                </a:schemeClr>
              </a:solidFill>
            </a:endParaRPr>
          </a:p>
        </p:txBody>
      </p:sp>
      <p:pic>
        <p:nvPicPr>
          <p:cNvPr id="8" name="Picture 7">
            <a:extLst>
              <a:ext uri="{FF2B5EF4-FFF2-40B4-BE49-F238E27FC236}">
                <a16:creationId xmlns:a16="http://schemas.microsoft.com/office/drawing/2014/main" id="{8F9D13AD-5987-A8C2-1B35-D18ECF940F76}"/>
              </a:ext>
            </a:extLst>
          </p:cNvPr>
          <p:cNvPicPr>
            <a:picLocks noChangeAspect="1"/>
          </p:cNvPicPr>
          <p:nvPr/>
        </p:nvPicPr>
        <p:blipFill>
          <a:blip r:embed="rId3">
            <a:alphaModFix amt="40000"/>
            <a:extLst>
              <a:ext uri="{BEBA8EAE-BF5A-486C-A8C5-ECC9F3942E4B}">
                <a14:imgProps xmlns:a14="http://schemas.microsoft.com/office/drawing/2010/main">
                  <a14:imgLayer r:embed="rId4">
                    <a14:imgEffect>
                      <a14:artisticBlur radius="15"/>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2663620" y="-309282"/>
            <a:ext cx="14388428" cy="7476561"/>
          </a:xfrm>
          <a:prstGeom prst="rect">
            <a:avLst/>
          </a:prstGeom>
        </p:spPr>
      </p:pic>
      <p:grpSp>
        <p:nvGrpSpPr>
          <p:cNvPr id="17" name="Group 16">
            <a:extLst>
              <a:ext uri="{FF2B5EF4-FFF2-40B4-BE49-F238E27FC236}">
                <a16:creationId xmlns:a16="http://schemas.microsoft.com/office/drawing/2014/main" id="{00EBBD6B-A2C1-770F-EFA7-3C24A9F8A23C}"/>
              </a:ext>
            </a:extLst>
          </p:cNvPr>
          <p:cNvGrpSpPr/>
          <p:nvPr/>
        </p:nvGrpSpPr>
        <p:grpSpPr>
          <a:xfrm>
            <a:off x="4840960" y="1370046"/>
            <a:ext cx="2510080" cy="2830595"/>
            <a:chOff x="5757848" y="3048000"/>
            <a:chExt cx="675717" cy="762000"/>
          </a:xfrm>
        </p:grpSpPr>
        <p:sp>
          <p:nvSpPr>
            <p:cNvPr id="12" name="Oval 11">
              <a:extLst>
                <a:ext uri="{FF2B5EF4-FFF2-40B4-BE49-F238E27FC236}">
                  <a16:creationId xmlns:a16="http://schemas.microsoft.com/office/drawing/2014/main" id="{BE072721-1501-96DA-9CB6-CB240C84F7EA}"/>
                </a:ext>
              </a:extLst>
            </p:cNvPr>
            <p:cNvSpPr/>
            <p:nvPr/>
          </p:nvSpPr>
          <p:spPr>
            <a:xfrm>
              <a:off x="5843587" y="3310890"/>
              <a:ext cx="171450" cy="171450"/>
            </a:xfrm>
            <a:prstGeom prst="ellips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3" name="Freeform: Shape 12">
              <a:extLst>
                <a:ext uri="{FF2B5EF4-FFF2-40B4-BE49-F238E27FC236}">
                  <a16:creationId xmlns:a16="http://schemas.microsoft.com/office/drawing/2014/main" id="{FDE228E8-C358-246C-9D22-8556FDDE5F5E}"/>
                </a:ext>
              </a:extLst>
            </p:cNvPr>
            <p:cNvSpPr/>
            <p:nvPr/>
          </p:nvSpPr>
          <p:spPr>
            <a:xfrm>
              <a:off x="5986462" y="3638550"/>
              <a:ext cx="342913" cy="171450"/>
            </a:xfrm>
            <a:custGeom>
              <a:avLst/>
              <a:gdLst>
                <a:gd name="csX0" fmla="*/ 342900 w 342913"/>
                <a:gd name="csY0" fmla="*/ 171450 h 171450"/>
                <a:gd name="csX1" fmla="*/ 342900 w 342913"/>
                <a:gd name="csY1" fmla="*/ 85725 h 171450"/>
                <a:gd name="csX2" fmla="*/ 325755 w 342913"/>
                <a:gd name="csY2" fmla="*/ 51435 h 171450"/>
                <a:gd name="csX3" fmla="*/ 241935 w 342913"/>
                <a:gd name="csY3" fmla="*/ 11430 h 171450"/>
                <a:gd name="csX4" fmla="*/ 171450 w 342913"/>
                <a:gd name="csY4" fmla="*/ 0 h 171450"/>
                <a:gd name="csX5" fmla="*/ 100965 w 342913"/>
                <a:gd name="csY5" fmla="*/ 11430 h 171450"/>
                <a:gd name="csX6" fmla="*/ 17145 w 342913"/>
                <a:gd name="csY6" fmla="*/ 51435 h 171450"/>
                <a:gd name="csX7" fmla="*/ 0 w 342913"/>
                <a:gd name="csY7" fmla="*/ 85725 h 171450"/>
                <a:gd name="csX8" fmla="*/ 0 w 342913"/>
                <a:gd name="csY8" fmla="*/ 171450 h 171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42913" h="171450">
                  <a:moveTo>
                    <a:pt x="342900" y="171450"/>
                  </a:moveTo>
                  <a:lnTo>
                    <a:pt x="342900" y="85725"/>
                  </a:lnTo>
                  <a:cubicBezTo>
                    <a:pt x="343252" y="72153"/>
                    <a:pt x="336823" y="59297"/>
                    <a:pt x="325755" y="51435"/>
                  </a:cubicBezTo>
                  <a:cubicBezTo>
                    <a:pt x="301081" y="32123"/>
                    <a:pt x="272467" y="18466"/>
                    <a:pt x="241935" y="11430"/>
                  </a:cubicBezTo>
                  <a:cubicBezTo>
                    <a:pt x="219043" y="4548"/>
                    <a:pt x="195344" y="706"/>
                    <a:pt x="171450" y="0"/>
                  </a:cubicBezTo>
                  <a:cubicBezTo>
                    <a:pt x="147499" y="74"/>
                    <a:pt x="123712" y="3931"/>
                    <a:pt x="100965" y="11430"/>
                  </a:cubicBezTo>
                  <a:cubicBezTo>
                    <a:pt x="70866" y="19669"/>
                    <a:pt x="42481" y="33217"/>
                    <a:pt x="17145" y="51435"/>
                  </a:cubicBezTo>
                  <a:cubicBezTo>
                    <a:pt x="6399" y="59568"/>
                    <a:pt x="59" y="72248"/>
                    <a:pt x="0" y="85725"/>
                  </a:cubicBezTo>
                  <a:lnTo>
                    <a:pt x="0" y="171450"/>
                  </a:ln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4" name="Oval 13">
              <a:extLst>
                <a:ext uri="{FF2B5EF4-FFF2-40B4-BE49-F238E27FC236}">
                  <a16:creationId xmlns:a16="http://schemas.microsoft.com/office/drawing/2014/main" id="{5E6446BE-C12E-C32B-A539-CDA6559ED668}"/>
                </a:ext>
              </a:extLst>
            </p:cNvPr>
            <p:cNvSpPr/>
            <p:nvPr/>
          </p:nvSpPr>
          <p:spPr>
            <a:xfrm>
              <a:off x="6072187" y="3444240"/>
              <a:ext cx="171450" cy="171449"/>
            </a:xfrm>
            <a:prstGeom prst="ellipse">
              <a:avLst/>
            </a:pr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5" name="Freeform: Shape 14">
              <a:extLst>
                <a:ext uri="{FF2B5EF4-FFF2-40B4-BE49-F238E27FC236}">
                  <a16:creationId xmlns:a16="http://schemas.microsoft.com/office/drawing/2014/main" id="{272B8AE3-2CB7-C3A8-2269-9CB05DAD92C5}"/>
                </a:ext>
              </a:extLst>
            </p:cNvPr>
            <p:cNvSpPr/>
            <p:nvPr/>
          </p:nvSpPr>
          <p:spPr>
            <a:xfrm>
              <a:off x="5757848" y="3505200"/>
              <a:ext cx="310528" cy="171450"/>
            </a:xfrm>
            <a:custGeom>
              <a:avLst/>
              <a:gdLst>
                <a:gd name="csX0" fmla="*/ 222899 w 310528"/>
                <a:gd name="csY0" fmla="*/ 154305 h 171450"/>
                <a:gd name="csX1" fmla="*/ 222899 w 310528"/>
                <a:gd name="csY1" fmla="*/ 154305 h 171450"/>
                <a:gd name="csX2" fmla="*/ 310529 w 310528"/>
                <a:gd name="csY2" fmla="*/ 110490 h 171450"/>
                <a:gd name="csX3" fmla="*/ 276239 w 310528"/>
                <a:gd name="csY3" fmla="*/ 26670 h 171450"/>
                <a:gd name="csX4" fmla="*/ 276239 w 310528"/>
                <a:gd name="csY4" fmla="*/ 22860 h 171450"/>
                <a:gd name="csX5" fmla="*/ 241949 w 310528"/>
                <a:gd name="csY5" fmla="*/ 11430 h 171450"/>
                <a:gd name="csX6" fmla="*/ 171464 w 310528"/>
                <a:gd name="csY6" fmla="*/ 0 h 171450"/>
                <a:gd name="csX7" fmla="*/ 100979 w 310528"/>
                <a:gd name="csY7" fmla="*/ 11430 h 171450"/>
                <a:gd name="csX8" fmla="*/ 17159 w 310528"/>
                <a:gd name="csY8" fmla="*/ 51435 h 171450"/>
                <a:gd name="csX9" fmla="*/ 14 w 310528"/>
                <a:gd name="csY9" fmla="*/ 85725 h 171450"/>
                <a:gd name="csX10" fmla="*/ 14 w 310528"/>
                <a:gd name="csY10" fmla="*/ 171450 h 171450"/>
                <a:gd name="csX11" fmla="*/ 205754 w 310528"/>
                <a:gd name="csY11" fmla="*/ 171450 h 171450"/>
                <a:gd name="csX12" fmla="*/ 222899 w 310528"/>
                <a:gd name="csY12" fmla="*/ 154305 h 1714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10528" h="171450">
                  <a:moveTo>
                    <a:pt x="222899" y="154305"/>
                  </a:moveTo>
                  <a:lnTo>
                    <a:pt x="222899" y="154305"/>
                  </a:lnTo>
                  <a:cubicBezTo>
                    <a:pt x="249644" y="135218"/>
                    <a:pt x="279211" y="120434"/>
                    <a:pt x="310529" y="110490"/>
                  </a:cubicBezTo>
                  <a:cubicBezTo>
                    <a:pt x="288868" y="87919"/>
                    <a:pt x="276608" y="57951"/>
                    <a:pt x="276239" y="26670"/>
                  </a:cubicBezTo>
                  <a:lnTo>
                    <a:pt x="276239" y="22860"/>
                  </a:lnTo>
                  <a:cubicBezTo>
                    <a:pt x="265111" y="18198"/>
                    <a:pt x="253648" y="14377"/>
                    <a:pt x="241949" y="11430"/>
                  </a:cubicBezTo>
                  <a:cubicBezTo>
                    <a:pt x="219056" y="4548"/>
                    <a:pt x="195358" y="705"/>
                    <a:pt x="171464" y="0"/>
                  </a:cubicBezTo>
                  <a:cubicBezTo>
                    <a:pt x="147513" y="73"/>
                    <a:pt x="123725" y="3931"/>
                    <a:pt x="100979" y="11430"/>
                  </a:cubicBezTo>
                  <a:cubicBezTo>
                    <a:pt x="71185" y="20474"/>
                    <a:pt x="42928" y="33960"/>
                    <a:pt x="17159" y="51435"/>
                  </a:cubicBezTo>
                  <a:cubicBezTo>
                    <a:pt x="6091" y="59297"/>
                    <a:pt x="-338" y="72153"/>
                    <a:pt x="14" y="85725"/>
                  </a:cubicBezTo>
                  <a:lnTo>
                    <a:pt x="14" y="171450"/>
                  </a:lnTo>
                  <a:lnTo>
                    <a:pt x="205754" y="171450"/>
                  </a:lnTo>
                  <a:cubicBezTo>
                    <a:pt x="210476" y="164823"/>
                    <a:pt x="216271" y="159028"/>
                    <a:pt x="222899" y="154305"/>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sp>
          <p:nvSpPr>
            <p:cNvPr id="16" name="Freeform: Shape 15">
              <a:extLst>
                <a:ext uri="{FF2B5EF4-FFF2-40B4-BE49-F238E27FC236}">
                  <a16:creationId xmlns:a16="http://schemas.microsoft.com/office/drawing/2014/main" id="{2693AC5A-DA95-2A12-5956-EBEFCDEB7F6A}"/>
                </a:ext>
              </a:extLst>
            </p:cNvPr>
            <p:cNvSpPr/>
            <p:nvPr/>
          </p:nvSpPr>
          <p:spPr>
            <a:xfrm>
              <a:off x="6034083" y="3048000"/>
              <a:ext cx="399482" cy="366140"/>
            </a:xfrm>
            <a:custGeom>
              <a:avLst/>
              <a:gdLst>
                <a:gd name="csX0" fmla="*/ 379575 w 399482"/>
                <a:gd name="csY0" fmla="*/ 0 h 366140"/>
                <a:gd name="csX1" fmla="*/ 19816 w 399482"/>
                <a:gd name="csY1" fmla="*/ 0 h 366140"/>
                <a:gd name="csX2" fmla="*/ 4 w 399482"/>
                <a:gd name="csY2" fmla="*/ 20098 h 366140"/>
                <a:gd name="csX3" fmla="*/ 4 w 399482"/>
                <a:gd name="csY3" fmla="*/ 265367 h 366140"/>
                <a:gd name="csX4" fmla="*/ 19620 w 399482"/>
                <a:gd name="csY4" fmla="*/ 285747 h 366140"/>
                <a:gd name="csX5" fmla="*/ 19816 w 399482"/>
                <a:gd name="csY5" fmla="*/ 285750 h 366140"/>
                <a:gd name="csX6" fmla="*/ 76966 w 399482"/>
                <a:gd name="csY6" fmla="*/ 285750 h 366140"/>
                <a:gd name="csX7" fmla="*/ 76966 w 399482"/>
                <a:gd name="csY7" fmla="*/ 366141 h 366140"/>
                <a:gd name="csX8" fmla="*/ 155928 w 399482"/>
                <a:gd name="csY8" fmla="*/ 285750 h 366140"/>
                <a:gd name="csX9" fmla="*/ 379575 w 399482"/>
                <a:gd name="csY9" fmla="*/ 285750 h 366140"/>
                <a:gd name="csX10" fmla="*/ 399482 w 399482"/>
                <a:gd name="csY10" fmla="*/ 265652 h 366140"/>
                <a:gd name="csX11" fmla="*/ 399482 w 399482"/>
                <a:gd name="csY11" fmla="*/ 20098 h 366140"/>
                <a:gd name="csX12" fmla="*/ 379575 w 399482"/>
                <a:gd name="csY12" fmla="*/ 0 h 366140"/>
                <a:gd name="csX13" fmla="*/ 198028 w 399482"/>
                <a:gd name="csY13" fmla="*/ 250031 h 366140"/>
                <a:gd name="csX14" fmla="*/ 176885 w 399482"/>
                <a:gd name="csY14" fmla="*/ 228884 h 366140"/>
                <a:gd name="csX15" fmla="*/ 198032 w 399482"/>
                <a:gd name="csY15" fmla="*/ 207740 h 366140"/>
                <a:gd name="csX16" fmla="*/ 219174 w 399482"/>
                <a:gd name="csY16" fmla="*/ 228600 h 366140"/>
                <a:gd name="csX17" fmla="*/ 198509 w 399482"/>
                <a:gd name="csY17" fmla="*/ 250028 h 366140"/>
                <a:gd name="csX18" fmla="*/ 198028 w 399482"/>
                <a:gd name="csY18" fmla="*/ 250031 h 366140"/>
                <a:gd name="csX19" fmla="*/ 211649 w 399482"/>
                <a:gd name="csY19" fmla="*/ 162878 h 366140"/>
                <a:gd name="csX20" fmla="*/ 211649 w 399482"/>
                <a:gd name="csY20" fmla="*/ 192881 h 366140"/>
                <a:gd name="csX21" fmla="*/ 184503 w 399482"/>
                <a:gd name="csY21" fmla="*/ 192881 h 366140"/>
                <a:gd name="csX22" fmla="*/ 184503 w 399482"/>
                <a:gd name="csY22" fmla="*/ 136779 h 366140"/>
                <a:gd name="csX23" fmla="*/ 198028 w 399482"/>
                <a:gd name="csY23" fmla="*/ 136779 h 366140"/>
                <a:gd name="csX24" fmla="*/ 236890 w 399482"/>
                <a:gd name="csY24" fmla="*/ 101727 h 366140"/>
                <a:gd name="csX25" fmla="*/ 199471 w 399482"/>
                <a:gd name="csY25" fmla="*/ 62958 h 366140"/>
                <a:gd name="csX26" fmla="*/ 198028 w 399482"/>
                <a:gd name="csY26" fmla="*/ 62960 h 366140"/>
                <a:gd name="csX27" fmla="*/ 159262 w 399482"/>
                <a:gd name="csY27" fmla="*/ 95135 h 366140"/>
                <a:gd name="csX28" fmla="*/ 159262 w 399482"/>
                <a:gd name="csY28" fmla="*/ 101727 h 366140"/>
                <a:gd name="csX29" fmla="*/ 159262 w 399482"/>
                <a:gd name="csY29" fmla="*/ 104108 h 366140"/>
                <a:gd name="csX30" fmla="*/ 132115 w 399482"/>
                <a:gd name="csY30" fmla="*/ 104108 h 366140"/>
                <a:gd name="csX31" fmla="*/ 132115 w 399482"/>
                <a:gd name="csY31" fmla="*/ 101727 h 366140"/>
                <a:gd name="csX32" fmla="*/ 190668 w 399482"/>
                <a:gd name="csY32" fmla="*/ 35724 h 366140"/>
                <a:gd name="csX33" fmla="*/ 198028 w 399482"/>
                <a:gd name="csY33" fmla="*/ 35719 h 366140"/>
                <a:gd name="csX34" fmla="*/ 264037 w 399482"/>
                <a:gd name="csY34" fmla="*/ 100194 h 366140"/>
                <a:gd name="csX35" fmla="*/ 264037 w 399482"/>
                <a:gd name="csY35" fmla="*/ 101727 h 366140"/>
                <a:gd name="csX36" fmla="*/ 211649 w 399482"/>
                <a:gd name="csY36" fmla="*/ 162878 h 3661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399482" h="366140">
                  <a:moveTo>
                    <a:pt x="379575" y="0"/>
                  </a:moveTo>
                  <a:lnTo>
                    <a:pt x="19816" y="0"/>
                  </a:lnTo>
                  <a:cubicBezTo>
                    <a:pt x="8806" y="105"/>
                    <a:pt x="-50" y="9088"/>
                    <a:pt x="4" y="20098"/>
                  </a:cubicBezTo>
                  <a:lnTo>
                    <a:pt x="4" y="265367"/>
                  </a:lnTo>
                  <a:cubicBezTo>
                    <a:pt x="-207" y="276412"/>
                    <a:pt x="8575" y="285537"/>
                    <a:pt x="19620" y="285747"/>
                  </a:cubicBezTo>
                  <a:cubicBezTo>
                    <a:pt x="19685" y="285748"/>
                    <a:pt x="19751" y="285749"/>
                    <a:pt x="19816" y="285750"/>
                  </a:cubicBezTo>
                  <a:lnTo>
                    <a:pt x="76966" y="285750"/>
                  </a:lnTo>
                  <a:lnTo>
                    <a:pt x="76966" y="366141"/>
                  </a:lnTo>
                  <a:lnTo>
                    <a:pt x="155928" y="285750"/>
                  </a:lnTo>
                  <a:lnTo>
                    <a:pt x="379575" y="285750"/>
                  </a:lnTo>
                  <a:cubicBezTo>
                    <a:pt x="390600" y="285645"/>
                    <a:pt x="399482" y="276678"/>
                    <a:pt x="399482" y="265652"/>
                  </a:cubicBezTo>
                  <a:lnTo>
                    <a:pt x="399482" y="20098"/>
                  </a:lnTo>
                  <a:cubicBezTo>
                    <a:pt x="399483" y="9072"/>
                    <a:pt x="390600" y="104"/>
                    <a:pt x="379575" y="0"/>
                  </a:cubicBezTo>
                  <a:close/>
                  <a:moveTo>
                    <a:pt x="198028" y="250031"/>
                  </a:moveTo>
                  <a:cubicBezTo>
                    <a:pt x="186350" y="250030"/>
                    <a:pt x="176884" y="240562"/>
                    <a:pt x="176885" y="228884"/>
                  </a:cubicBezTo>
                  <a:cubicBezTo>
                    <a:pt x="176886" y="217205"/>
                    <a:pt x="186354" y="207739"/>
                    <a:pt x="198032" y="207740"/>
                  </a:cubicBezTo>
                  <a:cubicBezTo>
                    <a:pt x="209598" y="207741"/>
                    <a:pt x="219018" y="217035"/>
                    <a:pt x="219174" y="228600"/>
                  </a:cubicBezTo>
                  <a:cubicBezTo>
                    <a:pt x="219384" y="240223"/>
                    <a:pt x="210132" y="249818"/>
                    <a:pt x="198509" y="250028"/>
                  </a:cubicBezTo>
                  <a:cubicBezTo>
                    <a:pt x="198349" y="250031"/>
                    <a:pt x="198188" y="250032"/>
                    <a:pt x="198028" y="250031"/>
                  </a:cubicBezTo>
                  <a:close/>
                  <a:moveTo>
                    <a:pt x="211649" y="162878"/>
                  </a:moveTo>
                  <a:lnTo>
                    <a:pt x="211649" y="192881"/>
                  </a:lnTo>
                  <a:lnTo>
                    <a:pt x="184503" y="192881"/>
                  </a:lnTo>
                  <a:lnTo>
                    <a:pt x="184503" y="136779"/>
                  </a:lnTo>
                  <a:lnTo>
                    <a:pt x="198028" y="136779"/>
                  </a:lnTo>
                  <a:cubicBezTo>
                    <a:pt x="221650" y="136779"/>
                    <a:pt x="236890" y="122968"/>
                    <a:pt x="236890" y="101727"/>
                  </a:cubicBezTo>
                  <a:cubicBezTo>
                    <a:pt x="237263" y="80688"/>
                    <a:pt x="220509" y="63331"/>
                    <a:pt x="199471" y="62958"/>
                  </a:cubicBezTo>
                  <a:cubicBezTo>
                    <a:pt x="198990" y="62950"/>
                    <a:pt x="198509" y="62951"/>
                    <a:pt x="198028" y="62960"/>
                  </a:cubicBezTo>
                  <a:cubicBezTo>
                    <a:pt x="178438" y="61140"/>
                    <a:pt x="161082" y="75545"/>
                    <a:pt x="159262" y="95135"/>
                  </a:cubicBezTo>
                  <a:cubicBezTo>
                    <a:pt x="159058" y="97327"/>
                    <a:pt x="159058" y="99534"/>
                    <a:pt x="159262" y="101727"/>
                  </a:cubicBezTo>
                  <a:lnTo>
                    <a:pt x="159262" y="104108"/>
                  </a:lnTo>
                  <a:lnTo>
                    <a:pt x="132115" y="104108"/>
                  </a:lnTo>
                  <a:lnTo>
                    <a:pt x="132115" y="101727"/>
                  </a:lnTo>
                  <a:cubicBezTo>
                    <a:pt x="130058" y="67332"/>
                    <a:pt x="156273" y="37782"/>
                    <a:pt x="190668" y="35724"/>
                  </a:cubicBezTo>
                  <a:cubicBezTo>
                    <a:pt x="193119" y="35578"/>
                    <a:pt x="195577" y="35576"/>
                    <a:pt x="198028" y="35719"/>
                  </a:cubicBezTo>
                  <a:cubicBezTo>
                    <a:pt x="234061" y="35296"/>
                    <a:pt x="263614" y="64162"/>
                    <a:pt x="264037" y="100194"/>
                  </a:cubicBezTo>
                  <a:cubicBezTo>
                    <a:pt x="264042" y="100705"/>
                    <a:pt x="264042" y="101216"/>
                    <a:pt x="264037" y="101727"/>
                  </a:cubicBezTo>
                  <a:cubicBezTo>
                    <a:pt x="264962" y="132572"/>
                    <a:pt x="242271" y="159059"/>
                    <a:pt x="211649" y="162878"/>
                  </a:cubicBezTo>
                  <a:close/>
                </a:path>
              </a:pathLst>
            </a:custGeom>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n w="28277" cap="flat">
              <a:noFill/>
              <a:prstDash val="solid"/>
              <a:miter/>
            </a:ln>
            <a:effectLst>
              <a:innerShdw blurRad="254000">
                <a:prstClr val="black">
                  <a:alpha val="20000"/>
                </a:prstClr>
              </a:innerShdw>
            </a:effectLst>
          </p:spPr>
        </p:sp>
      </p:grpSp>
      <p:sp>
        <p:nvSpPr>
          <p:cNvPr id="18" name="TextBox 17">
            <a:extLst>
              <a:ext uri="{FF2B5EF4-FFF2-40B4-BE49-F238E27FC236}">
                <a16:creationId xmlns:a16="http://schemas.microsoft.com/office/drawing/2014/main" id="{97B0CF3B-5906-6003-80A9-DCB6347A7117}"/>
              </a:ext>
            </a:extLst>
          </p:cNvPr>
          <p:cNvSpPr txBox="1"/>
          <p:nvPr/>
        </p:nvSpPr>
        <p:spPr>
          <a:xfrm>
            <a:off x="1304925" y="4312449"/>
            <a:ext cx="9582150" cy="1323439"/>
          </a:xfrm>
          <a:prstGeom prst="rect">
            <a:avLst/>
          </a:prstGeom>
          <a:noFill/>
        </p:spPr>
        <p:txBody>
          <a:bodyPr wrap="square" rtlCol="0">
            <a:spAutoFit/>
          </a:bodyPr>
          <a:lstStyle/>
          <a:p>
            <a:pPr algn="ctr"/>
            <a:r>
              <a:rPr lang="en-US" sz="8000" b="1" dirty="0">
                <a:gradFill>
                  <a:gsLst>
                    <a:gs pos="25000">
                      <a:srgbClr val="EBAC2D"/>
                    </a:gs>
                    <a:gs pos="75000">
                      <a:srgbClr val="EBAC2D"/>
                    </a:gs>
                    <a:gs pos="100000">
                      <a:srgbClr val="B97310">
                        <a:alpha val="35000"/>
                      </a:srgbClr>
                    </a:gs>
                    <a:gs pos="0">
                      <a:srgbClr val="B76E10">
                        <a:alpha val="35000"/>
                      </a:srgbClr>
                    </a:gs>
                    <a:gs pos="50000">
                      <a:srgbClr val="EBAC2D"/>
                    </a:gs>
                  </a:gsLst>
                  <a:path path="circle">
                    <a:fillToRect t="100000" r="100000"/>
                  </a:path>
                </a:gradFill>
                <a:latin typeface="Segoe UI Black" panose="020B0A02040204020203" pitchFamily="34" charset="0"/>
                <a:ea typeface="Segoe UI Black" panose="020B0A02040204020203" pitchFamily="34" charset="0"/>
                <a:cs typeface="Segoe UI Semibold" panose="020B0702040204020203" pitchFamily="34" charset="0"/>
              </a:rPr>
              <a:t>Q &amp; A</a:t>
            </a:r>
          </a:p>
        </p:txBody>
      </p:sp>
    </p:spTree>
    <p:extLst>
      <p:ext uri="{BB962C8B-B14F-4D97-AF65-F5344CB8AC3E}">
        <p14:creationId xmlns:p14="http://schemas.microsoft.com/office/powerpoint/2010/main" val="453323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1646</TotalTime>
  <Words>17938</Words>
  <Application>Microsoft Office PowerPoint</Application>
  <PresentationFormat>Widescreen</PresentationFormat>
  <Paragraphs>1691</Paragraphs>
  <Slides>75</Slides>
  <Notes>0</Notes>
  <HiddenSlides>54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Calibri Light</vt:lpstr>
      <vt:lpstr>Segoe UI Black</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Tareq</dc:creator>
  <cp:lastModifiedBy>Ahmed Tareq Abdelwahab</cp:lastModifiedBy>
  <cp:revision>62</cp:revision>
  <dcterms:created xsi:type="dcterms:W3CDTF">2026-06-29T18:59:45Z</dcterms:created>
  <dcterms:modified xsi:type="dcterms:W3CDTF">2026-07-11T05:02:55Z</dcterms:modified>
</cp:coreProperties>
</file>